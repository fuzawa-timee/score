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5"/>
    <p:sldMasterId id="214748365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embeddedFontLst>
    <p:embeddedFont>
      <p:font typeface="M PLUS 1p"/>
      <p:regular r:id="rId30"/>
      <p:bold r:id="rId31"/>
    </p:embeddedFont>
    <p:embeddedFont>
      <p:font typeface="Zen Kaku Gothic New"/>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54">
          <p15:clr>
            <a:srgbClr val="9AA0A6"/>
          </p15:clr>
        </p15:guide>
        <p15:guide id="2" pos="2880">
          <p15:clr>
            <a:srgbClr val="9AA0A6"/>
          </p15:clr>
        </p15:guide>
        <p15:guide id="3" orient="horz" pos="1620">
          <p15:clr>
            <a:srgbClr val="9AA0A6"/>
          </p15:clr>
        </p15:guide>
        <p15:guide id="4" orient="horz" pos="1037">
          <p15:clr>
            <a:srgbClr val="9AA0A6"/>
          </p15:clr>
        </p15:guide>
        <p15:guide id="5" orient="horz" pos="2203">
          <p15:clr>
            <a:srgbClr val="9AA0A6"/>
          </p15:clr>
        </p15:guide>
        <p15:guide id="6">
          <p15:clr>
            <a:srgbClr val="9AA0A6"/>
          </p15:clr>
        </p15:guide>
        <p15:guide id="7" pos="144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AC97641-BD0D-4239-80C1-88AB4E65D543}">
  <a:tblStyle styleId="{CAC97641-BD0D-4239-80C1-88AB4E65D54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orient="horz"/>
        <p:guide pos="2880"/>
        <p:guide pos="1620" orient="horz"/>
        <p:guide pos="1037" orient="horz"/>
        <p:guide pos="2203" orient="horz"/>
        <p:guide/>
        <p:guide pos="14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MPLUS1p-bold.fntdata"/><Relationship Id="rId30" Type="http://schemas.openxmlformats.org/officeDocument/2006/relationships/font" Target="fonts/MPLUS1p-regular.fntdata"/><Relationship Id="rId11" Type="http://schemas.openxmlformats.org/officeDocument/2006/relationships/slide" Target="slides/slide4.xml"/><Relationship Id="rId33" Type="http://schemas.openxmlformats.org/officeDocument/2006/relationships/font" Target="fonts/ZenKakuGothicNew-bold.fntdata"/><Relationship Id="rId10" Type="http://schemas.openxmlformats.org/officeDocument/2006/relationships/slide" Target="slides/slide3.xml"/><Relationship Id="rId32" Type="http://schemas.openxmlformats.org/officeDocument/2006/relationships/font" Target="fonts/ZenKakuGothicNew-regular.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otion.so/timee/279c5579d2b880c6a4e7f40e572c0f73"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otion.so/timee/Memo-13cc5579d2b8806c9e29c126e781c393"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e2dd58f6b2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e2dd58f6b2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元のnotion</a:t>
            </a:r>
            <a:endParaRPr/>
          </a:p>
          <a:p>
            <a:pPr indent="0" lvl="0" marL="0" rtl="0" algn="l">
              <a:spcBef>
                <a:spcPts val="0"/>
              </a:spcBef>
              <a:spcAft>
                <a:spcPts val="0"/>
              </a:spcAft>
              <a:buNone/>
            </a:pPr>
            <a:r>
              <a:rPr lang="ja" u="sng">
                <a:solidFill>
                  <a:schemeClr val="hlink"/>
                </a:solidFill>
                <a:hlinkClick r:id="rId2"/>
              </a:rPr>
              <a:t>https://www.notion.so/timee/279c5579d2b880c6a4e7f40e572c0f73</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e7b831f3b6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e7b831f3b6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9b7d70fe7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9b7d70fe7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69d9e75d4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69d9e75d4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9d9e75d4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69d9e75d4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9d9e75d49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69d9e75d49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9d9e75d49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69d9e75d49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稼働時間：KGI</a:t>
            </a:r>
            <a:endParaRPr/>
          </a:p>
          <a:p>
            <a:pPr indent="0" lvl="0" marL="0" rtl="0" algn="l">
              <a:spcBef>
                <a:spcPts val="0"/>
              </a:spcBef>
              <a:spcAft>
                <a:spcPts val="0"/>
              </a:spcAft>
              <a:buNone/>
            </a:pPr>
            <a:r>
              <a:rPr lang="ja"/>
              <a:t>稼働しないと確定しない</a:t>
            </a:r>
            <a:endParaRPr/>
          </a:p>
          <a:p>
            <a:pPr indent="0" lvl="0" marL="0" rtl="0" algn="l">
              <a:spcBef>
                <a:spcPts val="0"/>
              </a:spcBef>
              <a:spcAft>
                <a:spcPts val="0"/>
              </a:spcAft>
              <a:buNone/>
            </a:pPr>
            <a:r>
              <a:rPr lang="ja"/>
              <a:t>追いかけやすい</a:t>
            </a:r>
            <a:endParaRPr/>
          </a:p>
          <a:p>
            <a:pPr indent="0" lvl="0" marL="0" rtl="0" algn="l">
              <a:spcBef>
                <a:spcPts val="0"/>
              </a:spcBef>
              <a:spcAft>
                <a:spcPts val="0"/>
              </a:spcAft>
              <a:buNone/>
            </a:pPr>
            <a:r>
              <a:rPr lang="ja"/>
              <a:t>質の問題も内方できるはず</a:t>
            </a:r>
            <a:endParaRPr/>
          </a:p>
          <a:p>
            <a:pPr indent="0" lvl="0" marL="0" rtl="0" algn="l">
              <a:spcBef>
                <a:spcPts val="0"/>
              </a:spcBef>
              <a:spcAft>
                <a:spcPts val="0"/>
              </a:spcAft>
              <a:buNone/>
            </a:pPr>
            <a:r>
              <a:rPr lang="ja"/>
              <a:t>因果図</a:t>
            </a:r>
            <a:endParaRPr/>
          </a:p>
          <a:p>
            <a:pPr indent="0" lvl="0" marL="0" rtl="0" algn="l">
              <a:spcBef>
                <a:spcPts val="0"/>
              </a:spcBef>
              <a:spcAft>
                <a:spcPts val="0"/>
              </a:spcAft>
              <a:buNone/>
            </a:pPr>
            <a:r>
              <a:rPr lang="ja"/>
              <a:t>リボン図みたいなかたち</a:t>
            </a:r>
            <a:endParaRPr/>
          </a:p>
          <a:p>
            <a:pPr indent="0" lvl="0" marL="0" rtl="0" algn="l">
              <a:spcBef>
                <a:spcPts val="0"/>
              </a:spcBef>
              <a:spcAft>
                <a:spcPts val="0"/>
              </a:spcAft>
              <a:buNone/>
            </a:pPr>
            <a:r>
              <a:rPr lang="ja"/>
              <a:t>マッチン数の</a:t>
            </a:r>
            <a:endParaRPr/>
          </a:p>
          <a:p>
            <a:pPr indent="0" lvl="0" marL="0" rtl="0" algn="l">
              <a:spcBef>
                <a:spcPts val="0"/>
              </a:spcBef>
              <a:spcAft>
                <a:spcPts val="0"/>
              </a:spcAft>
              <a:buNone/>
            </a:pPr>
            <a:r>
              <a:rPr lang="ja"/>
              <a:t>スポットワーク単体に比べて、ええやんは単価が抑えられつつ稼働時間が伸びる</a:t>
            </a:r>
            <a:endParaRPr/>
          </a:p>
          <a:p>
            <a:pPr indent="0" lvl="0" marL="0" rtl="0" algn="l">
              <a:spcBef>
                <a:spcPts val="0"/>
              </a:spcBef>
              <a:spcAft>
                <a:spcPts val="0"/>
              </a:spcAft>
              <a:buNone/>
            </a:pPr>
            <a:r>
              <a:rPr lang="ja"/>
              <a:t>マッチング数＞事前にわかる売上</a:t>
            </a:r>
            <a:endParaRPr/>
          </a:p>
          <a:p>
            <a:pPr indent="0" lvl="0" marL="0" rtl="0" algn="l">
              <a:spcBef>
                <a:spcPts val="0"/>
              </a:spcBef>
              <a:spcAft>
                <a:spcPts val="0"/>
              </a:spcAft>
              <a:buNone/>
            </a:pPr>
            <a:r>
              <a:rPr lang="ja"/>
              <a:t>NSM</a:t>
            </a:r>
            <a:endParaRPr/>
          </a:p>
          <a:p>
            <a:pPr indent="0" lvl="0" marL="0" rtl="0" algn="l">
              <a:spcBef>
                <a:spcPts val="0"/>
              </a:spcBef>
              <a:spcAft>
                <a:spcPts val="0"/>
              </a:spcAft>
              <a:buNone/>
            </a:pPr>
            <a:r>
              <a:rPr lang="ja"/>
              <a:t>概念図＋整理する</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募集継続率の繋がりも記載する</a:t>
            </a:r>
            <a:endParaRPr/>
          </a:p>
          <a:p>
            <a:pPr indent="0" lvl="0" marL="0" rtl="0" algn="l">
              <a:spcBef>
                <a:spcPts val="0"/>
              </a:spcBef>
              <a:spcAft>
                <a:spcPts val="0"/>
              </a:spcAft>
              <a:buNone/>
            </a:pPr>
            <a:r>
              <a:rPr lang="ja"/>
              <a:t>flywheel　</a:t>
            </a:r>
            <a:endParaRPr/>
          </a:p>
          <a:p>
            <a:pPr indent="0" lvl="0" marL="0" rtl="0" algn="l">
              <a:spcBef>
                <a:spcPts val="0"/>
              </a:spcBef>
              <a:spcAft>
                <a:spcPts val="0"/>
              </a:spcAft>
              <a:buNone/>
            </a:pPr>
            <a:r>
              <a:rPr lang="ja"/>
              <a:t>因果ループ図で整理する</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他社事例で質が重視している　エアビー</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6f7ae215b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6f7ae215b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プロダクト全体</a:t>
            </a:r>
            <a:endParaRPr/>
          </a:p>
          <a:p>
            <a:pPr indent="0" lvl="0" marL="0" rtl="0" algn="l">
              <a:spcBef>
                <a:spcPts val="0"/>
              </a:spcBef>
              <a:spcAft>
                <a:spcPts val="0"/>
              </a:spcAft>
              <a:buNone/>
            </a:pPr>
            <a:r>
              <a:rPr lang="ja"/>
              <a:t>運営と現場との紐付け</a:t>
            </a:r>
            <a:endParaRPr/>
          </a:p>
          <a:p>
            <a:pPr indent="0" lvl="0" marL="0" rtl="0" algn="l">
              <a:spcBef>
                <a:spcPts val="0"/>
              </a:spcBef>
              <a:spcAft>
                <a:spcPts val="0"/>
              </a:spcAft>
              <a:buNone/>
            </a:pPr>
            <a:r>
              <a:rPr lang="ja"/>
              <a:t>Input Medtris中間指標</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マッチング数とキャンセル数を足したものを分母に使えないか</a:t>
            </a:r>
            <a:endParaRPr/>
          </a:p>
          <a:p>
            <a:pPr indent="0" lvl="0" marL="0" rtl="0" algn="l">
              <a:spcBef>
                <a:spcPts val="0"/>
              </a:spcBef>
              <a:spcAft>
                <a:spcPts val="0"/>
              </a:spcAft>
              <a:buNone/>
            </a:pPr>
            <a:r>
              <a:rPr lang="ja"/>
              <a:t>これによって</a:t>
            </a:r>
            <a:endParaRPr/>
          </a:p>
          <a:p>
            <a:pPr indent="0" lvl="0" marL="0" rtl="0" algn="l">
              <a:spcBef>
                <a:spcPts val="0"/>
              </a:spcBef>
              <a:spcAft>
                <a:spcPts val="0"/>
              </a:spcAft>
              <a:buNone/>
            </a:pPr>
            <a:r>
              <a:rPr lang="ja"/>
              <a:t>弾力性の概念</a:t>
            </a:r>
            <a:endParaRPr/>
          </a:p>
          <a:p>
            <a:pPr indent="0" lvl="0" marL="0" rtl="0" algn="l">
              <a:spcBef>
                <a:spcPts val="0"/>
              </a:spcBef>
              <a:spcAft>
                <a:spcPts val="0"/>
              </a:spcAft>
              <a:buNone/>
            </a:pPr>
            <a:r>
              <a:rPr lang="ja"/>
              <a:t>有効マッチング数とか</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求人数、募集人数/求人数を分けなくてもいいのでは？</a:t>
            </a:r>
            <a:endParaRPr/>
          </a:p>
          <a:p>
            <a:pPr indent="0" lvl="0" marL="0" rtl="0" algn="l">
              <a:spcBef>
                <a:spcPts val="0"/>
              </a:spcBef>
              <a:spcAft>
                <a:spcPts val="0"/>
              </a:spcAft>
              <a:buNone/>
            </a:pPr>
            <a:r>
              <a:rPr lang="ja"/>
              <a:t>半間の波に影響されないか？</a:t>
            </a:r>
            <a:endParaRPr/>
          </a:p>
          <a:p>
            <a:pPr indent="0" lvl="0" marL="0" rtl="0" algn="l">
              <a:spcBef>
                <a:spcPts val="0"/>
              </a:spcBef>
              <a:spcAft>
                <a:spcPts val="0"/>
              </a:spcAft>
              <a:buNone/>
            </a:pPr>
            <a:r>
              <a:rPr lang="ja"/>
              <a:t>稼働時間だと破談感があるが、一稼働だけど7日間とかになってくると、、</a:t>
            </a:r>
            <a:endParaRPr/>
          </a:p>
          <a:p>
            <a:pPr indent="0" lvl="0" marL="0" rtl="0" algn="l">
              <a:spcBef>
                <a:spcPts val="0"/>
              </a:spcBef>
              <a:spcAft>
                <a:spcPts val="0"/>
              </a:spcAft>
              <a:buNone/>
            </a:pPr>
            <a:r>
              <a:rPr lang="ja"/>
              <a:t>7日</a:t>
            </a:r>
            <a:endParaRPr/>
          </a:p>
          <a:p>
            <a:pPr indent="0" lvl="0" marL="0" rtl="0" algn="l">
              <a:spcBef>
                <a:spcPts val="0"/>
              </a:spcBef>
              <a:spcAft>
                <a:spcPts val="0"/>
              </a:spcAft>
              <a:buNone/>
            </a:pPr>
            <a:r>
              <a:rPr lang="ja"/>
              <a:t>対応表</a:t>
            </a:r>
            <a:endParaRPr/>
          </a:p>
          <a:p>
            <a:pPr indent="0" lvl="0" marL="0" rtl="0" algn="l">
              <a:spcBef>
                <a:spcPts val="0"/>
              </a:spcBef>
              <a:spcAft>
                <a:spcPts val="0"/>
              </a:spcAft>
              <a:buNone/>
            </a:pPr>
            <a:r>
              <a:rPr lang="ja"/>
              <a:t>今までの話も</a:t>
            </a:r>
            <a:endParaRPr/>
          </a:p>
          <a:p>
            <a:pPr indent="0" lvl="0" marL="0" rtl="0" algn="l">
              <a:spcBef>
                <a:spcPts val="0"/>
              </a:spcBef>
              <a:spcAft>
                <a:spcPts val="0"/>
              </a:spcAft>
              <a:buNone/>
            </a:pPr>
            <a:r>
              <a:rPr lang="ja"/>
              <a:t>shun-san,zigou-san</a:t>
            </a:r>
            <a:endParaRPr/>
          </a:p>
          <a:p>
            <a:pPr indent="0" lvl="0" marL="0" rtl="0" algn="l">
              <a:spcBef>
                <a:spcPts val="0"/>
              </a:spcBef>
              <a:spcAft>
                <a:spcPts val="0"/>
              </a:spcAft>
              <a:buClr>
                <a:schemeClr val="dk1"/>
              </a:buClr>
              <a:buSzPts val="1100"/>
              <a:buFont typeface="Arial"/>
              <a:buNone/>
            </a:pPr>
            <a:r>
              <a:rPr lang="ja">
                <a:solidFill>
                  <a:schemeClr val="dk1"/>
                </a:solidFill>
              </a:rPr>
              <a:t>zigou-san,takaishi-san,yoshiike-san</a:t>
            </a:r>
            <a:endParaRPr/>
          </a:p>
          <a:p>
            <a:pPr indent="0" lvl="0" marL="0" rtl="0" algn="l">
              <a:spcBef>
                <a:spcPts val="0"/>
              </a:spcBef>
              <a:spcAft>
                <a:spcPts val="0"/>
              </a:spcAft>
              <a:buNone/>
            </a:pPr>
            <a:r>
              <a:rPr lang="ja"/>
              <a:t>活用の質の軸</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求人をじっくり見ている</a:t>
            </a:r>
            <a:endParaRPr/>
          </a:p>
          <a:p>
            <a:pPr indent="0" lvl="0" marL="0" rtl="0" algn="l">
              <a:spcBef>
                <a:spcPts val="0"/>
              </a:spcBef>
              <a:spcAft>
                <a:spcPts val="0"/>
              </a:spcAft>
              <a:buNone/>
            </a:pPr>
            <a:r>
              <a:rPr lang="ja"/>
              <a:t>レビューを見ている</a:t>
            </a:r>
            <a:endParaRPr/>
          </a:p>
          <a:p>
            <a:pPr indent="0" lvl="0" marL="0" rtl="0" algn="l">
              <a:spcBef>
                <a:spcPts val="0"/>
              </a:spcBef>
              <a:spcAft>
                <a:spcPts val="0"/>
              </a:spcAft>
              <a:buNone/>
            </a:pPr>
            <a:r>
              <a:rPr lang="ja"/>
              <a:t>専門的な機能を見ているとか</a:t>
            </a:r>
            <a:endParaRPr/>
          </a:p>
          <a:p>
            <a:pPr indent="0" lvl="0" marL="0" rtl="0" algn="l">
              <a:spcBef>
                <a:spcPts val="0"/>
              </a:spcBef>
              <a:spcAft>
                <a:spcPts val="0"/>
              </a:spcAft>
              <a:buNone/>
            </a:pPr>
            <a:r>
              <a:rPr lang="ja"/>
              <a:t>インターバル(どのくらい先まで)＞未来の求人インタバール、稼働インターバル</a:t>
            </a:r>
            <a:endParaRPr/>
          </a:p>
          <a:p>
            <a:pPr indent="0" lvl="0" marL="0" rtl="0" algn="l">
              <a:spcBef>
                <a:spcPts val="0"/>
              </a:spcBef>
              <a:spcAft>
                <a:spcPts val="0"/>
              </a:spcAft>
              <a:buNone/>
            </a:pPr>
            <a:r>
              <a:rPr lang="ja"/>
              <a:t>＞募集継続率との関係</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店舗側も効率入れる</a:t>
            </a:r>
            <a:endParaRPr/>
          </a:p>
          <a:p>
            <a:pPr indent="0" lvl="0" marL="0" rtl="0" algn="l">
              <a:spcBef>
                <a:spcPts val="0"/>
              </a:spcBef>
              <a:spcAft>
                <a:spcPts val="0"/>
              </a:spcAft>
              <a:buNone/>
            </a:pPr>
            <a:r>
              <a:rPr lang="ja" u="sng">
                <a:solidFill>
                  <a:schemeClr val="hlink"/>
                </a:solidFill>
                <a:hlinkClick r:id="rId2"/>
              </a:rPr>
              <a:t>https://www.notion.so/timee/Memo-13cc5579d2b8806c9e29c126e781c393</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高習熟度の業務が上がっていくと、単純業務も増えていく</a:t>
            </a:r>
            <a:endParaRPr/>
          </a:p>
          <a:p>
            <a:pPr indent="0" lvl="0" marL="0" rtl="0" algn="l">
              <a:spcBef>
                <a:spcPts val="0"/>
              </a:spcBef>
              <a:spcAft>
                <a:spcPts val="0"/>
              </a:spcAft>
              <a:buNone/>
            </a:pPr>
            <a:r>
              <a:rPr lang="ja"/>
              <a:t>ボリュームが大事でありつつ、BPRが推進していることがよいはず</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69d9e75d49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69d9e75d49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69d9e75d49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69d9e75d49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8357a7d41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8357a7d41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翌月：青</a:t>
            </a:r>
            <a:br>
              <a:rPr lang="ja"/>
            </a:br>
            <a:r>
              <a:rPr lang="ja"/>
              <a:t>翌週：タイミーカラー</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69d9e75d49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69d9e75d49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690224c0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690224c0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8357a7d41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8357a7d41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48742f00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948742f00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69d9e75d49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69d9e75d49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690224c07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690224c07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9803dc3da7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9803dc3da7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8357a7d41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8357a7d41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8ca54a45f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8ca54a45f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8ca54a45f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8ca54a45f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690224c07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690224c07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
    <p:spTree>
      <p:nvGrpSpPr>
        <p:cNvPr id="11" name="Shape 11"/>
        <p:cNvGrpSpPr/>
        <p:nvPr/>
      </p:nvGrpSpPr>
      <p:grpSpPr>
        <a:xfrm>
          <a:off x="0" y="0"/>
          <a:ext cx="0" cy="0"/>
          <a:chOff x="0" y="0"/>
          <a:chExt cx="0" cy="0"/>
        </a:xfrm>
      </p:grpSpPr>
      <p:sp>
        <p:nvSpPr>
          <p:cNvPr id="12" name="Google Shape;12;p2"/>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cSld name="CUSTOM_1">
    <p:spTree>
      <p:nvGrpSpPr>
        <p:cNvPr id="13" name="Shape 13"/>
        <p:cNvGrpSpPr/>
        <p:nvPr/>
      </p:nvGrpSpPr>
      <p:grpSpPr>
        <a:xfrm>
          <a:off x="0" y="0"/>
          <a:ext cx="0" cy="0"/>
          <a:chOff x="0" y="0"/>
          <a:chExt cx="0" cy="0"/>
        </a:xfrm>
      </p:grpSpPr>
      <p:sp>
        <p:nvSpPr>
          <p:cNvPr id="14" name="Google Shape;14;p3"/>
          <p:cNvSpPr txBox="1"/>
          <p:nvPr>
            <p:ph type="title"/>
          </p:nvPr>
        </p:nvSpPr>
        <p:spPr>
          <a:xfrm>
            <a:off x="628650" y="317045"/>
            <a:ext cx="7886700" cy="436500"/>
          </a:xfrm>
          <a:prstGeom prst="rect">
            <a:avLst/>
          </a:prstGeom>
        </p:spPr>
        <p:txBody>
          <a:bodyPr anchorCtr="0" anchor="t" bIns="34275" lIns="68575" spcFirstLastPara="1" rIns="68575" wrap="square" tIns="34275">
            <a:noAutofit/>
          </a:bodyPr>
          <a:lstStyle>
            <a:lvl1pPr lvl="0" rtl="0">
              <a:spcBef>
                <a:spcPts val="0"/>
              </a:spcBef>
              <a:spcAft>
                <a:spcPts val="0"/>
              </a:spcAft>
              <a:buSzPts val="2500"/>
              <a:buNone/>
              <a:defRPr/>
            </a:lvl1pPr>
            <a:lvl2pPr lvl="1" rtl="0">
              <a:spcBef>
                <a:spcPts val="0"/>
              </a:spcBef>
              <a:spcAft>
                <a:spcPts val="0"/>
              </a:spcAft>
              <a:buSzPts val="300"/>
              <a:buNone/>
              <a:defRPr/>
            </a:lvl2pPr>
            <a:lvl3pPr lvl="2" rtl="0">
              <a:spcBef>
                <a:spcPts val="0"/>
              </a:spcBef>
              <a:spcAft>
                <a:spcPts val="0"/>
              </a:spcAft>
              <a:buSzPts val="300"/>
              <a:buNone/>
              <a:defRPr/>
            </a:lvl3pPr>
            <a:lvl4pPr lvl="3" rtl="0">
              <a:spcBef>
                <a:spcPts val="0"/>
              </a:spcBef>
              <a:spcAft>
                <a:spcPts val="0"/>
              </a:spcAft>
              <a:buSzPts val="300"/>
              <a:buNone/>
              <a:defRPr/>
            </a:lvl4pPr>
            <a:lvl5pPr lvl="4" rtl="0">
              <a:spcBef>
                <a:spcPts val="0"/>
              </a:spcBef>
              <a:spcAft>
                <a:spcPts val="0"/>
              </a:spcAft>
              <a:buSzPts val="300"/>
              <a:buNone/>
              <a:defRPr/>
            </a:lvl5pPr>
            <a:lvl6pPr lvl="5" rtl="0">
              <a:spcBef>
                <a:spcPts val="0"/>
              </a:spcBef>
              <a:spcAft>
                <a:spcPts val="0"/>
              </a:spcAft>
              <a:buSzPts val="300"/>
              <a:buNone/>
              <a:defRPr/>
            </a:lvl6pPr>
            <a:lvl7pPr lvl="6" rtl="0">
              <a:spcBef>
                <a:spcPts val="0"/>
              </a:spcBef>
              <a:spcAft>
                <a:spcPts val="0"/>
              </a:spcAft>
              <a:buSzPts val="300"/>
              <a:buNone/>
              <a:defRPr/>
            </a:lvl7pPr>
            <a:lvl8pPr lvl="7" rtl="0">
              <a:spcBef>
                <a:spcPts val="0"/>
              </a:spcBef>
              <a:spcAft>
                <a:spcPts val="0"/>
              </a:spcAft>
              <a:buSzPts val="300"/>
              <a:buNone/>
              <a:defRPr/>
            </a:lvl8pPr>
            <a:lvl9pPr lvl="8" rtl="0">
              <a:spcBef>
                <a:spcPts val="0"/>
              </a:spcBef>
              <a:spcAft>
                <a:spcPts val="0"/>
              </a:spcAft>
              <a:buSzPts val="300"/>
              <a:buNone/>
              <a:defRPr/>
            </a:lvl9pPr>
          </a:lstStyle>
          <a:p/>
        </p:txBody>
      </p:sp>
      <p:sp>
        <p:nvSpPr>
          <p:cNvPr id="15" name="Google Shape;15;p3"/>
          <p:cNvSpPr txBox="1"/>
          <p:nvPr>
            <p:ph idx="12" type="sldNum"/>
          </p:nvPr>
        </p:nvSpPr>
        <p:spPr>
          <a:xfrm>
            <a:off x="8601000" y="4869600"/>
            <a:ext cx="543000" cy="273900"/>
          </a:xfrm>
          <a:prstGeom prst="rect">
            <a:avLst/>
          </a:prstGeom>
        </p:spPr>
        <p:txBody>
          <a:bodyPr anchorCtr="0" anchor="ctr" bIns="34275" lIns="68575" spcFirstLastPara="1" rIns="68575" wrap="square" tIns="34275">
            <a:noAutofit/>
          </a:bodyPr>
          <a:lstStyle>
            <a:lvl1pPr lvl="0" rtl="0">
              <a:buClr>
                <a:srgbClr val="000000"/>
              </a:buClr>
              <a:buSzPts val="900"/>
              <a:buFont typeface="Arial"/>
              <a:buNone/>
              <a:defRPr/>
            </a:lvl1pPr>
            <a:lvl2pPr lvl="1" rtl="0">
              <a:buClr>
                <a:srgbClr val="000000"/>
              </a:buClr>
              <a:buSzPts val="900"/>
              <a:buFont typeface="Arial"/>
              <a:buNone/>
              <a:defRPr/>
            </a:lvl2pPr>
            <a:lvl3pPr lvl="2" rtl="0">
              <a:buClr>
                <a:srgbClr val="000000"/>
              </a:buClr>
              <a:buSzPts val="900"/>
              <a:buFont typeface="Arial"/>
              <a:buNone/>
              <a:defRPr/>
            </a:lvl3pPr>
            <a:lvl4pPr lvl="3" rtl="0">
              <a:buClr>
                <a:srgbClr val="000000"/>
              </a:buClr>
              <a:buSzPts val="900"/>
              <a:buFont typeface="Arial"/>
              <a:buNone/>
              <a:defRPr/>
            </a:lvl4pPr>
            <a:lvl5pPr lvl="4" rtl="0">
              <a:buClr>
                <a:srgbClr val="000000"/>
              </a:buClr>
              <a:buSzPts val="900"/>
              <a:buFont typeface="Arial"/>
              <a:buNone/>
              <a:defRPr/>
            </a:lvl5pPr>
            <a:lvl6pPr lvl="5" rtl="0">
              <a:buClr>
                <a:srgbClr val="000000"/>
              </a:buClr>
              <a:buSzPts val="900"/>
              <a:buFont typeface="Arial"/>
              <a:buNone/>
              <a:defRPr/>
            </a:lvl6pPr>
            <a:lvl7pPr lvl="6" rtl="0">
              <a:buClr>
                <a:srgbClr val="000000"/>
              </a:buClr>
              <a:buSzPts val="900"/>
              <a:buFont typeface="Arial"/>
              <a:buNone/>
              <a:defRPr/>
            </a:lvl7pPr>
            <a:lvl8pPr lvl="7" rtl="0">
              <a:buClr>
                <a:srgbClr val="000000"/>
              </a:buClr>
              <a:buSzPts val="900"/>
              <a:buFont typeface="Arial"/>
              <a:buNone/>
              <a:defRPr/>
            </a:lvl8pPr>
            <a:lvl9pPr lvl="8" rtl="0">
              <a:buClr>
                <a:srgbClr val="000000"/>
              </a:buClr>
              <a:buSzPts val="900"/>
              <a:buFont typeface="Arial"/>
              <a:buNone/>
              <a:defRPr/>
            </a:lvl9pPr>
          </a:lstStyle>
          <a:p>
            <a:pPr indent="0" lvl="0" marL="0" rtl="0" algn="r">
              <a:spcBef>
                <a:spcPts val="0"/>
              </a:spcBef>
              <a:spcAft>
                <a:spcPts val="0"/>
              </a:spcAft>
              <a:buNone/>
            </a:pPr>
            <a:fld id="{00000000-1234-1234-1234-123412341234}" type="slidenum">
              <a:rPr lang="ja"/>
              <a:t>‹#›</a:t>
            </a:fld>
            <a:endParaRPr/>
          </a:p>
        </p:txBody>
      </p:sp>
      <p:sp>
        <p:nvSpPr>
          <p:cNvPr id="16" name="Google Shape;16;p3"/>
          <p:cNvSpPr txBox="1"/>
          <p:nvPr>
            <p:ph idx="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solidFill>
                <a:schemeClr val="dk1"/>
              </a:solidFill>
            </a:endParaRPr>
          </a:p>
        </p:txBody>
      </p:sp>
      <p:sp>
        <p:nvSpPr>
          <p:cNvPr id="17" name="Google Shape;17;p3"/>
          <p:cNvSpPr txBox="1"/>
          <p:nvPr>
            <p:ph idx="1" type="subTitle"/>
          </p:nvPr>
        </p:nvSpPr>
        <p:spPr>
          <a:xfrm>
            <a:off x="628650" y="773590"/>
            <a:ext cx="7886700" cy="507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b="1" sz="1200"/>
            </a:lvl1pPr>
            <a:lvl2pPr lvl="1" rtl="0">
              <a:spcBef>
                <a:spcPts val="0"/>
              </a:spcBef>
              <a:spcAft>
                <a:spcPts val="0"/>
              </a:spcAft>
              <a:buSzPts val="1200"/>
              <a:buNone/>
              <a:defRPr b="1" sz="1200"/>
            </a:lvl2pPr>
            <a:lvl3pPr lvl="2" rtl="0">
              <a:spcBef>
                <a:spcPts val="0"/>
              </a:spcBef>
              <a:spcAft>
                <a:spcPts val="0"/>
              </a:spcAft>
              <a:buSzPts val="1200"/>
              <a:buNone/>
              <a:defRPr b="1" sz="1200"/>
            </a:lvl3pPr>
            <a:lvl4pPr lvl="3" rtl="0">
              <a:spcBef>
                <a:spcPts val="0"/>
              </a:spcBef>
              <a:spcAft>
                <a:spcPts val="0"/>
              </a:spcAft>
              <a:buSzPts val="1200"/>
              <a:buNone/>
              <a:defRPr b="1" sz="1200"/>
            </a:lvl4pPr>
            <a:lvl5pPr lvl="4" rtl="0">
              <a:spcBef>
                <a:spcPts val="0"/>
              </a:spcBef>
              <a:spcAft>
                <a:spcPts val="0"/>
              </a:spcAft>
              <a:buSzPts val="1200"/>
              <a:buNone/>
              <a:defRPr b="1" sz="1200"/>
            </a:lvl5pPr>
            <a:lvl6pPr lvl="5" rtl="0">
              <a:spcBef>
                <a:spcPts val="0"/>
              </a:spcBef>
              <a:spcAft>
                <a:spcPts val="0"/>
              </a:spcAft>
              <a:buSzPts val="1200"/>
              <a:buNone/>
              <a:defRPr b="1" sz="1200"/>
            </a:lvl6pPr>
            <a:lvl7pPr lvl="6" rtl="0">
              <a:spcBef>
                <a:spcPts val="0"/>
              </a:spcBef>
              <a:spcAft>
                <a:spcPts val="0"/>
              </a:spcAft>
              <a:buSzPts val="1200"/>
              <a:buNone/>
              <a:defRPr b="1" sz="1200"/>
            </a:lvl7pPr>
            <a:lvl8pPr lvl="7" rtl="0">
              <a:spcBef>
                <a:spcPts val="0"/>
              </a:spcBef>
              <a:spcAft>
                <a:spcPts val="0"/>
              </a:spcAft>
              <a:buSzPts val="1200"/>
              <a:buNone/>
              <a:defRPr b="1" sz="1200"/>
            </a:lvl8pPr>
            <a:lvl9pPr lvl="8" rtl="0">
              <a:spcBef>
                <a:spcPts val="0"/>
              </a:spcBef>
              <a:spcAft>
                <a:spcPts val="0"/>
              </a:spcAft>
              <a:buSzPts val="1200"/>
              <a:buNone/>
              <a:defRPr b="1"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cSld name="CUSTOM_1_3">
    <p:spTree>
      <p:nvGrpSpPr>
        <p:cNvPr id="18" name="Shape 18"/>
        <p:cNvGrpSpPr/>
        <p:nvPr/>
      </p:nvGrpSpPr>
      <p:grpSpPr>
        <a:xfrm>
          <a:off x="0" y="0"/>
          <a:ext cx="0" cy="0"/>
          <a:chOff x="0" y="0"/>
          <a:chExt cx="0" cy="0"/>
        </a:xfrm>
      </p:grpSpPr>
      <p:sp>
        <p:nvSpPr>
          <p:cNvPr id="19" name="Google Shape;19;p4"/>
          <p:cNvSpPr txBox="1"/>
          <p:nvPr>
            <p:ph type="title"/>
          </p:nvPr>
        </p:nvSpPr>
        <p:spPr>
          <a:xfrm>
            <a:off x="628650" y="317045"/>
            <a:ext cx="7886700" cy="436500"/>
          </a:xfrm>
          <a:prstGeom prst="rect">
            <a:avLst/>
          </a:prstGeom>
        </p:spPr>
        <p:txBody>
          <a:bodyPr anchorCtr="0" anchor="t" bIns="34275" lIns="68575" spcFirstLastPara="1" rIns="68575" wrap="square" tIns="34275">
            <a:noAutofit/>
          </a:bodyPr>
          <a:lstStyle>
            <a:lvl1pPr lvl="0" rtl="0">
              <a:spcBef>
                <a:spcPts val="0"/>
              </a:spcBef>
              <a:spcAft>
                <a:spcPts val="0"/>
              </a:spcAft>
              <a:buSzPts val="2500"/>
              <a:buNone/>
              <a:defRPr/>
            </a:lvl1pPr>
            <a:lvl2pPr lvl="1" rtl="0">
              <a:spcBef>
                <a:spcPts val="0"/>
              </a:spcBef>
              <a:spcAft>
                <a:spcPts val="0"/>
              </a:spcAft>
              <a:buSzPts val="300"/>
              <a:buNone/>
              <a:defRPr/>
            </a:lvl2pPr>
            <a:lvl3pPr lvl="2" rtl="0">
              <a:spcBef>
                <a:spcPts val="0"/>
              </a:spcBef>
              <a:spcAft>
                <a:spcPts val="0"/>
              </a:spcAft>
              <a:buSzPts val="300"/>
              <a:buNone/>
              <a:defRPr/>
            </a:lvl3pPr>
            <a:lvl4pPr lvl="3" rtl="0">
              <a:spcBef>
                <a:spcPts val="0"/>
              </a:spcBef>
              <a:spcAft>
                <a:spcPts val="0"/>
              </a:spcAft>
              <a:buSzPts val="300"/>
              <a:buNone/>
              <a:defRPr/>
            </a:lvl4pPr>
            <a:lvl5pPr lvl="4" rtl="0">
              <a:spcBef>
                <a:spcPts val="0"/>
              </a:spcBef>
              <a:spcAft>
                <a:spcPts val="0"/>
              </a:spcAft>
              <a:buSzPts val="300"/>
              <a:buNone/>
              <a:defRPr/>
            </a:lvl5pPr>
            <a:lvl6pPr lvl="5" rtl="0">
              <a:spcBef>
                <a:spcPts val="0"/>
              </a:spcBef>
              <a:spcAft>
                <a:spcPts val="0"/>
              </a:spcAft>
              <a:buSzPts val="300"/>
              <a:buNone/>
              <a:defRPr/>
            </a:lvl6pPr>
            <a:lvl7pPr lvl="6" rtl="0">
              <a:spcBef>
                <a:spcPts val="0"/>
              </a:spcBef>
              <a:spcAft>
                <a:spcPts val="0"/>
              </a:spcAft>
              <a:buSzPts val="300"/>
              <a:buNone/>
              <a:defRPr/>
            </a:lvl7pPr>
            <a:lvl8pPr lvl="7" rtl="0">
              <a:spcBef>
                <a:spcPts val="0"/>
              </a:spcBef>
              <a:spcAft>
                <a:spcPts val="0"/>
              </a:spcAft>
              <a:buSzPts val="300"/>
              <a:buNone/>
              <a:defRPr/>
            </a:lvl8pPr>
            <a:lvl9pPr lvl="8" rtl="0">
              <a:spcBef>
                <a:spcPts val="0"/>
              </a:spcBef>
              <a:spcAft>
                <a:spcPts val="0"/>
              </a:spcAft>
              <a:buSzPts val="300"/>
              <a:buNone/>
              <a:defRPr/>
            </a:lvl9pPr>
          </a:lstStyle>
          <a:p/>
        </p:txBody>
      </p:sp>
      <p:sp>
        <p:nvSpPr>
          <p:cNvPr id="20" name="Google Shape;20;p4"/>
          <p:cNvSpPr txBox="1"/>
          <p:nvPr>
            <p:ph idx="12" type="sldNum"/>
          </p:nvPr>
        </p:nvSpPr>
        <p:spPr>
          <a:xfrm>
            <a:off x="8601000" y="4869600"/>
            <a:ext cx="543000" cy="273900"/>
          </a:xfrm>
          <a:prstGeom prst="rect">
            <a:avLst/>
          </a:prstGeom>
        </p:spPr>
        <p:txBody>
          <a:bodyPr anchorCtr="0" anchor="ctr" bIns="34275" lIns="68575" spcFirstLastPara="1" rIns="68575" wrap="square" tIns="34275">
            <a:noAutofit/>
          </a:bodyPr>
          <a:lstStyle>
            <a:lvl1pPr lvl="0" rtl="0">
              <a:buClr>
                <a:srgbClr val="000000"/>
              </a:buClr>
              <a:buSzPts val="900"/>
              <a:buFont typeface="Arial"/>
              <a:buNone/>
              <a:defRPr/>
            </a:lvl1pPr>
            <a:lvl2pPr lvl="1" rtl="0">
              <a:buClr>
                <a:srgbClr val="000000"/>
              </a:buClr>
              <a:buSzPts val="900"/>
              <a:buFont typeface="Arial"/>
              <a:buNone/>
              <a:defRPr/>
            </a:lvl2pPr>
            <a:lvl3pPr lvl="2" rtl="0">
              <a:buClr>
                <a:srgbClr val="000000"/>
              </a:buClr>
              <a:buSzPts val="900"/>
              <a:buFont typeface="Arial"/>
              <a:buNone/>
              <a:defRPr/>
            </a:lvl3pPr>
            <a:lvl4pPr lvl="3" rtl="0">
              <a:buClr>
                <a:srgbClr val="000000"/>
              </a:buClr>
              <a:buSzPts val="900"/>
              <a:buFont typeface="Arial"/>
              <a:buNone/>
              <a:defRPr/>
            </a:lvl4pPr>
            <a:lvl5pPr lvl="4" rtl="0">
              <a:buClr>
                <a:srgbClr val="000000"/>
              </a:buClr>
              <a:buSzPts val="900"/>
              <a:buFont typeface="Arial"/>
              <a:buNone/>
              <a:defRPr/>
            </a:lvl5pPr>
            <a:lvl6pPr lvl="5" rtl="0">
              <a:buClr>
                <a:srgbClr val="000000"/>
              </a:buClr>
              <a:buSzPts val="900"/>
              <a:buFont typeface="Arial"/>
              <a:buNone/>
              <a:defRPr/>
            </a:lvl6pPr>
            <a:lvl7pPr lvl="6" rtl="0">
              <a:buClr>
                <a:srgbClr val="000000"/>
              </a:buClr>
              <a:buSzPts val="900"/>
              <a:buFont typeface="Arial"/>
              <a:buNone/>
              <a:defRPr/>
            </a:lvl7pPr>
            <a:lvl8pPr lvl="7" rtl="0">
              <a:buClr>
                <a:srgbClr val="000000"/>
              </a:buClr>
              <a:buSzPts val="900"/>
              <a:buFont typeface="Arial"/>
              <a:buNone/>
              <a:defRPr/>
            </a:lvl8pPr>
            <a:lvl9pPr lvl="8" rtl="0">
              <a:buClr>
                <a:srgbClr val="000000"/>
              </a:buClr>
              <a:buSzPts val="900"/>
              <a:buFont typeface="Arial"/>
              <a:buNone/>
              <a:defRPr/>
            </a:lvl9pPr>
          </a:lstStyle>
          <a:p>
            <a:pPr indent="0" lvl="0" marL="0" rtl="0" algn="r">
              <a:spcBef>
                <a:spcPts val="0"/>
              </a:spcBef>
              <a:spcAft>
                <a:spcPts val="0"/>
              </a:spcAft>
              <a:buNone/>
            </a:pPr>
            <a:fld id="{00000000-1234-1234-1234-123412341234}" type="slidenum">
              <a:rPr lang="ja"/>
              <a:t>‹#›</a:t>
            </a:fld>
            <a:endParaRPr/>
          </a:p>
        </p:txBody>
      </p:sp>
      <p:sp>
        <p:nvSpPr>
          <p:cNvPr id="21" name="Google Shape;21;p4"/>
          <p:cNvSpPr txBox="1"/>
          <p:nvPr>
            <p:ph idx="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solidFill>
                <a:schemeClr val="dk1"/>
              </a:solidFill>
            </a:endParaRPr>
          </a:p>
        </p:txBody>
      </p:sp>
      <p:sp>
        <p:nvSpPr>
          <p:cNvPr id="22" name="Google Shape;22;p4"/>
          <p:cNvSpPr txBox="1"/>
          <p:nvPr>
            <p:ph idx="1" type="body"/>
          </p:nvPr>
        </p:nvSpPr>
        <p:spPr>
          <a:xfrm>
            <a:off x="628650" y="1315800"/>
            <a:ext cx="7886700" cy="34026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chemeClr val="dk1"/>
              </a:buClr>
              <a:buSzPts val="1400"/>
              <a:buChar char="•"/>
              <a:defRPr b="1" i="0" u="none" cap="none" strike="noStrike">
                <a:solidFill>
                  <a:schemeClr val="dk1"/>
                </a:solidFill>
              </a:defRPr>
            </a:lvl1pPr>
            <a:lvl2pPr indent="-317500" lvl="1" marL="914400" marR="0" rtl="0" algn="l">
              <a:lnSpc>
                <a:spcPct val="90000"/>
              </a:lnSpc>
              <a:spcBef>
                <a:spcPts val="400"/>
              </a:spcBef>
              <a:spcAft>
                <a:spcPts val="0"/>
              </a:spcAft>
              <a:buClr>
                <a:schemeClr val="dk1"/>
              </a:buClr>
              <a:buSzPts val="1400"/>
              <a:buFont typeface="Arial"/>
              <a:buChar char="•"/>
              <a:defRPr b="0" i="0" u="none" cap="none" strike="noStrike">
                <a:solidFill>
                  <a:schemeClr val="dk1"/>
                </a:solidFill>
                <a:latin typeface="Arial"/>
                <a:ea typeface="Arial"/>
                <a:cs typeface="Arial"/>
                <a:sym typeface="Arial"/>
              </a:defRPr>
            </a:lvl2pPr>
            <a:lvl3pPr indent="-298450" lvl="2" marL="13716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23" name="Google Shape;23;p4"/>
          <p:cNvSpPr txBox="1"/>
          <p:nvPr>
            <p:ph idx="3" type="subTitle"/>
          </p:nvPr>
        </p:nvSpPr>
        <p:spPr>
          <a:xfrm>
            <a:off x="628650" y="773590"/>
            <a:ext cx="7886700" cy="507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b="1" sz="1200"/>
            </a:lvl1pPr>
            <a:lvl2pPr lvl="1" rtl="0">
              <a:spcBef>
                <a:spcPts val="0"/>
              </a:spcBef>
              <a:spcAft>
                <a:spcPts val="0"/>
              </a:spcAft>
              <a:buSzPts val="1200"/>
              <a:buNone/>
              <a:defRPr b="1" sz="1200"/>
            </a:lvl2pPr>
            <a:lvl3pPr lvl="2" rtl="0">
              <a:spcBef>
                <a:spcPts val="0"/>
              </a:spcBef>
              <a:spcAft>
                <a:spcPts val="0"/>
              </a:spcAft>
              <a:buSzPts val="1200"/>
              <a:buNone/>
              <a:defRPr b="1" sz="1200"/>
            </a:lvl3pPr>
            <a:lvl4pPr lvl="3" rtl="0">
              <a:spcBef>
                <a:spcPts val="0"/>
              </a:spcBef>
              <a:spcAft>
                <a:spcPts val="0"/>
              </a:spcAft>
              <a:buSzPts val="1200"/>
              <a:buNone/>
              <a:defRPr b="1" sz="1200"/>
            </a:lvl4pPr>
            <a:lvl5pPr lvl="4" rtl="0">
              <a:spcBef>
                <a:spcPts val="0"/>
              </a:spcBef>
              <a:spcAft>
                <a:spcPts val="0"/>
              </a:spcAft>
              <a:buSzPts val="1200"/>
              <a:buNone/>
              <a:defRPr b="1" sz="1200"/>
            </a:lvl5pPr>
            <a:lvl6pPr lvl="5" rtl="0">
              <a:spcBef>
                <a:spcPts val="0"/>
              </a:spcBef>
              <a:spcAft>
                <a:spcPts val="0"/>
              </a:spcAft>
              <a:buSzPts val="1200"/>
              <a:buNone/>
              <a:defRPr b="1" sz="1200"/>
            </a:lvl6pPr>
            <a:lvl7pPr lvl="6" rtl="0">
              <a:spcBef>
                <a:spcPts val="0"/>
              </a:spcBef>
              <a:spcAft>
                <a:spcPts val="0"/>
              </a:spcAft>
              <a:buSzPts val="1200"/>
              <a:buNone/>
              <a:defRPr b="1" sz="1200"/>
            </a:lvl7pPr>
            <a:lvl8pPr lvl="7" rtl="0">
              <a:spcBef>
                <a:spcPts val="0"/>
              </a:spcBef>
              <a:spcAft>
                <a:spcPts val="0"/>
              </a:spcAft>
              <a:buSzPts val="1200"/>
              <a:buNone/>
              <a:defRPr b="1" sz="1200"/>
            </a:lvl8pPr>
            <a:lvl9pPr lvl="8" rtl="0">
              <a:spcBef>
                <a:spcPts val="0"/>
              </a:spcBef>
              <a:spcAft>
                <a:spcPts val="0"/>
              </a:spcAft>
              <a:buSzPts val="1200"/>
              <a:buNone/>
              <a:defRPr b="1"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p:cSld name="CUSTOM_1_2">
    <p:spTree>
      <p:nvGrpSpPr>
        <p:cNvPr id="24" name="Shape 24"/>
        <p:cNvGrpSpPr/>
        <p:nvPr/>
      </p:nvGrpSpPr>
      <p:grpSpPr>
        <a:xfrm>
          <a:off x="0" y="0"/>
          <a:ext cx="0" cy="0"/>
          <a:chOff x="0" y="0"/>
          <a:chExt cx="0" cy="0"/>
        </a:xfrm>
      </p:grpSpPr>
      <p:sp>
        <p:nvSpPr>
          <p:cNvPr id="25" name="Google Shape;25;p5"/>
          <p:cNvSpPr txBox="1"/>
          <p:nvPr>
            <p:ph type="title"/>
          </p:nvPr>
        </p:nvSpPr>
        <p:spPr>
          <a:xfrm>
            <a:off x="628650" y="317045"/>
            <a:ext cx="7886700" cy="436500"/>
          </a:xfrm>
          <a:prstGeom prst="rect">
            <a:avLst/>
          </a:prstGeom>
        </p:spPr>
        <p:txBody>
          <a:bodyPr anchorCtr="0" anchor="t" bIns="34275" lIns="68575" spcFirstLastPara="1" rIns="68575" wrap="square" tIns="34275">
            <a:noAutofit/>
          </a:bodyPr>
          <a:lstStyle>
            <a:lvl1pPr lvl="0" rtl="0">
              <a:spcBef>
                <a:spcPts val="0"/>
              </a:spcBef>
              <a:spcAft>
                <a:spcPts val="0"/>
              </a:spcAft>
              <a:buSzPts val="2500"/>
              <a:buNone/>
              <a:defRPr/>
            </a:lvl1pPr>
            <a:lvl2pPr lvl="1" rtl="0">
              <a:spcBef>
                <a:spcPts val="0"/>
              </a:spcBef>
              <a:spcAft>
                <a:spcPts val="0"/>
              </a:spcAft>
              <a:buSzPts val="300"/>
              <a:buNone/>
              <a:defRPr/>
            </a:lvl2pPr>
            <a:lvl3pPr lvl="2" rtl="0">
              <a:spcBef>
                <a:spcPts val="0"/>
              </a:spcBef>
              <a:spcAft>
                <a:spcPts val="0"/>
              </a:spcAft>
              <a:buSzPts val="300"/>
              <a:buNone/>
              <a:defRPr/>
            </a:lvl3pPr>
            <a:lvl4pPr lvl="3" rtl="0">
              <a:spcBef>
                <a:spcPts val="0"/>
              </a:spcBef>
              <a:spcAft>
                <a:spcPts val="0"/>
              </a:spcAft>
              <a:buSzPts val="300"/>
              <a:buNone/>
              <a:defRPr/>
            </a:lvl4pPr>
            <a:lvl5pPr lvl="4" rtl="0">
              <a:spcBef>
                <a:spcPts val="0"/>
              </a:spcBef>
              <a:spcAft>
                <a:spcPts val="0"/>
              </a:spcAft>
              <a:buSzPts val="300"/>
              <a:buNone/>
              <a:defRPr/>
            </a:lvl5pPr>
            <a:lvl6pPr lvl="5" rtl="0">
              <a:spcBef>
                <a:spcPts val="0"/>
              </a:spcBef>
              <a:spcAft>
                <a:spcPts val="0"/>
              </a:spcAft>
              <a:buSzPts val="300"/>
              <a:buNone/>
              <a:defRPr/>
            </a:lvl6pPr>
            <a:lvl7pPr lvl="6" rtl="0">
              <a:spcBef>
                <a:spcPts val="0"/>
              </a:spcBef>
              <a:spcAft>
                <a:spcPts val="0"/>
              </a:spcAft>
              <a:buSzPts val="300"/>
              <a:buNone/>
              <a:defRPr/>
            </a:lvl7pPr>
            <a:lvl8pPr lvl="7" rtl="0">
              <a:spcBef>
                <a:spcPts val="0"/>
              </a:spcBef>
              <a:spcAft>
                <a:spcPts val="0"/>
              </a:spcAft>
              <a:buSzPts val="300"/>
              <a:buNone/>
              <a:defRPr/>
            </a:lvl8pPr>
            <a:lvl9pPr lvl="8" rtl="0">
              <a:spcBef>
                <a:spcPts val="0"/>
              </a:spcBef>
              <a:spcAft>
                <a:spcPts val="0"/>
              </a:spcAft>
              <a:buSzPts val="300"/>
              <a:buNone/>
              <a:defRPr/>
            </a:lvl9pPr>
          </a:lstStyle>
          <a:p/>
        </p:txBody>
      </p:sp>
      <p:sp>
        <p:nvSpPr>
          <p:cNvPr id="26" name="Google Shape;26;p5"/>
          <p:cNvSpPr txBox="1"/>
          <p:nvPr>
            <p:ph idx="12" type="sldNum"/>
          </p:nvPr>
        </p:nvSpPr>
        <p:spPr>
          <a:xfrm>
            <a:off x="8601000" y="4869600"/>
            <a:ext cx="543000" cy="273900"/>
          </a:xfrm>
          <a:prstGeom prst="rect">
            <a:avLst/>
          </a:prstGeom>
        </p:spPr>
        <p:txBody>
          <a:bodyPr anchorCtr="0" anchor="ctr" bIns="34275" lIns="68575" spcFirstLastPara="1" rIns="68575" wrap="square" tIns="34275">
            <a:noAutofit/>
          </a:bodyPr>
          <a:lstStyle>
            <a:lvl1pPr lvl="0" rtl="0">
              <a:buClr>
                <a:srgbClr val="000000"/>
              </a:buClr>
              <a:buSzPts val="900"/>
              <a:buFont typeface="Arial"/>
              <a:buNone/>
              <a:defRPr/>
            </a:lvl1pPr>
            <a:lvl2pPr lvl="1" rtl="0">
              <a:buClr>
                <a:srgbClr val="000000"/>
              </a:buClr>
              <a:buSzPts val="900"/>
              <a:buFont typeface="Arial"/>
              <a:buNone/>
              <a:defRPr/>
            </a:lvl2pPr>
            <a:lvl3pPr lvl="2" rtl="0">
              <a:buClr>
                <a:srgbClr val="000000"/>
              </a:buClr>
              <a:buSzPts val="900"/>
              <a:buFont typeface="Arial"/>
              <a:buNone/>
              <a:defRPr/>
            </a:lvl3pPr>
            <a:lvl4pPr lvl="3" rtl="0">
              <a:buClr>
                <a:srgbClr val="000000"/>
              </a:buClr>
              <a:buSzPts val="900"/>
              <a:buFont typeface="Arial"/>
              <a:buNone/>
              <a:defRPr/>
            </a:lvl4pPr>
            <a:lvl5pPr lvl="4" rtl="0">
              <a:buClr>
                <a:srgbClr val="000000"/>
              </a:buClr>
              <a:buSzPts val="900"/>
              <a:buFont typeface="Arial"/>
              <a:buNone/>
              <a:defRPr/>
            </a:lvl5pPr>
            <a:lvl6pPr lvl="5" rtl="0">
              <a:buClr>
                <a:srgbClr val="000000"/>
              </a:buClr>
              <a:buSzPts val="900"/>
              <a:buFont typeface="Arial"/>
              <a:buNone/>
              <a:defRPr/>
            </a:lvl6pPr>
            <a:lvl7pPr lvl="6" rtl="0">
              <a:buClr>
                <a:srgbClr val="000000"/>
              </a:buClr>
              <a:buSzPts val="900"/>
              <a:buFont typeface="Arial"/>
              <a:buNone/>
              <a:defRPr/>
            </a:lvl7pPr>
            <a:lvl8pPr lvl="7" rtl="0">
              <a:buClr>
                <a:srgbClr val="000000"/>
              </a:buClr>
              <a:buSzPts val="900"/>
              <a:buFont typeface="Arial"/>
              <a:buNone/>
              <a:defRPr/>
            </a:lvl8pPr>
            <a:lvl9pPr lvl="8" rtl="0">
              <a:buClr>
                <a:srgbClr val="000000"/>
              </a:buClr>
              <a:buSzPts val="900"/>
              <a:buFont typeface="Arial"/>
              <a:buNone/>
              <a:defRPr/>
            </a:lvl9pPr>
          </a:lstStyle>
          <a:p>
            <a:pPr indent="0" lvl="0" marL="0" rtl="0" algn="r">
              <a:spcBef>
                <a:spcPts val="0"/>
              </a:spcBef>
              <a:spcAft>
                <a:spcPts val="0"/>
              </a:spcAft>
              <a:buNone/>
            </a:pPr>
            <a:fld id="{00000000-1234-1234-1234-123412341234}" type="slidenum">
              <a:rPr lang="ja"/>
              <a:t>‹#›</a:t>
            </a:fld>
            <a:endParaRPr/>
          </a:p>
        </p:txBody>
      </p:sp>
      <p:sp>
        <p:nvSpPr>
          <p:cNvPr id="27" name="Google Shape;27;p5"/>
          <p:cNvSpPr txBox="1"/>
          <p:nvPr>
            <p:ph idx="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solidFill>
                <a:schemeClr val="dk1"/>
              </a:solidFill>
            </a:endParaRPr>
          </a:p>
        </p:txBody>
      </p:sp>
      <p:sp>
        <p:nvSpPr>
          <p:cNvPr id="28" name="Google Shape;28;p5"/>
          <p:cNvSpPr/>
          <p:nvPr>
            <p:ph idx="3" type="pic"/>
          </p:nvPr>
        </p:nvSpPr>
        <p:spPr>
          <a:xfrm>
            <a:off x="628650" y="1267075"/>
            <a:ext cx="7886700" cy="3355200"/>
          </a:xfrm>
          <a:prstGeom prst="rect">
            <a:avLst/>
          </a:prstGeom>
          <a:noFill/>
          <a:ln cap="flat" cmpd="sng" w="28575">
            <a:solidFill>
              <a:srgbClr val="000000"/>
            </a:solidFill>
            <a:prstDash val="solid"/>
            <a:round/>
            <a:headEnd len="sm" w="sm" type="none"/>
            <a:tailEnd len="sm" w="sm" type="none"/>
          </a:ln>
        </p:spPr>
      </p:sp>
      <p:sp>
        <p:nvSpPr>
          <p:cNvPr id="29" name="Google Shape;29;p5"/>
          <p:cNvSpPr txBox="1"/>
          <p:nvPr>
            <p:ph idx="1" type="subTitle"/>
          </p:nvPr>
        </p:nvSpPr>
        <p:spPr>
          <a:xfrm>
            <a:off x="628650" y="773590"/>
            <a:ext cx="7886700" cy="507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b="1" sz="1000"/>
            </a:lvl1pPr>
            <a:lvl2pPr lvl="1" rtl="0">
              <a:spcBef>
                <a:spcPts val="0"/>
              </a:spcBef>
              <a:spcAft>
                <a:spcPts val="0"/>
              </a:spcAft>
              <a:buSzPts val="1000"/>
              <a:buNone/>
              <a:defRPr b="1" sz="1000"/>
            </a:lvl2pPr>
            <a:lvl3pPr lvl="2" rtl="0">
              <a:spcBef>
                <a:spcPts val="0"/>
              </a:spcBef>
              <a:spcAft>
                <a:spcPts val="0"/>
              </a:spcAft>
              <a:buSzPts val="1000"/>
              <a:buNone/>
              <a:defRPr b="1" sz="1000"/>
            </a:lvl3pPr>
            <a:lvl4pPr lvl="3" rtl="0">
              <a:spcBef>
                <a:spcPts val="0"/>
              </a:spcBef>
              <a:spcAft>
                <a:spcPts val="0"/>
              </a:spcAft>
              <a:buSzPts val="1000"/>
              <a:buNone/>
              <a:defRPr b="1" sz="1000"/>
            </a:lvl4pPr>
            <a:lvl5pPr lvl="4" rtl="0">
              <a:spcBef>
                <a:spcPts val="0"/>
              </a:spcBef>
              <a:spcAft>
                <a:spcPts val="0"/>
              </a:spcAft>
              <a:buSzPts val="1000"/>
              <a:buNone/>
              <a:defRPr b="1" sz="1000"/>
            </a:lvl5pPr>
            <a:lvl6pPr lvl="5" rtl="0">
              <a:spcBef>
                <a:spcPts val="0"/>
              </a:spcBef>
              <a:spcAft>
                <a:spcPts val="0"/>
              </a:spcAft>
              <a:buSzPts val="1000"/>
              <a:buNone/>
              <a:defRPr b="1" sz="1000"/>
            </a:lvl6pPr>
            <a:lvl7pPr lvl="6" rtl="0">
              <a:spcBef>
                <a:spcPts val="0"/>
              </a:spcBef>
              <a:spcAft>
                <a:spcPts val="0"/>
              </a:spcAft>
              <a:buSzPts val="1000"/>
              <a:buNone/>
              <a:defRPr b="1" sz="1000"/>
            </a:lvl7pPr>
            <a:lvl8pPr lvl="7" rtl="0">
              <a:spcBef>
                <a:spcPts val="0"/>
              </a:spcBef>
              <a:spcAft>
                <a:spcPts val="0"/>
              </a:spcAft>
              <a:buSzPts val="1000"/>
              <a:buNone/>
              <a:defRPr b="1" sz="1000"/>
            </a:lvl8pPr>
            <a:lvl9pPr lvl="8" rtl="0">
              <a:spcBef>
                <a:spcPts val="0"/>
              </a:spcBef>
              <a:spcAft>
                <a:spcPts val="0"/>
              </a:spcAft>
              <a:buSzPts val="1000"/>
              <a:buNone/>
              <a:defRPr b="1" sz="1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CUSTOM_1_1">
    <p:spTree>
      <p:nvGrpSpPr>
        <p:cNvPr id="30" name="Shape 30"/>
        <p:cNvGrpSpPr/>
        <p:nvPr/>
      </p:nvGrpSpPr>
      <p:grpSpPr>
        <a:xfrm>
          <a:off x="0" y="0"/>
          <a:ext cx="0" cy="0"/>
          <a:chOff x="0" y="0"/>
          <a:chExt cx="0" cy="0"/>
        </a:xfrm>
      </p:grpSpPr>
      <p:sp>
        <p:nvSpPr>
          <p:cNvPr id="31" name="Google Shape;31;p6"/>
          <p:cNvSpPr txBox="1"/>
          <p:nvPr>
            <p:ph type="title"/>
          </p:nvPr>
        </p:nvSpPr>
        <p:spPr>
          <a:xfrm>
            <a:off x="628650" y="1375350"/>
            <a:ext cx="7886700" cy="1421400"/>
          </a:xfrm>
          <a:prstGeom prst="rect">
            <a:avLst/>
          </a:prstGeom>
        </p:spPr>
        <p:txBody>
          <a:bodyPr anchorCtr="0" anchor="b" bIns="34275" lIns="68575" spcFirstLastPara="1" rIns="68575" wrap="square" tIns="34275">
            <a:noAutofit/>
          </a:bodyPr>
          <a:lstStyle>
            <a:lvl1pPr lvl="0" rtl="0">
              <a:spcBef>
                <a:spcPts val="0"/>
              </a:spcBef>
              <a:spcAft>
                <a:spcPts val="0"/>
              </a:spcAft>
              <a:buSzPts val="3500"/>
              <a:buNone/>
              <a:defRPr sz="3500"/>
            </a:lvl1pPr>
            <a:lvl2pPr lvl="1" rtl="0">
              <a:spcBef>
                <a:spcPts val="0"/>
              </a:spcBef>
              <a:spcAft>
                <a:spcPts val="0"/>
              </a:spcAft>
              <a:buSzPts val="3500"/>
              <a:buNone/>
              <a:defRPr sz="3500"/>
            </a:lvl2pPr>
            <a:lvl3pPr lvl="2" rtl="0">
              <a:spcBef>
                <a:spcPts val="0"/>
              </a:spcBef>
              <a:spcAft>
                <a:spcPts val="0"/>
              </a:spcAft>
              <a:buSzPts val="3500"/>
              <a:buNone/>
              <a:defRPr sz="3500"/>
            </a:lvl3pPr>
            <a:lvl4pPr lvl="3" rtl="0">
              <a:spcBef>
                <a:spcPts val="0"/>
              </a:spcBef>
              <a:spcAft>
                <a:spcPts val="0"/>
              </a:spcAft>
              <a:buSzPts val="3500"/>
              <a:buNone/>
              <a:defRPr sz="3500"/>
            </a:lvl4pPr>
            <a:lvl5pPr lvl="4" rtl="0">
              <a:spcBef>
                <a:spcPts val="0"/>
              </a:spcBef>
              <a:spcAft>
                <a:spcPts val="0"/>
              </a:spcAft>
              <a:buSzPts val="3500"/>
              <a:buNone/>
              <a:defRPr sz="3500"/>
            </a:lvl5pPr>
            <a:lvl6pPr lvl="5" rtl="0">
              <a:spcBef>
                <a:spcPts val="0"/>
              </a:spcBef>
              <a:spcAft>
                <a:spcPts val="0"/>
              </a:spcAft>
              <a:buSzPts val="3500"/>
              <a:buNone/>
              <a:defRPr sz="3500"/>
            </a:lvl6pPr>
            <a:lvl7pPr lvl="6" rtl="0">
              <a:spcBef>
                <a:spcPts val="0"/>
              </a:spcBef>
              <a:spcAft>
                <a:spcPts val="0"/>
              </a:spcAft>
              <a:buSzPts val="3500"/>
              <a:buNone/>
              <a:defRPr sz="3500"/>
            </a:lvl7pPr>
            <a:lvl8pPr lvl="7" rtl="0">
              <a:spcBef>
                <a:spcPts val="0"/>
              </a:spcBef>
              <a:spcAft>
                <a:spcPts val="0"/>
              </a:spcAft>
              <a:buSzPts val="3500"/>
              <a:buNone/>
              <a:defRPr sz="3500"/>
            </a:lvl8pPr>
            <a:lvl9pPr lvl="8" rtl="0">
              <a:spcBef>
                <a:spcPts val="0"/>
              </a:spcBef>
              <a:spcAft>
                <a:spcPts val="0"/>
              </a:spcAft>
              <a:buSzPts val="3500"/>
              <a:buNone/>
              <a:defRPr sz="3500"/>
            </a:lvl9pPr>
          </a:lstStyle>
          <a:p/>
        </p:txBody>
      </p:sp>
      <p:sp>
        <p:nvSpPr>
          <p:cNvPr id="32" name="Google Shape;32;p6"/>
          <p:cNvSpPr txBox="1"/>
          <p:nvPr>
            <p:ph idx="12" type="sldNum"/>
          </p:nvPr>
        </p:nvSpPr>
        <p:spPr>
          <a:xfrm>
            <a:off x="8601000" y="4869600"/>
            <a:ext cx="543000" cy="273900"/>
          </a:xfrm>
          <a:prstGeom prst="rect">
            <a:avLst/>
          </a:prstGeom>
        </p:spPr>
        <p:txBody>
          <a:bodyPr anchorCtr="0" anchor="ctr" bIns="34275" lIns="68575" spcFirstLastPara="1" rIns="68575" wrap="square" tIns="34275">
            <a:noAutofit/>
          </a:bodyPr>
          <a:lstStyle>
            <a:lvl1pPr lvl="0" rtl="0">
              <a:buClr>
                <a:srgbClr val="000000"/>
              </a:buClr>
              <a:buSzPts val="900"/>
              <a:buFont typeface="Arial"/>
              <a:buNone/>
              <a:defRPr/>
            </a:lvl1pPr>
            <a:lvl2pPr lvl="1" rtl="0">
              <a:buClr>
                <a:srgbClr val="000000"/>
              </a:buClr>
              <a:buSzPts val="900"/>
              <a:buFont typeface="Arial"/>
              <a:buNone/>
              <a:defRPr/>
            </a:lvl2pPr>
            <a:lvl3pPr lvl="2" rtl="0">
              <a:buClr>
                <a:srgbClr val="000000"/>
              </a:buClr>
              <a:buSzPts val="900"/>
              <a:buFont typeface="Arial"/>
              <a:buNone/>
              <a:defRPr/>
            </a:lvl3pPr>
            <a:lvl4pPr lvl="3" rtl="0">
              <a:buClr>
                <a:srgbClr val="000000"/>
              </a:buClr>
              <a:buSzPts val="900"/>
              <a:buFont typeface="Arial"/>
              <a:buNone/>
              <a:defRPr/>
            </a:lvl4pPr>
            <a:lvl5pPr lvl="4" rtl="0">
              <a:buClr>
                <a:srgbClr val="000000"/>
              </a:buClr>
              <a:buSzPts val="900"/>
              <a:buFont typeface="Arial"/>
              <a:buNone/>
              <a:defRPr/>
            </a:lvl5pPr>
            <a:lvl6pPr lvl="5" rtl="0">
              <a:buClr>
                <a:srgbClr val="000000"/>
              </a:buClr>
              <a:buSzPts val="900"/>
              <a:buFont typeface="Arial"/>
              <a:buNone/>
              <a:defRPr/>
            </a:lvl6pPr>
            <a:lvl7pPr lvl="6" rtl="0">
              <a:buClr>
                <a:srgbClr val="000000"/>
              </a:buClr>
              <a:buSzPts val="900"/>
              <a:buFont typeface="Arial"/>
              <a:buNone/>
              <a:defRPr/>
            </a:lvl7pPr>
            <a:lvl8pPr lvl="7" rtl="0">
              <a:buClr>
                <a:srgbClr val="000000"/>
              </a:buClr>
              <a:buSzPts val="900"/>
              <a:buFont typeface="Arial"/>
              <a:buNone/>
              <a:defRPr/>
            </a:lvl8pPr>
            <a:lvl9pPr lvl="8" rtl="0">
              <a:buClr>
                <a:srgbClr val="000000"/>
              </a:buClr>
              <a:buSzPts val="900"/>
              <a:buFont typeface="Arial"/>
              <a:buNone/>
              <a:defRPr/>
            </a:lvl9pPr>
          </a:lstStyle>
          <a:p>
            <a:pPr indent="0" lvl="0" marL="0" rtl="0" algn="r">
              <a:spcBef>
                <a:spcPts val="0"/>
              </a:spcBef>
              <a:spcAft>
                <a:spcPts val="0"/>
              </a:spcAft>
              <a:buNone/>
            </a:pPr>
            <a:fld id="{00000000-1234-1234-1234-123412341234}" type="slidenum">
              <a:rPr lang="ja"/>
              <a:t>‹#›</a:t>
            </a:fld>
            <a:endParaRPr/>
          </a:p>
        </p:txBody>
      </p:sp>
      <p:sp>
        <p:nvSpPr>
          <p:cNvPr id="33" name="Google Shape;33;p6"/>
          <p:cNvSpPr txBox="1"/>
          <p:nvPr>
            <p:ph idx="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solidFill>
                <a:schemeClr val="dk1"/>
              </a:solidFill>
            </a:endParaRPr>
          </a:p>
        </p:txBody>
      </p:sp>
      <p:sp>
        <p:nvSpPr>
          <p:cNvPr id="34" name="Google Shape;34;p6"/>
          <p:cNvSpPr txBox="1"/>
          <p:nvPr>
            <p:ph idx="1" type="subTitle"/>
          </p:nvPr>
        </p:nvSpPr>
        <p:spPr>
          <a:xfrm>
            <a:off x="628650" y="2720700"/>
            <a:ext cx="7886700" cy="519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400"/>
              <a:buNone/>
              <a:defRPr b="1" sz="1400">
                <a:solidFill>
                  <a:schemeClr val="dk1"/>
                </a:solidFill>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35" name="Google Shape;35;p6"/>
          <p:cNvSpPr/>
          <p:nvPr/>
        </p:nvSpPr>
        <p:spPr>
          <a:xfrm flipH="1" rot="10800000">
            <a:off x="0" y="0"/>
            <a:ext cx="545100" cy="1100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p:nvPr/>
        </p:nvSpPr>
        <p:spPr>
          <a:xfrm flipH="1" rot="10800000">
            <a:off x="0" y="0"/>
            <a:ext cx="2371800" cy="333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 name="Shape 42"/>
        <p:cNvGrpSpPr/>
        <p:nvPr/>
      </p:nvGrpSpPr>
      <p:grpSpPr>
        <a:xfrm>
          <a:off x="0" y="0"/>
          <a:ext cx="0" cy="0"/>
          <a:chOff x="0" y="0"/>
          <a:chExt cx="0" cy="0"/>
        </a:xfrm>
      </p:grpSpPr>
      <p:sp>
        <p:nvSpPr>
          <p:cNvPr id="43" name="Google Shape;43;p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4" name="Google Shape;44;p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5" name="Google Shape;45;p8"/>
          <p:cNvSpPr/>
          <p:nvPr/>
        </p:nvSpPr>
        <p:spPr>
          <a:xfrm flipH="1" rot="10800000">
            <a:off x="0" y="0"/>
            <a:ext cx="545100" cy="1100100"/>
          </a:xfrm>
          <a:prstGeom prst="rtTriangl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8"/>
          <p:cNvSpPr/>
          <p:nvPr/>
        </p:nvSpPr>
        <p:spPr>
          <a:xfrm flipH="1" rot="10800000">
            <a:off x="0" y="0"/>
            <a:ext cx="2371800" cy="333000"/>
          </a:xfrm>
          <a:prstGeom prst="rtTriangl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 name="Google Shape;47;p8"/>
          <p:cNvPicPr preferRelativeResize="0"/>
          <p:nvPr/>
        </p:nvPicPr>
        <p:blipFill>
          <a:blip r:embed="rId2">
            <a:alphaModFix/>
          </a:blip>
          <a:stretch>
            <a:fillRect/>
          </a:stretch>
        </p:blipFill>
        <p:spPr>
          <a:xfrm>
            <a:off x="159300" y="4843475"/>
            <a:ext cx="548700" cy="144029"/>
          </a:xfrm>
          <a:prstGeom prst="rect">
            <a:avLst/>
          </a:prstGeom>
          <a:noFill/>
          <a:ln>
            <a:noFill/>
          </a:ln>
        </p:spPr>
      </p:pic>
      <p:pic>
        <p:nvPicPr>
          <p:cNvPr id="48" name="Google Shape;48;p8"/>
          <p:cNvPicPr preferRelativeResize="0"/>
          <p:nvPr/>
        </p:nvPicPr>
        <p:blipFill>
          <a:blip r:embed="rId3">
            <a:alphaModFix/>
          </a:blip>
          <a:stretch>
            <a:fillRect/>
          </a:stretch>
        </p:blipFill>
        <p:spPr>
          <a:xfrm>
            <a:off x="6683000" y="2764975"/>
            <a:ext cx="2461002" cy="2167919"/>
          </a:xfrm>
          <a:prstGeom prst="rect">
            <a:avLst/>
          </a:prstGeom>
          <a:noFill/>
          <a:ln>
            <a:noFill/>
          </a:ln>
        </p:spPr>
      </p:pic>
      <p:sp>
        <p:nvSpPr>
          <p:cNvPr id="49" name="Google Shape;49;p8"/>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 name="Shape 51"/>
        <p:cNvGrpSpPr/>
        <p:nvPr/>
      </p:nvGrpSpPr>
      <p:grpSpPr>
        <a:xfrm>
          <a:off x="0" y="0"/>
          <a:ext cx="0" cy="0"/>
          <a:chOff x="0" y="0"/>
          <a:chExt cx="0" cy="0"/>
        </a:xfrm>
      </p:grpSpPr>
      <p:sp>
        <p:nvSpPr>
          <p:cNvPr id="52" name="Google Shape;52;p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pic>
        <p:nvPicPr>
          <p:cNvPr id="54" name="Google Shape;54;p9"/>
          <p:cNvPicPr preferRelativeResize="0"/>
          <p:nvPr/>
        </p:nvPicPr>
        <p:blipFill>
          <a:blip r:embed="rId2">
            <a:alphaModFix/>
          </a:blip>
          <a:stretch>
            <a:fillRect/>
          </a:stretch>
        </p:blipFill>
        <p:spPr>
          <a:xfrm>
            <a:off x="159300" y="4843475"/>
            <a:ext cx="548700" cy="144029"/>
          </a:xfrm>
          <a:prstGeom prst="rect">
            <a:avLst/>
          </a:prstGeom>
          <a:noFill/>
          <a:ln>
            <a:noFill/>
          </a:ln>
        </p:spPr>
      </p:pic>
      <p:sp>
        <p:nvSpPr>
          <p:cNvPr id="55" name="Google Shape;55;p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6" name="Shape 56"/>
        <p:cNvGrpSpPr/>
        <p:nvPr/>
      </p:nvGrpSpPr>
      <p:grpSpPr>
        <a:xfrm>
          <a:off x="0" y="0"/>
          <a:ext cx="0" cy="0"/>
          <a:chOff x="0" y="0"/>
          <a:chExt cx="0" cy="0"/>
        </a:xfrm>
      </p:grpSpPr>
      <p:sp>
        <p:nvSpPr>
          <p:cNvPr id="57" name="Google Shape;5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9" name="Google Shape;59;p1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 name="Google Shape;60;p1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1" name="Google Shape;61;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pic>
        <p:nvPicPr>
          <p:cNvPr id="62" name="Google Shape;62;p10"/>
          <p:cNvPicPr preferRelativeResize="0"/>
          <p:nvPr/>
        </p:nvPicPr>
        <p:blipFill>
          <a:blip r:embed="rId2">
            <a:alphaModFix/>
          </a:blip>
          <a:stretch>
            <a:fillRect/>
          </a:stretch>
        </p:blipFill>
        <p:spPr>
          <a:xfrm>
            <a:off x="159300" y="4843475"/>
            <a:ext cx="548700" cy="144029"/>
          </a:xfrm>
          <a:prstGeom prst="rect">
            <a:avLst/>
          </a:prstGeom>
          <a:noFill/>
          <a:ln>
            <a:noFill/>
          </a:ln>
        </p:spPr>
      </p:pic>
      <p:sp>
        <p:nvSpPr>
          <p:cNvPr id="63" name="Google Shape;63;p1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317045"/>
            <a:ext cx="7886700" cy="4365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dk1"/>
              </a:buClr>
              <a:buSzPts val="2500"/>
              <a:buNone/>
              <a:defRPr b="1" i="0" sz="2500" u="none" cap="none" strike="noStrike">
                <a:solidFill>
                  <a:schemeClr val="dk1"/>
                </a:solidFill>
              </a:defRPr>
            </a:lvl1pPr>
            <a:lvl2pPr lvl="1"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15800"/>
            <a:ext cx="7886700" cy="34026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chemeClr val="dk1"/>
              </a:buClr>
              <a:buSzPts val="1400"/>
              <a:buChar char="•"/>
              <a:defRPr b="1" i="0" u="none" cap="none" strike="noStrike">
                <a:solidFill>
                  <a:schemeClr val="dk1"/>
                </a:solidFill>
              </a:defRPr>
            </a:lvl1pPr>
            <a:lvl2pPr indent="-317500" lvl="1" marL="914400" marR="0" rtl="0" algn="l">
              <a:lnSpc>
                <a:spcPct val="90000"/>
              </a:lnSpc>
              <a:spcBef>
                <a:spcPts val="400"/>
              </a:spcBef>
              <a:spcAft>
                <a:spcPts val="0"/>
              </a:spcAft>
              <a:buClr>
                <a:schemeClr val="dk1"/>
              </a:buClr>
              <a:buSzPts val="1400"/>
              <a:buFont typeface="Arial"/>
              <a:buChar char="•"/>
              <a:defRPr b="0" i="0" u="none" cap="none" strike="noStrike">
                <a:solidFill>
                  <a:schemeClr val="dk1"/>
                </a:solidFill>
                <a:latin typeface="Arial"/>
                <a:ea typeface="Arial"/>
                <a:cs typeface="Arial"/>
                <a:sym typeface="Arial"/>
              </a:defRPr>
            </a:lvl2pPr>
            <a:lvl3pPr indent="-317500" lvl="2" marL="1371600" marR="0" rtl="0" algn="l">
              <a:lnSpc>
                <a:spcPct val="90000"/>
              </a:lnSpc>
              <a:spcBef>
                <a:spcPts val="400"/>
              </a:spcBef>
              <a:spcAft>
                <a:spcPts val="0"/>
              </a:spcAft>
              <a:buClr>
                <a:schemeClr val="dk1"/>
              </a:buClr>
              <a:buSzPts val="1400"/>
              <a:buFont typeface="Arial"/>
              <a:buChar char="•"/>
              <a:defRPr b="0" i="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u="none" cap="none" strike="noStrike">
                <a:solidFill>
                  <a:schemeClr val="dk1"/>
                </a:solidFill>
                <a:latin typeface="Arial"/>
                <a:ea typeface="Arial"/>
                <a:cs typeface="Arial"/>
                <a:sym typeface="Arial"/>
              </a:defRPr>
            </a:lvl4pPr>
            <a:lvl5pPr indent="-298450" lvl="4" marL="22860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8" name="Google Shape;8;p1"/>
          <p:cNvSpPr txBox="1"/>
          <p:nvPr>
            <p:ph idx="1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pic>
        <p:nvPicPr>
          <p:cNvPr id="9" name="Google Shape;9;p1"/>
          <p:cNvPicPr preferRelativeResize="0"/>
          <p:nvPr/>
        </p:nvPicPr>
        <p:blipFill>
          <a:blip r:embed="rId1">
            <a:alphaModFix/>
          </a:blip>
          <a:stretch>
            <a:fillRect/>
          </a:stretch>
        </p:blipFill>
        <p:spPr>
          <a:xfrm>
            <a:off x="152400" y="4848205"/>
            <a:ext cx="543000" cy="142895"/>
          </a:xfrm>
          <a:prstGeom prst="rect">
            <a:avLst/>
          </a:prstGeom>
          <a:noFill/>
          <a:ln>
            <a:noFill/>
          </a:ln>
        </p:spPr>
      </p:pic>
      <p:sp>
        <p:nvSpPr>
          <p:cNvPr id="10" name="Google Shape;10;p1"/>
          <p:cNvSpPr/>
          <p:nvPr/>
        </p:nvSpPr>
        <p:spPr>
          <a:xfrm flipH="1" rot="10800000">
            <a:off x="0" y="0"/>
            <a:ext cx="847800" cy="333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8" name="Shape 38"/>
        <p:cNvGrpSpPr/>
        <p:nvPr/>
      </p:nvGrpSpPr>
      <p:grpSpPr>
        <a:xfrm>
          <a:off x="0" y="0"/>
          <a:ext cx="0" cy="0"/>
          <a:chOff x="0" y="0"/>
          <a:chExt cx="0" cy="0"/>
        </a:xfrm>
      </p:grpSpPr>
      <p:sp>
        <p:nvSpPr>
          <p:cNvPr id="39" name="Google Shape;39;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40" name="Google Shape;40;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41" name="Google Shape;4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docs.google.com/presentation/d/1RuI073kpSmKQzpn-jxMMRgc-g87hpjpts5YywVQNGJk/edit?slide=id.g2e2dd58f6b2_0_228#slide=id.g2e2dd58f6b2_0_228" TargetMode="External"/><Relationship Id="rId4" Type="http://schemas.openxmlformats.org/officeDocument/2006/relationships/hyperlink" Target="https://docs.google.com/presentation/d/1I1ZgmjIDJ--KD7U8SKC64-vq2Xo4clJODOAFZNowth4/edit?slide=id.g2e2dd58f6b2_0_228#slide=id.g2e2dd58f6b2_0_228" TargetMode="External"/><Relationship Id="rId5" Type="http://schemas.openxmlformats.org/officeDocument/2006/relationships/slide" Target="/ppt/slides/slide1.xml"/><Relationship Id="rId6" Type="http://schemas.openxmlformats.org/officeDocument/2006/relationships/hyperlink" Target="https://docs.google.com/presentation/d/1EVDaSAkOxoD_7C5TdIMixZwvx_zQ10h3qaPqnwYwLnA/edit?slide=id.g2e2dd58f6b2_0_228#slide=id.g2e2dd58f6b2_0_228" TargetMode="External"/><Relationship Id="rId7" Type="http://schemas.openxmlformats.org/officeDocument/2006/relationships/hyperlink" Target="https://docs.google.com/presentation/d/1WKNDkahPmRXYZfUmP5tMv6rhzj8AWiAKcdtxPjYZx80/edit?slide=id.g2e2dd58f6b2_0_228#slide=id.g2e2dd58f6b2_0_228" TargetMode="External"/><Relationship Id="rId8" Type="http://schemas.openxmlformats.org/officeDocument/2006/relationships/hyperlink" Target="https://docs.google.com/presentation/d/1WKNDkahPmRXYZfUmP5tMv6rhzj8AWiAKcdtxPjYZx80/edit?slide=id.g2e2dd58f6b2_0_228#slide=id.g2e2dd58f6b2_0_228"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ppt/slides/slide16.xml"/><Relationship Id="rId4" Type="http://schemas.openxmlformats.org/officeDocument/2006/relationships/slide" Target="/ppt/slides/slide14.xml"/><Relationship Id="rId5" Type="http://schemas.openxmlformats.org/officeDocument/2006/relationships/slide" Target="/ppt/slides/slide15.xml"/><Relationship Id="rId6" Type="http://schemas.openxmlformats.org/officeDocument/2006/relationships/slide" Target="/ppt/slides/slide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https://docs.google.com/presentation/d/1r_d33V3D_RyxHbxH2kYiuQ5L49GVMjeGSvBVhX1cFJA/edit?slide=id.g31c75a30478_0_214#slide=id.g31c75a30478_0_21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1"/>
          <p:cNvSpPr txBox="1"/>
          <p:nvPr>
            <p:ph idx="4294967295" type="title"/>
          </p:nvPr>
        </p:nvSpPr>
        <p:spPr>
          <a:xfrm>
            <a:off x="628650" y="2139400"/>
            <a:ext cx="7886700" cy="6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ja" sz="3200">
                <a:solidFill>
                  <a:srgbClr val="1F1F1F"/>
                </a:solidFill>
                <a:latin typeface="M PLUS 1p"/>
                <a:ea typeface="M PLUS 1p"/>
                <a:cs typeface="M PLUS 1p"/>
                <a:sym typeface="M PLUS 1p"/>
              </a:rPr>
              <a:t>翌月継続率の構造化分析_Part2</a:t>
            </a:r>
            <a:endParaRPr b="1" sz="3200">
              <a:solidFill>
                <a:srgbClr val="1F1F1F"/>
              </a:solidFill>
              <a:latin typeface="M PLUS 1p"/>
              <a:ea typeface="M PLUS 1p"/>
              <a:cs typeface="M PLUS 1p"/>
              <a:sym typeface="M PLUS 1p"/>
            </a:endParaRPr>
          </a:p>
        </p:txBody>
      </p:sp>
      <p:sp>
        <p:nvSpPr>
          <p:cNvPr id="69" name="Google Shape;69;p11"/>
          <p:cNvSpPr txBox="1"/>
          <p:nvPr/>
        </p:nvSpPr>
        <p:spPr>
          <a:xfrm>
            <a:off x="628650" y="3014450"/>
            <a:ext cx="3484500" cy="11256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lang="ja">
                <a:solidFill>
                  <a:srgbClr val="1F1F1F"/>
                </a:solidFill>
              </a:rPr>
              <a:t>プロダクト本部データアナリティクス部</a:t>
            </a:r>
            <a:endParaRPr>
              <a:solidFill>
                <a:srgbClr val="1F1F1F"/>
              </a:solidFill>
            </a:endParaRPr>
          </a:p>
          <a:p>
            <a:pPr indent="0" lvl="0" marL="0" rtl="0" algn="l">
              <a:lnSpc>
                <a:spcPct val="140000"/>
              </a:lnSpc>
              <a:spcBef>
                <a:spcPts val="0"/>
              </a:spcBef>
              <a:spcAft>
                <a:spcPts val="0"/>
              </a:spcAft>
              <a:buNone/>
            </a:pPr>
            <a:r>
              <a:t/>
            </a:r>
            <a:endParaRPr>
              <a:solidFill>
                <a:srgbClr val="1F1F1F"/>
              </a:solidFill>
            </a:endParaRPr>
          </a:p>
        </p:txBody>
      </p:sp>
      <p:sp>
        <p:nvSpPr>
          <p:cNvPr id="70" name="Google Shape;70;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6" name="Google Shape;76;p12"/>
          <p:cNvSpPr txBox="1"/>
          <p:nvPr/>
        </p:nvSpPr>
        <p:spPr>
          <a:xfrm>
            <a:off x="39700" y="1906975"/>
            <a:ext cx="9144000" cy="2289900"/>
          </a:xfrm>
          <a:prstGeom prst="rect">
            <a:avLst/>
          </a:prstGeom>
          <a:no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None/>
            </a:pPr>
            <a:r>
              <a:rPr lang="ja" sz="2100">
                <a:solidFill>
                  <a:srgbClr val="1F1F1F"/>
                </a:solidFill>
                <a:latin typeface="M PLUS 1p"/>
                <a:ea typeface="M PLUS 1p"/>
                <a:cs typeface="M PLUS 1p"/>
                <a:sym typeface="M PLUS 1p"/>
              </a:rPr>
              <a:t>本資料</a:t>
            </a:r>
            <a:r>
              <a:rPr lang="ja" sz="2100">
                <a:solidFill>
                  <a:srgbClr val="1F1F1F"/>
                </a:solidFill>
                <a:latin typeface="M PLUS 1p"/>
                <a:ea typeface="M PLUS 1p"/>
                <a:cs typeface="M PLUS 1p"/>
                <a:sym typeface="M PLUS 1p"/>
              </a:rPr>
              <a:t>は、翌月継続率の構造化を通して、</a:t>
            </a:r>
            <a:endParaRPr sz="2100">
              <a:solidFill>
                <a:srgbClr val="1F1F1F"/>
              </a:solidFill>
              <a:latin typeface="M PLUS 1p"/>
              <a:ea typeface="M PLUS 1p"/>
              <a:cs typeface="M PLUS 1p"/>
              <a:sym typeface="M PLUS 1p"/>
            </a:endParaRPr>
          </a:p>
          <a:p>
            <a:pPr indent="0" lvl="0" marL="0" rtl="0" algn="ctr">
              <a:lnSpc>
                <a:spcPct val="120000"/>
              </a:lnSpc>
              <a:spcBef>
                <a:spcPts val="0"/>
              </a:spcBef>
              <a:spcAft>
                <a:spcPts val="0"/>
              </a:spcAft>
              <a:buNone/>
            </a:pPr>
            <a:r>
              <a:rPr lang="ja" sz="2100">
                <a:solidFill>
                  <a:srgbClr val="1F1F1F"/>
                </a:solidFill>
                <a:latin typeface="M PLUS 1p"/>
                <a:ea typeface="M PLUS 1p"/>
                <a:cs typeface="M PLUS 1p"/>
                <a:sym typeface="M PLUS 1p"/>
              </a:rPr>
              <a:t>翌月継続率の全体像を深く理解し、</a:t>
            </a:r>
            <a:br>
              <a:rPr lang="ja" sz="2100">
                <a:solidFill>
                  <a:srgbClr val="1F1F1F"/>
                </a:solidFill>
                <a:latin typeface="M PLUS 1p"/>
                <a:ea typeface="M PLUS 1p"/>
                <a:cs typeface="M PLUS 1p"/>
                <a:sym typeface="M PLUS 1p"/>
              </a:rPr>
            </a:br>
            <a:r>
              <a:rPr lang="ja" sz="2100">
                <a:solidFill>
                  <a:srgbClr val="1F1F1F"/>
                </a:solidFill>
                <a:latin typeface="M PLUS 1p"/>
                <a:ea typeface="M PLUS 1p"/>
                <a:cs typeface="M PLUS 1p"/>
                <a:sym typeface="M PLUS 1p"/>
              </a:rPr>
              <a:t>ボトルネックの特定と改善に繋げることを目的としています。</a:t>
            </a:r>
            <a:endParaRPr sz="2100">
              <a:solidFill>
                <a:srgbClr val="1F1F1F"/>
              </a:solidFill>
              <a:latin typeface="M PLUS 1p"/>
              <a:ea typeface="M PLUS 1p"/>
              <a:cs typeface="M PLUS 1p"/>
              <a:sym typeface="M PLUS 1p"/>
            </a:endParaRPr>
          </a:p>
        </p:txBody>
      </p:sp>
      <p:sp>
        <p:nvSpPr>
          <p:cNvPr id="77" name="Google Shape;77;p12"/>
          <p:cNvSpPr txBox="1"/>
          <p:nvPr/>
        </p:nvSpPr>
        <p:spPr>
          <a:xfrm>
            <a:off x="712300" y="294475"/>
            <a:ext cx="40776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2000">
              <a:solidFill>
                <a:srgbClr val="1F1F1F"/>
              </a:solidFill>
              <a:latin typeface="M PLUS 1p"/>
              <a:ea typeface="M PLUS 1p"/>
              <a:cs typeface="M PLUS 1p"/>
              <a:sym typeface="M PLUS 1p"/>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13"/>
          <p:cNvSpPr txBox="1"/>
          <p:nvPr/>
        </p:nvSpPr>
        <p:spPr>
          <a:xfrm>
            <a:off x="432350" y="784375"/>
            <a:ext cx="8313600" cy="985800"/>
          </a:xfrm>
          <a:prstGeom prst="rect">
            <a:avLst/>
          </a:prstGeom>
          <a:noFill/>
          <a:ln>
            <a:noFill/>
          </a:ln>
        </p:spPr>
        <p:txBody>
          <a:bodyPr anchorCtr="0" anchor="t" bIns="91425" lIns="91425" spcFirstLastPara="1" rIns="91425" wrap="square" tIns="91425">
            <a:noAutofit/>
          </a:bodyPr>
          <a:lstStyle/>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本資料は、FY25においてDAが取り組んでいた「AAあたり売上に関する横断分析」PJの一環としてのアウトプット</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横断分析の全体像や、類似の分析資料との関係性はこのようになっている</a:t>
            </a:r>
            <a:endParaRPr>
              <a:solidFill>
                <a:srgbClr val="1F1F1F"/>
              </a:solidFill>
              <a:latin typeface="M PLUS 1p"/>
              <a:ea typeface="M PLUS 1p"/>
              <a:cs typeface="M PLUS 1p"/>
              <a:sym typeface="M PLUS 1p"/>
            </a:endParaRPr>
          </a:p>
        </p:txBody>
      </p:sp>
      <p:sp>
        <p:nvSpPr>
          <p:cNvPr id="83" name="Google Shape;83;p13"/>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3"/>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85" name="Google Shape;85;p13"/>
          <p:cNvSpPr txBox="1"/>
          <p:nvPr/>
        </p:nvSpPr>
        <p:spPr>
          <a:xfrm>
            <a:off x="712300" y="294475"/>
            <a:ext cx="73254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DA横断分析の全体像</a:t>
            </a:r>
            <a:endParaRPr b="1" sz="2000">
              <a:solidFill>
                <a:srgbClr val="1F1F1F"/>
              </a:solidFill>
              <a:latin typeface="M PLUS 1p"/>
              <a:ea typeface="M PLUS 1p"/>
              <a:cs typeface="M PLUS 1p"/>
              <a:sym typeface="M PLUS 1p"/>
            </a:endParaRPr>
          </a:p>
        </p:txBody>
      </p:sp>
      <p:sp>
        <p:nvSpPr>
          <p:cNvPr id="86" name="Google Shape;86;p13"/>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8" name="Google Shape;88;p13"/>
          <p:cNvSpPr/>
          <p:nvPr/>
        </p:nvSpPr>
        <p:spPr>
          <a:xfrm>
            <a:off x="712300" y="2974350"/>
            <a:ext cx="1372800" cy="74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M PLUS 1p"/>
                <a:ea typeface="M PLUS 1p"/>
                <a:cs typeface="M PLUS 1p"/>
                <a:sym typeface="M PLUS 1p"/>
              </a:rPr>
              <a:t>利用開始</a:t>
            </a:r>
            <a:endParaRPr>
              <a:latin typeface="M PLUS 1p"/>
              <a:ea typeface="M PLUS 1p"/>
              <a:cs typeface="M PLUS 1p"/>
              <a:sym typeface="M PLUS 1p"/>
            </a:endParaRPr>
          </a:p>
        </p:txBody>
      </p:sp>
      <p:sp>
        <p:nvSpPr>
          <p:cNvPr id="89" name="Google Shape;89;p13"/>
          <p:cNvSpPr/>
          <p:nvPr/>
        </p:nvSpPr>
        <p:spPr>
          <a:xfrm>
            <a:off x="2876808" y="2974350"/>
            <a:ext cx="1372800" cy="74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M PLUS 1p"/>
                <a:ea typeface="M PLUS 1p"/>
                <a:cs typeface="M PLUS 1p"/>
                <a:sym typeface="M PLUS 1p"/>
              </a:rPr>
              <a:t>翌月継続</a:t>
            </a:r>
            <a:endParaRPr>
              <a:latin typeface="M PLUS 1p"/>
              <a:ea typeface="M PLUS 1p"/>
              <a:cs typeface="M PLUS 1p"/>
              <a:sym typeface="M PLUS 1p"/>
            </a:endParaRPr>
          </a:p>
        </p:txBody>
      </p:sp>
      <p:sp>
        <p:nvSpPr>
          <p:cNvPr id="90" name="Google Shape;90;p13"/>
          <p:cNvSpPr/>
          <p:nvPr/>
        </p:nvSpPr>
        <p:spPr>
          <a:xfrm>
            <a:off x="5041317" y="2974350"/>
            <a:ext cx="1372800" cy="74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M PLUS 1p"/>
                <a:ea typeface="M PLUS 1p"/>
                <a:cs typeface="M PLUS 1p"/>
                <a:sym typeface="M PLUS 1p"/>
              </a:rPr>
              <a:t>3ヶ月連続掲載</a:t>
            </a:r>
            <a:endParaRPr>
              <a:latin typeface="M PLUS 1p"/>
              <a:ea typeface="M PLUS 1p"/>
              <a:cs typeface="M PLUS 1p"/>
              <a:sym typeface="M PLUS 1p"/>
            </a:endParaRPr>
          </a:p>
        </p:txBody>
      </p:sp>
      <p:sp>
        <p:nvSpPr>
          <p:cNvPr id="91" name="Google Shape;91;p13"/>
          <p:cNvSpPr/>
          <p:nvPr/>
        </p:nvSpPr>
        <p:spPr>
          <a:xfrm>
            <a:off x="7205825" y="2974350"/>
            <a:ext cx="1372800" cy="74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M PLUS 1p"/>
                <a:ea typeface="M PLUS 1p"/>
                <a:cs typeface="M PLUS 1p"/>
                <a:sym typeface="M PLUS 1p"/>
              </a:rPr>
              <a:t>中長期の</a:t>
            </a:r>
            <a:endParaRPr>
              <a:latin typeface="M PLUS 1p"/>
              <a:ea typeface="M PLUS 1p"/>
              <a:cs typeface="M PLUS 1p"/>
              <a:sym typeface="M PLUS 1p"/>
            </a:endParaRPr>
          </a:p>
          <a:p>
            <a:pPr indent="0" lvl="0" marL="0" rtl="0" algn="ctr">
              <a:spcBef>
                <a:spcPts val="0"/>
              </a:spcBef>
              <a:spcAft>
                <a:spcPts val="0"/>
              </a:spcAft>
              <a:buNone/>
            </a:pPr>
            <a:r>
              <a:rPr lang="ja">
                <a:latin typeface="M PLUS 1p"/>
                <a:ea typeface="M PLUS 1p"/>
                <a:cs typeface="M PLUS 1p"/>
                <a:sym typeface="M PLUS 1p"/>
              </a:rPr>
              <a:t>継続/LTV向上</a:t>
            </a:r>
            <a:endParaRPr>
              <a:latin typeface="M PLUS 1p"/>
              <a:ea typeface="M PLUS 1p"/>
              <a:cs typeface="M PLUS 1p"/>
              <a:sym typeface="M PLUS 1p"/>
            </a:endParaRPr>
          </a:p>
        </p:txBody>
      </p:sp>
      <p:cxnSp>
        <p:nvCxnSpPr>
          <p:cNvPr id="92" name="Google Shape;92;p13"/>
          <p:cNvCxnSpPr>
            <a:stCxn id="88" idx="3"/>
            <a:endCxn id="89" idx="1"/>
          </p:cNvCxnSpPr>
          <p:nvPr/>
        </p:nvCxnSpPr>
        <p:spPr>
          <a:xfrm>
            <a:off x="2085100" y="3345450"/>
            <a:ext cx="791700" cy="0"/>
          </a:xfrm>
          <a:prstGeom prst="straightConnector1">
            <a:avLst/>
          </a:prstGeom>
          <a:noFill/>
          <a:ln cap="flat" cmpd="sng" w="9525">
            <a:solidFill>
              <a:schemeClr val="dk2"/>
            </a:solidFill>
            <a:prstDash val="solid"/>
            <a:round/>
            <a:headEnd len="med" w="med" type="none"/>
            <a:tailEnd len="med" w="med" type="triangle"/>
          </a:ln>
        </p:spPr>
      </p:cxnSp>
      <p:cxnSp>
        <p:nvCxnSpPr>
          <p:cNvPr id="93" name="Google Shape;93;p13"/>
          <p:cNvCxnSpPr>
            <a:stCxn id="89" idx="3"/>
            <a:endCxn id="90" idx="1"/>
          </p:cNvCxnSpPr>
          <p:nvPr/>
        </p:nvCxnSpPr>
        <p:spPr>
          <a:xfrm>
            <a:off x="4249608" y="3345450"/>
            <a:ext cx="791700" cy="0"/>
          </a:xfrm>
          <a:prstGeom prst="straightConnector1">
            <a:avLst/>
          </a:prstGeom>
          <a:noFill/>
          <a:ln cap="flat" cmpd="sng" w="9525">
            <a:solidFill>
              <a:schemeClr val="dk2"/>
            </a:solidFill>
            <a:prstDash val="solid"/>
            <a:round/>
            <a:headEnd len="med" w="med" type="none"/>
            <a:tailEnd len="med" w="med" type="triangle"/>
          </a:ln>
        </p:spPr>
      </p:cxnSp>
      <p:cxnSp>
        <p:nvCxnSpPr>
          <p:cNvPr id="94" name="Google Shape;94;p13"/>
          <p:cNvCxnSpPr>
            <a:stCxn id="90" idx="3"/>
            <a:endCxn id="91" idx="1"/>
          </p:cNvCxnSpPr>
          <p:nvPr/>
        </p:nvCxnSpPr>
        <p:spPr>
          <a:xfrm>
            <a:off x="6414117" y="3345450"/>
            <a:ext cx="791700" cy="0"/>
          </a:xfrm>
          <a:prstGeom prst="straightConnector1">
            <a:avLst/>
          </a:prstGeom>
          <a:noFill/>
          <a:ln cap="flat" cmpd="sng" w="9525">
            <a:solidFill>
              <a:schemeClr val="dk2"/>
            </a:solidFill>
            <a:prstDash val="solid"/>
            <a:round/>
            <a:headEnd len="med" w="med" type="none"/>
            <a:tailEnd len="med" w="med" type="triangle"/>
          </a:ln>
        </p:spPr>
      </p:cxnSp>
      <p:sp>
        <p:nvSpPr>
          <p:cNvPr id="95" name="Google Shape;95;p13"/>
          <p:cNvSpPr/>
          <p:nvPr/>
        </p:nvSpPr>
        <p:spPr>
          <a:xfrm>
            <a:off x="902375" y="4005125"/>
            <a:ext cx="2360100" cy="846900"/>
          </a:xfrm>
          <a:prstGeom prst="wedgeRoundRectCallout">
            <a:avLst>
              <a:gd fmla="val 15436" name="adj1"/>
              <a:gd fmla="val -70489"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r:id="rId3"/>
              </a:rPr>
              <a:t>翌月継続率の構造化分析①</a:t>
            </a:r>
            <a:endParaRPr sz="1200">
              <a:latin typeface="M PLUS 1p"/>
              <a:ea typeface="M PLUS 1p"/>
              <a:cs typeface="M PLUS 1p"/>
              <a:sym typeface="M PLUS 1p"/>
            </a:endParaRPr>
          </a:p>
          <a:p>
            <a:pPr indent="0" lvl="0" marL="0" rtl="0" algn="ctr">
              <a:spcBef>
                <a:spcPts val="0"/>
              </a:spcBef>
              <a:spcAft>
                <a:spcPts val="0"/>
              </a:spcAft>
              <a:buClr>
                <a:schemeClr val="dk1"/>
              </a:buClr>
              <a:buSzPts val="1100"/>
              <a:buFont typeface="Arial"/>
              <a:buNone/>
            </a:pPr>
            <a:r>
              <a:rPr lang="ja" sz="1200" u="sng">
                <a:solidFill>
                  <a:schemeClr val="hlink"/>
                </a:solidFill>
                <a:latin typeface="M PLUS 1p"/>
                <a:ea typeface="M PLUS 1p"/>
                <a:cs typeface="M PLUS 1p"/>
                <a:sym typeface="M PLUS 1p"/>
                <a:hlinkClick r:id="rId4"/>
              </a:rPr>
              <a:t>翌月継続率の構造化分析②</a:t>
            </a:r>
            <a:endParaRPr sz="1200">
              <a:latin typeface="M PLUS 1p"/>
              <a:ea typeface="M PLUS 1p"/>
              <a:cs typeface="M PLUS 1p"/>
              <a:sym typeface="M PLUS 1p"/>
            </a:endParaRPr>
          </a:p>
        </p:txBody>
      </p:sp>
      <p:sp>
        <p:nvSpPr>
          <p:cNvPr id="96" name="Google Shape;96;p13"/>
          <p:cNvSpPr/>
          <p:nvPr/>
        </p:nvSpPr>
        <p:spPr>
          <a:xfrm>
            <a:off x="4054025" y="1948813"/>
            <a:ext cx="2360100" cy="846900"/>
          </a:xfrm>
          <a:prstGeom prst="wedgeRoundRectCallout">
            <a:avLst>
              <a:gd fmla="val -26779" name="adj1"/>
              <a:gd fmla="val 72321"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action="ppaction://hlinksldjump" r:id="rId5"/>
              </a:rPr>
              <a:t>3ヶ月連続掲載と</a:t>
            </a:r>
            <a:endParaRPr sz="1200">
              <a:latin typeface="M PLUS 1p"/>
              <a:ea typeface="M PLUS 1p"/>
              <a:cs typeface="M PLUS 1p"/>
              <a:sym typeface="M PLUS 1p"/>
            </a:endParaRPr>
          </a:p>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r:id="rId6"/>
              </a:rPr>
              <a:t>中長期の継続に効くレバーの探索</a:t>
            </a:r>
            <a:endParaRPr sz="1200">
              <a:latin typeface="M PLUS 1p"/>
              <a:ea typeface="M PLUS 1p"/>
              <a:cs typeface="M PLUS 1p"/>
              <a:sym typeface="M PLUS 1p"/>
            </a:endParaRPr>
          </a:p>
        </p:txBody>
      </p:sp>
      <p:sp>
        <p:nvSpPr>
          <p:cNvPr id="97" name="Google Shape;97;p13"/>
          <p:cNvSpPr/>
          <p:nvPr/>
        </p:nvSpPr>
        <p:spPr>
          <a:xfrm>
            <a:off x="5178200" y="4005113"/>
            <a:ext cx="2360100" cy="846900"/>
          </a:xfrm>
          <a:prstGeom prst="wedgeRoundRectCallout">
            <a:avLst>
              <a:gd fmla="val 22645" name="adj1"/>
              <a:gd fmla="val -78686"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r:id="rId7"/>
              </a:rPr>
              <a:t>利用中期における</a:t>
            </a:r>
            <a:endParaRPr sz="1200">
              <a:latin typeface="M PLUS 1p"/>
              <a:ea typeface="M PLUS 1p"/>
              <a:cs typeface="M PLUS 1p"/>
              <a:sym typeface="M PLUS 1p"/>
            </a:endParaRPr>
          </a:p>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r:id="rId8"/>
              </a:rPr>
              <a:t>継続/利用拡大の分析</a:t>
            </a:r>
            <a:endParaRPr sz="1200">
              <a:latin typeface="M PLUS 1p"/>
              <a:ea typeface="M PLUS 1p"/>
              <a:cs typeface="M PLUS 1p"/>
              <a:sym typeface="M PLUS 1p"/>
            </a:endParaRPr>
          </a:p>
        </p:txBody>
      </p:sp>
      <p:sp>
        <p:nvSpPr>
          <p:cNvPr id="98" name="Google Shape;98;p13"/>
          <p:cNvSpPr/>
          <p:nvPr/>
        </p:nvSpPr>
        <p:spPr>
          <a:xfrm>
            <a:off x="1066225" y="4422825"/>
            <a:ext cx="2053500" cy="240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3"/>
          <p:cNvSpPr/>
          <p:nvPr/>
        </p:nvSpPr>
        <p:spPr>
          <a:xfrm>
            <a:off x="97950" y="4346163"/>
            <a:ext cx="832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200">
                <a:solidFill>
                  <a:srgbClr val="FF0000"/>
                </a:solidFill>
                <a:latin typeface="M PLUS 1p"/>
                <a:ea typeface="M PLUS 1p"/>
                <a:cs typeface="M PLUS 1p"/>
                <a:sym typeface="M PLUS 1p"/>
              </a:rPr>
              <a:t>本資料→</a:t>
            </a:r>
            <a:endParaRPr sz="1200">
              <a:solidFill>
                <a:srgbClr val="FF0000"/>
              </a:solidFill>
              <a:latin typeface="M PLUS 1p"/>
              <a:ea typeface="M PLUS 1p"/>
              <a:cs typeface="M PLUS 1p"/>
              <a:sym typeface="M PLUS 1p"/>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14"/>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106" name="Google Shape;106;p14"/>
          <p:cNvSpPr txBox="1"/>
          <p:nvPr/>
        </p:nvSpPr>
        <p:spPr>
          <a:xfrm>
            <a:off x="712300" y="294475"/>
            <a:ext cx="73254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Executive Summary</a:t>
            </a:r>
            <a:endParaRPr b="1" sz="2000">
              <a:solidFill>
                <a:srgbClr val="1F1F1F"/>
              </a:solidFill>
              <a:latin typeface="M PLUS 1p"/>
              <a:ea typeface="M PLUS 1p"/>
              <a:cs typeface="M PLUS 1p"/>
              <a:sym typeface="M PLUS 1p"/>
            </a:endParaRPr>
          </a:p>
        </p:txBody>
      </p:sp>
      <p:sp>
        <p:nvSpPr>
          <p:cNvPr id="107" name="Google Shape;107;p14"/>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108" name="Google Shape;10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graphicFrame>
        <p:nvGraphicFramePr>
          <p:cNvPr id="109" name="Google Shape;109;p14"/>
          <p:cNvGraphicFramePr/>
          <p:nvPr/>
        </p:nvGraphicFramePr>
        <p:xfrm>
          <a:off x="685788" y="1241425"/>
          <a:ext cx="3000000" cy="3000000"/>
        </p:xfrm>
        <a:graphic>
          <a:graphicData uri="http://schemas.openxmlformats.org/drawingml/2006/table">
            <a:tbl>
              <a:tblPr>
                <a:noFill/>
                <a:tableStyleId>{CAC97641-BD0D-4239-80C1-88AB4E65D543}</a:tableStyleId>
              </a:tblPr>
              <a:tblGrid>
                <a:gridCol w="4106650"/>
                <a:gridCol w="4106650"/>
              </a:tblGrid>
              <a:tr h="249600">
                <a:tc>
                  <a:txBody>
                    <a:bodyPr/>
                    <a:lstStyle/>
                    <a:p>
                      <a:pPr indent="0" lvl="0" marL="0" rtl="0" algn="ctr">
                        <a:spcBef>
                          <a:spcPts val="0"/>
                        </a:spcBef>
                        <a:spcAft>
                          <a:spcPts val="0"/>
                        </a:spcAft>
                        <a:buNone/>
                      </a:pPr>
                      <a:r>
                        <a:rPr lang="ja">
                          <a:latin typeface="M PLUS 1p"/>
                          <a:ea typeface="M PLUS 1p"/>
                          <a:cs typeface="M PLUS 1p"/>
                          <a:sym typeface="M PLUS 1p"/>
                        </a:rPr>
                        <a:t>ファクト</a:t>
                      </a:r>
                      <a:endParaRPr>
                        <a:latin typeface="M PLUS 1p"/>
                        <a:ea typeface="M PLUS 1p"/>
                        <a:cs typeface="M PLUS 1p"/>
                        <a:sym typeface="M PLUS 1p"/>
                      </a:endParaRPr>
                    </a:p>
                  </a:txBody>
                  <a:tcPr marT="91425" marB="91425" marR="91425" marL="91425">
                    <a:lnL cap="flat" cmpd="sng" w="9525">
                      <a:solidFill>
                        <a:srgbClr val="666666"/>
                      </a:solidFill>
                      <a:prstDash val="dot"/>
                      <a:round/>
                      <a:headEnd len="sm" w="sm" type="none"/>
                      <a:tailEnd len="sm" w="sm" type="none"/>
                    </a:lnL>
                    <a:lnR cap="flat" cmpd="sng" w="9525">
                      <a:solidFill>
                        <a:srgbClr val="666666"/>
                      </a:solidFill>
                      <a:prstDash val="dot"/>
                      <a:round/>
                      <a:headEnd len="sm" w="sm" type="none"/>
                      <a:tailEnd len="sm" w="sm" type="none"/>
                    </a:lnR>
                    <a:lnT cap="flat" cmpd="sng" w="9525">
                      <a:solidFill>
                        <a:srgbClr val="666666"/>
                      </a:solidFill>
                      <a:prstDash val="dot"/>
                      <a:round/>
                      <a:headEnd len="sm" w="sm" type="none"/>
                      <a:tailEnd len="sm" w="sm" type="none"/>
                    </a:lnT>
                    <a:lnB cap="flat" cmpd="sng" w="9525">
                      <a:solidFill>
                        <a:srgbClr val="666666"/>
                      </a:solidFill>
                      <a:prstDash val="dot"/>
                      <a:round/>
                      <a:headEnd len="sm" w="sm" type="none"/>
                      <a:tailEnd len="sm" w="sm" type="none"/>
                    </a:lnB>
                    <a:solidFill>
                      <a:srgbClr val="EFEFEF"/>
                    </a:solidFill>
                  </a:tcPr>
                </a:tc>
                <a:tc>
                  <a:txBody>
                    <a:bodyPr/>
                    <a:lstStyle/>
                    <a:p>
                      <a:pPr indent="0" lvl="0" marL="0" rtl="0" algn="ctr">
                        <a:spcBef>
                          <a:spcPts val="0"/>
                        </a:spcBef>
                        <a:spcAft>
                          <a:spcPts val="0"/>
                        </a:spcAft>
                        <a:buNone/>
                      </a:pPr>
                      <a:r>
                        <a:rPr lang="ja">
                          <a:latin typeface="M PLUS 1p"/>
                          <a:ea typeface="M PLUS 1p"/>
                          <a:cs typeface="M PLUS 1p"/>
                          <a:sym typeface="M PLUS 1p"/>
                        </a:rPr>
                        <a:t>示唆・</a:t>
                      </a:r>
                      <a:r>
                        <a:rPr lang="ja">
                          <a:latin typeface="M PLUS 1p"/>
                          <a:ea typeface="M PLUS 1p"/>
                          <a:cs typeface="M PLUS 1p"/>
                          <a:sym typeface="M PLUS 1p"/>
                        </a:rPr>
                        <a:t>提案</a:t>
                      </a:r>
                      <a:endParaRPr>
                        <a:latin typeface="M PLUS 1p"/>
                        <a:ea typeface="M PLUS 1p"/>
                        <a:cs typeface="M PLUS 1p"/>
                        <a:sym typeface="M PLUS 1p"/>
                      </a:endParaRPr>
                    </a:p>
                  </a:txBody>
                  <a:tcPr marT="91425" marB="91425" marR="91425" marL="91425">
                    <a:lnL cap="flat" cmpd="sng" w="9525">
                      <a:solidFill>
                        <a:srgbClr val="666666"/>
                      </a:solidFill>
                      <a:prstDash val="dot"/>
                      <a:round/>
                      <a:headEnd len="sm" w="sm" type="none"/>
                      <a:tailEnd len="sm" w="sm" type="none"/>
                    </a:lnL>
                    <a:lnR cap="flat" cmpd="sng" w="9525">
                      <a:solidFill>
                        <a:srgbClr val="666666"/>
                      </a:solidFill>
                      <a:prstDash val="dot"/>
                      <a:round/>
                      <a:headEnd len="sm" w="sm" type="none"/>
                      <a:tailEnd len="sm" w="sm" type="none"/>
                    </a:lnR>
                    <a:lnT cap="flat" cmpd="sng" w="9525">
                      <a:solidFill>
                        <a:srgbClr val="666666"/>
                      </a:solidFill>
                      <a:prstDash val="dot"/>
                      <a:round/>
                      <a:headEnd len="sm" w="sm" type="none"/>
                      <a:tailEnd len="sm" w="sm" type="none"/>
                    </a:lnT>
                    <a:lnB cap="flat" cmpd="sng" w="9525">
                      <a:solidFill>
                        <a:srgbClr val="666666"/>
                      </a:solidFill>
                      <a:prstDash val="dot"/>
                      <a:round/>
                      <a:headEnd len="sm" w="sm" type="none"/>
                      <a:tailEnd len="sm" w="sm" type="none"/>
                    </a:lnB>
                    <a:solidFill>
                      <a:srgbClr val="EFEFEF"/>
                    </a:solidFill>
                  </a:tcPr>
                </a:tc>
              </a:tr>
              <a:tr h="485000">
                <a:tc>
                  <a:txBody>
                    <a:bodyPr/>
                    <a:lstStyle/>
                    <a:p>
                      <a:pPr indent="0" lvl="0" marL="0" rtl="0" algn="l">
                        <a:spcBef>
                          <a:spcPts val="0"/>
                        </a:spcBef>
                        <a:spcAft>
                          <a:spcPts val="0"/>
                        </a:spcAft>
                        <a:buNone/>
                      </a:pPr>
                      <a:r>
                        <a:rPr lang="ja" sz="1300">
                          <a:latin typeface="M PLUS 1p"/>
                          <a:ea typeface="M PLUS 1p"/>
                          <a:cs typeface="M PLUS 1p"/>
                          <a:sym typeface="M PLUS 1p"/>
                        </a:rPr>
                        <a:t>・掲載初週に初週だけの掲載ではなく、翌週分以降の募集を出したほうが翌週・翌月継続率が高い[</a:t>
                      </a:r>
                      <a:r>
                        <a:rPr lang="ja" sz="1300" u="sng">
                          <a:solidFill>
                            <a:schemeClr val="accent5"/>
                          </a:solidFill>
                          <a:latin typeface="M PLUS 1p"/>
                          <a:ea typeface="M PLUS 1p"/>
                          <a:cs typeface="M PLUS 1p"/>
                          <a:sym typeface="M PLUS 1p"/>
                          <a:hlinkClick action="ppaction://hlinksldjump" r:id="rId3">
                            <a:extLst>
                              <a:ext uri="{A12FA001-AC4F-418D-AE19-62706E023703}">
                                <ahyp:hlinkClr val="tx"/>
                              </a:ext>
                            </a:extLst>
                          </a:hlinkClick>
                        </a:rPr>
                        <a:t>調査結果1</a:t>
                      </a:r>
                      <a:r>
                        <a:rPr lang="ja" sz="1300">
                          <a:latin typeface="M PLUS 1p"/>
                          <a:ea typeface="M PLUS 1p"/>
                          <a:cs typeface="M PLUS 1p"/>
                          <a:sym typeface="M PLUS 1p"/>
                        </a:rPr>
                        <a:t>]</a:t>
                      </a:r>
                      <a:endParaRPr sz="1300">
                        <a:latin typeface="M PLUS 1p"/>
                        <a:ea typeface="M PLUS 1p"/>
                        <a:cs typeface="M PLUS 1p"/>
                        <a:sym typeface="M PLUS 1p"/>
                      </a:endParaRPr>
                    </a:p>
                  </a:txBody>
                  <a:tcPr marT="91425" marB="91425" marR="91425" marL="91425">
                    <a:lnL cap="flat" cmpd="sng" w="9525">
                      <a:solidFill>
                        <a:srgbClr val="666666"/>
                      </a:solidFill>
                      <a:prstDash val="dot"/>
                      <a:round/>
                      <a:headEnd len="sm" w="sm" type="none"/>
                      <a:tailEnd len="sm" w="sm" type="none"/>
                    </a:lnL>
                    <a:lnR cap="flat" cmpd="sng" w="9525">
                      <a:solidFill>
                        <a:srgbClr val="666666"/>
                      </a:solidFill>
                      <a:prstDash val="dot"/>
                      <a:round/>
                      <a:headEnd len="sm" w="sm" type="none"/>
                      <a:tailEnd len="sm" w="sm" type="none"/>
                    </a:lnR>
                    <a:lnT cap="flat" cmpd="sng" w="9525">
                      <a:solidFill>
                        <a:srgbClr val="666666"/>
                      </a:solidFill>
                      <a:prstDash val="dot"/>
                      <a:round/>
                      <a:headEnd len="sm" w="sm" type="none"/>
                      <a:tailEnd len="sm" w="sm" type="none"/>
                    </a:lnT>
                    <a:lnB cap="flat" cmpd="sng" w="9525">
                      <a:solidFill>
                        <a:srgbClr val="666666"/>
                      </a:solidFill>
                      <a:prstDash val="dot"/>
                      <a:round/>
                      <a:headEnd len="sm" w="sm" type="none"/>
                      <a:tailEnd len="sm" w="sm" type="none"/>
                    </a:lnB>
                  </a:tcPr>
                </a:tc>
                <a:tc>
                  <a:txBody>
                    <a:bodyPr/>
                    <a:lstStyle/>
                    <a:p>
                      <a:pPr indent="0" lvl="0" marL="0" rtl="0" algn="l">
                        <a:spcBef>
                          <a:spcPts val="0"/>
                        </a:spcBef>
                        <a:spcAft>
                          <a:spcPts val="0"/>
                        </a:spcAft>
                        <a:buNone/>
                      </a:pPr>
                      <a:r>
                        <a:rPr lang="ja" sz="1300">
                          <a:latin typeface="M PLUS 1p"/>
                          <a:ea typeface="M PLUS 1p"/>
                          <a:cs typeface="M PLUS 1p"/>
                          <a:sym typeface="M PLUS 1p"/>
                        </a:rPr>
                        <a:t>・初週分のみの募集だと、募集期間も短く体験を損なう可能性が大きいため、翌週分も一緒に掲載してもらい、2週の経験をしてもらうことが良さそう</a:t>
                      </a:r>
                      <a:endParaRPr sz="1300">
                        <a:latin typeface="M PLUS 1p"/>
                        <a:ea typeface="M PLUS 1p"/>
                        <a:cs typeface="M PLUS 1p"/>
                        <a:sym typeface="M PLUS 1p"/>
                      </a:endParaRPr>
                    </a:p>
                  </a:txBody>
                  <a:tcPr marT="91425" marB="91425" marR="91425" marL="91425">
                    <a:lnL cap="flat" cmpd="sng" w="9525">
                      <a:solidFill>
                        <a:srgbClr val="666666"/>
                      </a:solidFill>
                      <a:prstDash val="dot"/>
                      <a:round/>
                      <a:headEnd len="sm" w="sm" type="none"/>
                      <a:tailEnd len="sm" w="sm" type="none"/>
                    </a:lnL>
                    <a:lnR cap="flat" cmpd="sng" w="9525">
                      <a:solidFill>
                        <a:srgbClr val="666666"/>
                      </a:solidFill>
                      <a:prstDash val="dot"/>
                      <a:round/>
                      <a:headEnd len="sm" w="sm" type="none"/>
                      <a:tailEnd len="sm" w="sm" type="none"/>
                    </a:lnR>
                    <a:lnT cap="flat" cmpd="sng" w="9525">
                      <a:solidFill>
                        <a:srgbClr val="666666"/>
                      </a:solidFill>
                      <a:prstDash val="dot"/>
                      <a:round/>
                      <a:headEnd len="sm" w="sm" type="none"/>
                      <a:tailEnd len="sm" w="sm" type="none"/>
                    </a:lnT>
                    <a:lnB cap="flat" cmpd="sng" w="9525">
                      <a:solidFill>
                        <a:srgbClr val="666666"/>
                      </a:solidFill>
                      <a:prstDash val="dot"/>
                      <a:round/>
                      <a:headEnd len="sm" w="sm" type="none"/>
                      <a:tailEnd len="sm" w="sm" type="none"/>
                    </a:lnB>
                  </a:tcPr>
                </a:tc>
              </a:tr>
              <a:tr h="974725">
                <a:tc>
                  <a:txBody>
                    <a:bodyPr/>
                    <a:lstStyle/>
                    <a:p>
                      <a:pPr indent="0" lvl="0" marL="0" rtl="0" algn="l">
                        <a:spcBef>
                          <a:spcPts val="0"/>
                        </a:spcBef>
                        <a:spcAft>
                          <a:spcPts val="0"/>
                        </a:spcAft>
                        <a:buNone/>
                      </a:pPr>
                      <a:r>
                        <a:rPr lang="ja" sz="1300">
                          <a:solidFill>
                            <a:srgbClr val="000000"/>
                          </a:solidFill>
                          <a:latin typeface="M PLUS 1p"/>
                          <a:ea typeface="M PLUS 1p"/>
                          <a:cs typeface="M PLUS 1p"/>
                          <a:sym typeface="M PLUS 1p"/>
                        </a:rPr>
                        <a:t>・</a:t>
                      </a:r>
                      <a:r>
                        <a:rPr lang="ja" sz="1300">
                          <a:latin typeface="M PLUS 1p"/>
                          <a:ea typeface="M PLUS 1p"/>
                          <a:cs typeface="M PLUS 1p"/>
                          <a:sym typeface="M PLUS 1p"/>
                        </a:rPr>
                        <a:t>利用初月に毎週掲載している店舗が最も継続率が高い</a:t>
                      </a:r>
                      <a:r>
                        <a:rPr lang="ja" sz="1300">
                          <a:latin typeface="M PLUS 1p"/>
                          <a:ea typeface="M PLUS 1p"/>
                          <a:cs typeface="M PLUS 1p"/>
                          <a:sym typeface="M PLUS 1p"/>
                        </a:rPr>
                        <a:t>[</a:t>
                      </a:r>
                      <a:r>
                        <a:rPr lang="ja" sz="1300" u="sng">
                          <a:solidFill>
                            <a:schemeClr val="hlink"/>
                          </a:solidFill>
                          <a:latin typeface="M PLUS 1p"/>
                          <a:ea typeface="M PLUS 1p"/>
                          <a:cs typeface="M PLUS 1p"/>
                          <a:sym typeface="M PLUS 1p"/>
                          <a:hlinkClick action="ppaction://hlinksldjump" r:id="rId4"/>
                        </a:rPr>
                        <a:t>調査結果2-1</a:t>
                      </a:r>
                      <a:r>
                        <a:rPr lang="ja" sz="1300">
                          <a:latin typeface="M PLUS 1p"/>
                          <a:ea typeface="M PLUS 1p"/>
                          <a:cs typeface="M PLUS 1p"/>
                          <a:sym typeface="M PLUS 1p"/>
                        </a:rPr>
                        <a:t>]</a:t>
                      </a:r>
                      <a:endParaRPr sz="1300">
                        <a:latin typeface="M PLUS 1p"/>
                        <a:ea typeface="M PLUS 1p"/>
                        <a:cs typeface="M PLUS 1p"/>
                        <a:sym typeface="M PLUS 1p"/>
                      </a:endParaRPr>
                    </a:p>
                    <a:p>
                      <a:pPr indent="0" lvl="0" marL="0" rtl="0" algn="l">
                        <a:spcBef>
                          <a:spcPts val="0"/>
                        </a:spcBef>
                        <a:spcAft>
                          <a:spcPts val="0"/>
                        </a:spcAft>
                        <a:buNone/>
                      </a:pPr>
                      <a:r>
                        <a:t/>
                      </a:r>
                      <a:endParaRPr sz="1300">
                        <a:latin typeface="M PLUS 1p"/>
                        <a:ea typeface="M PLUS 1p"/>
                        <a:cs typeface="M PLUS 1p"/>
                        <a:sym typeface="M PLUS 1p"/>
                      </a:endParaRPr>
                    </a:p>
                    <a:p>
                      <a:pPr indent="0" lvl="0" marL="0" rtl="0" algn="l">
                        <a:spcBef>
                          <a:spcPts val="0"/>
                        </a:spcBef>
                        <a:spcAft>
                          <a:spcPts val="0"/>
                        </a:spcAft>
                        <a:buNone/>
                      </a:pPr>
                      <a:r>
                        <a:rPr lang="ja" sz="1300">
                          <a:solidFill>
                            <a:srgbClr val="000000"/>
                          </a:solidFill>
                          <a:latin typeface="M PLUS 1p"/>
                          <a:ea typeface="M PLUS 1p"/>
                          <a:cs typeface="M PLUS 1p"/>
                          <a:sym typeface="M PLUS 1p"/>
                        </a:rPr>
                        <a:t>・毎週掲載の場合は、1週目の掲載で1週目、2週目に稼働して、2週目の掲載で2週目,3週目に稼働をするというような一定のパターンがある[</a:t>
                      </a:r>
                      <a:r>
                        <a:rPr lang="ja" sz="1300" u="sng">
                          <a:solidFill>
                            <a:schemeClr val="hlink"/>
                          </a:solidFill>
                          <a:latin typeface="M PLUS 1p"/>
                          <a:ea typeface="M PLUS 1p"/>
                          <a:cs typeface="M PLUS 1p"/>
                          <a:sym typeface="M PLUS 1p"/>
                          <a:hlinkClick action="ppaction://hlinksldjump" r:id="rId5"/>
                        </a:rPr>
                        <a:t>調査結果2-2</a:t>
                      </a:r>
                      <a:r>
                        <a:rPr lang="ja" sz="1300">
                          <a:solidFill>
                            <a:srgbClr val="000000"/>
                          </a:solidFill>
                          <a:latin typeface="M PLUS 1p"/>
                          <a:ea typeface="M PLUS 1p"/>
                          <a:cs typeface="M PLUS 1p"/>
                          <a:sym typeface="M PLUS 1p"/>
                        </a:rPr>
                        <a:t>]</a:t>
                      </a:r>
                      <a:endParaRPr sz="1300">
                        <a:latin typeface="M PLUS 1p"/>
                        <a:ea typeface="M PLUS 1p"/>
                        <a:cs typeface="M PLUS 1p"/>
                        <a:sym typeface="M PLUS 1p"/>
                      </a:endParaRPr>
                    </a:p>
                  </a:txBody>
                  <a:tcPr marT="91425" marB="91425" marR="91425" marL="91425">
                    <a:lnL cap="flat" cmpd="sng" w="9525">
                      <a:solidFill>
                        <a:srgbClr val="666666"/>
                      </a:solidFill>
                      <a:prstDash val="dot"/>
                      <a:round/>
                      <a:headEnd len="sm" w="sm" type="none"/>
                      <a:tailEnd len="sm" w="sm" type="none"/>
                    </a:lnL>
                    <a:lnR cap="flat" cmpd="sng" w="9525">
                      <a:solidFill>
                        <a:srgbClr val="666666"/>
                      </a:solidFill>
                      <a:prstDash val="dot"/>
                      <a:round/>
                      <a:headEnd len="sm" w="sm" type="none"/>
                      <a:tailEnd len="sm" w="sm" type="none"/>
                    </a:lnR>
                    <a:lnT cap="flat" cmpd="sng" w="9525">
                      <a:solidFill>
                        <a:srgbClr val="666666"/>
                      </a:solidFill>
                      <a:prstDash val="dot"/>
                      <a:round/>
                      <a:headEnd len="sm" w="sm" type="none"/>
                      <a:tailEnd len="sm" w="sm" type="none"/>
                    </a:lnT>
                    <a:lnB cap="flat" cmpd="sng" w="9525">
                      <a:solidFill>
                        <a:srgbClr val="666666"/>
                      </a:solidFill>
                      <a:prstDash val="dot"/>
                      <a:round/>
                      <a:headEnd len="sm" w="sm" type="none"/>
                      <a:tailEnd len="sm" w="sm" type="none"/>
                    </a:lnB>
                  </a:tcPr>
                </a:tc>
                <a:tc>
                  <a:txBody>
                    <a:bodyPr/>
                    <a:lstStyle/>
                    <a:p>
                      <a:pPr indent="0" lvl="0" marL="0" rtl="0" algn="l">
                        <a:spcBef>
                          <a:spcPts val="0"/>
                        </a:spcBef>
                        <a:spcAft>
                          <a:spcPts val="0"/>
                        </a:spcAft>
                        <a:buNone/>
                      </a:pPr>
                      <a:r>
                        <a:rPr lang="ja" sz="1300">
                          <a:latin typeface="M PLUS 1p"/>
                          <a:ea typeface="M PLUS 1p"/>
                          <a:cs typeface="M PLUS 1p"/>
                          <a:sym typeface="M PLUS 1p"/>
                        </a:rPr>
                        <a:t>・常に当該週 ~ 翌週の募集の掲載を促し、毎週継続的に掲載してもらうような施策が有効かもしれない</a:t>
                      </a:r>
                      <a:endParaRPr sz="1300" u="sng">
                        <a:latin typeface="M PLUS 1p"/>
                        <a:ea typeface="M PLUS 1p"/>
                        <a:cs typeface="M PLUS 1p"/>
                        <a:sym typeface="M PLUS 1p"/>
                      </a:endParaRPr>
                    </a:p>
                    <a:p>
                      <a:pPr indent="0" lvl="0" marL="0" rtl="0" algn="l">
                        <a:spcBef>
                          <a:spcPts val="0"/>
                        </a:spcBef>
                        <a:spcAft>
                          <a:spcPts val="0"/>
                        </a:spcAft>
                        <a:buNone/>
                      </a:pPr>
                      <a:r>
                        <a:t/>
                      </a:r>
                      <a:endParaRPr sz="1300" u="sng">
                        <a:latin typeface="M PLUS 1p"/>
                        <a:ea typeface="M PLUS 1p"/>
                        <a:cs typeface="M PLUS 1p"/>
                        <a:sym typeface="M PLUS 1p"/>
                      </a:endParaRPr>
                    </a:p>
                  </a:txBody>
                  <a:tcPr marT="91425" marB="91425" marR="91425" marL="91425">
                    <a:lnL cap="flat" cmpd="sng" w="9525">
                      <a:solidFill>
                        <a:srgbClr val="666666"/>
                      </a:solidFill>
                      <a:prstDash val="dot"/>
                      <a:round/>
                      <a:headEnd len="sm" w="sm" type="none"/>
                      <a:tailEnd len="sm" w="sm" type="none"/>
                    </a:lnL>
                    <a:lnR cap="flat" cmpd="sng" w="9525">
                      <a:solidFill>
                        <a:srgbClr val="666666"/>
                      </a:solidFill>
                      <a:prstDash val="dot"/>
                      <a:round/>
                      <a:headEnd len="sm" w="sm" type="none"/>
                      <a:tailEnd len="sm" w="sm" type="none"/>
                    </a:lnR>
                    <a:lnT cap="flat" cmpd="sng" w="9525">
                      <a:solidFill>
                        <a:srgbClr val="666666"/>
                      </a:solidFill>
                      <a:prstDash val="dot"/>
                      <a:round/>
                      <a:headEnd len="sm" w="sm" type="none"/>
                      <a:tailEnd len="sm" w="sm" type="none"/>
                    </a:lnT>
                    <a:lnB cap="flat" cmpd="sng" w="9525">
                      <a:solidFill>
                        <a:srgbClr val="666666"/>
                      </a:solidFill>
                      <a:prstDash val="dot"/>
                      <a:round/>
                      <a:headEnd len="sm" w="sm" type="none"/>
                      <a:tailEnd len="sm" w="sm" type="none"/>
                    </a:lnB>
                  </a:tcPr>
                </a:tc>
              </a:tr>
              <a:tr h="472425">
                <a:tc>
                  <a:txBody>
                    <a:bodyPr/>
                    <a:lstStyle/>
                    <a:p>
                      <a:pPr indent="0" lvl="0" marL="0" rtl="0" algn="l">
                        <a:spcBef>
                          <a:spcPts val="0"/>
                        </a:spcBef>
                        <a:spcAft>
                          <a:spcPts val="0"/>
                        </a:spcAft>
                        <a:buNone/>
                      </a:pPr>
                      <a:r>
                        <a:rPr lang="ja" sz="1300">
                          <a:latin typeface="M PLUS 1p"/>
                          <a:ea typeface="M PLUS 1p"/>
                          <a:cs typeface="M PLUS 1p"/>
                          <a:sym typeface="M PLUS 1p"/>
                        </a:rPr>
                        <a:t>・</a:t>
                      </a:r>
                      <a:r>
                        <a:rPr lang="ja" sz="1300">
                          <a:latin typeface="M PLUS 1p"/>
                          <a:ea typeface="M PLUS 1p"/>
                          <a:cs typeface="M PLUS 1p"/>
                          <a:sym typeface="M PLUS 1p"/>
                        </a:rPr>
                        <a:t>レビューをしている店舗は、翌月継続率が大幅に向上する</a:t>
                      </a:r>
                      <a:r>
                        <a:rPr lang="ja" sz="1300">
                          <a:solidFill>
                            <a:srgbClr val="000000"/>
                          </a:solidFill>
                          <a:latin typeface="M PLUS 1p"/>
                          <a:ea typeface="M PLUS 1p"/>
                          <a:cs typeface="M PLUS 1p"/>
                          <a:sym typeface="M PLUS 1p"/>
                        </a:rPr>
                        <a:t>[</a:t>
                      </a:r>
                      <a:r>
                        <a:rPr lang="ja" sz="1300" u="sng">
                          <a:solidFill>
                            <a:schemeClr val="hlink"/>
                          </a:solidFill>
                          <a:latin typeface="M PLUS 1p"/>
                          <a:ea typeface="M PLUS 1p"/>
                          <a:cs typeface="M PLUS 1p"/>
                          <a:sym typeface="M PLUS 1p"/>
                          <a:hlinkClick action="ppaction://hlinksldjump" r:id="rId6"/>
                        </a:rPr>
                        <a:t>調査結果4</a:t>
                      </a:r>
                      <a:r>
                        <a:rPr lang="ja" sz="1300">
                          <a:solidFill>
                            <a:srgbClr val="000000"/>
                          </a:solidFill>
                          <a:latin typeface="M PLUS 1p"/>
                          <a:ea typeface="M PLUS 1p"/>
                          <a:cs typeface="M PLUS 1p"/>
                          <a:sym typeface="M PLUS 1p"/>
                        </a:rPr>
                        <a:t>]</a:t>
                      </a:r>
                      <a:endParaRPr sz="1300">
                        <a:latin typeface="M PLUS 1p"/>
                        <a:ea typeface="M PLUS 1p"/>
                        <a:cs typeface="M PLUS 1p"/>
                        <a:sym typeface="M PLUS 1p"/>
                      </a:endParaRPr>
                    </a:p>
                  </a:txBody>
                  <a:tcPr marT="91425" marB="91425" marR="91425" marL="91425">
                    <a:lnL cap="flat" cmpd="sng" w="9525">
                      <a:solidFill>
                        <a:srgbClr val="666666"/>
                      </a:solidFill>
                      <a:prstDash val="dot"/>
                      <a:round/>
                      <a:headEnd len="sm" w="sm" type="none"/>
                      <a:tailEnd len="sm" w="sm" type="none"/>
                    </a:lnL>
                    <a:lnR cap="flat" cmpd="sng" w="9525">
                      <a:solidFill>
                        <a:srgbClr val="666666"/>
                      </a:solidFill>
                      <a:prstDash val="dot"/>
                      <a:round/>
                      <a:headEnd len="sm" w="sm" type="none"/>
                      <a:tailEnd len="sm" w="sm" type="none"/>
                    </a:lnR>
                    <a:lnT cap="flat" cmpd="sng" w="9525">
                      <a:solidFill>
                        <a:srgbClr val="666666"/>
                      </a:solidFill>
                      <a:prstDash val="dot"/>
                      <a:round/>
                      <a:headEnd len="sm" w="sm" type="none"/>
                      <a:tailEnd len="sm" w="sm" type="none"/>
                    </a:lnT>
                    <a:lnB cap="flat" cmpd="sng" w="9525">
                      <a:solidFill>
                        <a:srgbClr val="666666"/>
                      </a:solidFill>
                      <a:prstDash val="dot"/>
                      <a:round/>
                      <a:headEnd len="sm" w="sm" type="none"/>
                      <a:tailEnd len="sm" w="sm" type="none"/>
                    </a:lnB>
                  </a:tcPr>
                </a:tc>
                <a:tc>
                  <a:txBody>
                    <a:bodyPr/>
                    <a:lstStyle/>
                    <a:p>
                      <a:pPr indent="0" lvl="0" marL="0" rtl="0" algn="l">
                        <a:spcBef>
                          <a:spcPts val="0"/>
                        </a:spcBef>
                        <a:spcAft>
                          <a:spcPts val="0"/>
                        </a:spcAft>
                        <a:buNone/>
                      </a:pPr>
                      <a:r>
                        <a:rPr lang="ja" sz="1300">
                          <a:latin typeface="M PLUS 1p"/>
                          <a:ea typeface="M PLUS 1p"/>
                          <a:cs typeface="M PLUS 1p"/>
                          <a:sym typeface="M PLUS 1p"/>
                        </a:rPr>
                        <a:t>・</a:t>
                      </a:r>
                      <a:r>
                        <a:rPr lang="ja" sz="1300">
                          <a:latin typeface="M PLUS 1p"/>
                          <a:ea typeface="M PLUS 1p"/>
                          <a:cs typeface="M PLUS 1p"/>
                          <a:sym typeface="M PLUS 1p"/>
                        </a:rPr>
                        <a:t>（</a:t>
                      </a:r>
                      <a:r>
                        <a:rPr lang="ja" sz="1300">
                          <a:latin typeface="M PLUS 1p"/>
                          <a:ea typeface="M PLUS 1p"/>
                          <a:cs typeface="M PLUS 1p"/>
                          <a:sym typeface="M PLUS 1p"/>
                        </a:rPr>
                        <a:t>レビューと翌月継続の直接的な因果関係はつかめていないが</a:t>
                      </a:r>
                      <a:r>
                        <a:rPr lang="ja" sz="1300">
                          <a:latin typeface="M PLUS 1p"/>
                          <a:ea typeface="M PLUS 1p"/>
                          <a:cs typeface="M PLUS 1p"/>
                          <a:sym typeface="M PLUS 1p"/>
                        </a:rPr>
                        <a:t>）</a:t>
                      </a:r>
                      <a:r>
                        <a:rPr lang="ja" sz="1300">
                          <a:latin typeface="M PLUS 1p"/>
                          <a:ea typeface="M PLUS 1p"/>
                          <a:cs typeface="M PLUS 1p"/>
                          <a:sym typeface="M PLUS 1p"/>
                        </a:rPr>
                        <a:t>レビューを促す施策を実施し、顧客の動きを観察する打ち手が有効かもしれない</a:t>
                      </a:r>
                      <a:endParaRPr sz="1300">
                        <a:latin typeface="M PLUS 1p"/>
                        <a:ea typeface="M PLUS 1p"/>
                        <a:cs typeface="M PLUS 1p"/>
                        <a:sym typeface="M PLUS 1p"/>
                      </a:endParaRPr>
                    </a:p>
                  </a:txBody>
                  <a:tcPr marT="91425" marB="91425" marR="91425" marL="91425">
                    <a:lnL cap="flat" cmpd="sng" w="9525">
                      <a:solidFill>
                        <a:srgbClr val="666666"/>
                      </a:solidFill>
                      <a:prstDash val="dot"/>
                      <a:round/>
                      <a:headEnd len="sm" w="sm" type="none"/>
                      <a:tailEnd len="sm" w="sm" type="none"/>
                    </a:lnL>
                    <a:lnR cap="flat" cmpd="sng" w="9525">
                      <a:solidFill>
                        <a:srgbClr val="666666"/>
                      </a:solidFill>
                      <a:prstDash val="dot"/>
                      <a:round/>
                      <a:headEnd len="sm" w="sm" type="none"/>
                      <a:tailEnd len="sm" w="sm" type="none"/>
                    </a:lnR>
                    <a:lnT cap="flat" cmpd="sng" w="9525">
                      <a:solidFill>
                        <a:srgbClr val="666666"/>
                      </a:solidFill>
                      <a:prstDash val="dot"/>
                      <a:round/>
                      <a:headEnd len="sm" w="sm" type="none"/>
                      <a:tailEnd len="sm" w="sm" type="none"/>
                    </a:lnT>
                    <a:lnB cap="flat" cmpd="sng" w="9525">
                      <a:solidFill>
                        <a:srgbClr val="666666"/>
                      </a:solidFill>
                      <a:prstDash val="dot"/>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15"/>
          <p:cNvSpPr/>
          <p:nvPr/>
        </p:nvSpPr>
        <p:spPr>
          <a:xfrm>
            <a:off x="342900" y="8986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txBox="1"/>
          <p:nvPr/>
        </p:nvSpPr>
        <p:spPr>
          <a:xfrm>
            <a:off x="387600" y="8688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116" name="Google Shape;116;p15"/>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117" name="Google Shape;11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118" name="Google Shape;118;p15"/>
          <p:cNvSpPr/>
          <p:nvPr/>
        </p:nvSpPr>
        <p:spPr>
          <a:xfrm>
            <a:off x="342900" y="1492550"/>
            <a:ext cx="342900" cy="342900"/>
          </a:xfrm>
          <a:prstGeom prst="ellipse">
            <a:avLst/>
          </a:prstGeom>
          <a:solidFill>
            <a:srgbClr val="5BBB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txBox="1"/>
          <p:nvPr/>
        </p:nvSpPr>
        <p:spPr>
          <a:xfrm>
            <a:off x="387600" y="1462725"/>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120" name="Google Shape;120;p15"/>
          <p:cNvSpPr/>
          <p:nvPr/>
        </p:nvSpPr>
        <p:spPr>
          <a:xfrm>
            <a:off x="342900" y="2056588"/>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txBox="1"/>
          <p:nvPr/>
        </p:nvSpPr>
        <p:spPr>
          <a:xfrm>
            <a:off x="387600" y="2026763"/>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
        <p:nvSpPr>
          <p:cNvPr id="122" name="Google Shape;122;p15"/>
          <p:cNvSpPr txBox="1"/>
          <p:nvPr/>
        </p:nvSpPr>
        <p:spPr>
          <a:xfrm>
            <a:off x="247200" y="243675"/>
            <a:ext cx="40776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目次</a:t>
            </a:r>
            <a:endParaRPr b="1" sz="2000">
              <a:solidFill>
                <a:srgbClr val="1F1F1F"/>
              </a:solidFill>
              <a:latin typeface="M PLUS 1p"/>
              <a:ea typeface="M PLUS 1p"/>
              <a:cs typeface="M PLUS 1p"/>
              <a:sym typeface="M PLUS 1p"/>
            </a:endParaRPr>
          </a:p>
        </p:txBody>
      </p:sp>
      <p:sp>
        <p:nvSpPr>
          <p:cNvPr id="123" name="Google Shape;123;p15"/>
          <p:cNvSpPr txBox="1"/>
          <p:nvPr/>
        </p:nvSpPr>
        <p:spPr>
          <a:xfrm>
            <a:off x="757200" y="839275"/>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latin typeface="M PLUS 1p"/>
                <a:ea typeface="M PLUS 1p"/>
                <a:cs typeface="M PLUS 1p"/>
                <a:sym typeface="M PLUS 1p"/>
              </a:rPr>
              <a:t>背景・目的</a:t>
            </a:r>
            <a:endParaRPr sz="1800">
              <a:solidFill>
                <a:schemeClr val="dk1"/>
              </a:solidFill>
              <a:latin typeface="M PLUS 1p"/>
              <a:ea typeface="M PLUS 1p"/>
              <a:cs typeface="M PLUS 1p"/>
              <a:sym typeface="M PLUS 1p"/>
            </a:endParaRPr>
          </a:p>
        </p:txBody>
      </p:sp>
      <p:sp>
        <p:nvSpPr>
          <p:cNvPr id="124" name="Google Shape;124;p15"/>
          <p:cNvSpPr txBox="1"/>
          <p:nvPr/>
        </p:nvSpPr>
        <p:spPr>
          <a:xfrm>
            <a:off x="757200" y="1384725"/>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ja" sz="1800">
                <a:solidFill>
                  <a:schemeClr val="dk1"/>
                </a:solidFill>
                <a:latin typeface="M PLUS 1p"/>
                <a:ea typeface="M PLUS 1p"/>
                <a:cs typeface="M PLUS 1p"/>
                <a:sym typeface="M PLUS 1p"/>
              </a:rPr>
              <a:t>翌月</a:t>
            </a:r>
            <a:r>
              <a:rPr lang="ja" sz="1800">
                <a:solidFill>
                  <a:schemeClr val="dk1"/>
                </a:solidFill>
                <a:latin typeface="M PLUS 1p"/>
                <a:ea typeface="M PLUS 1p"/>
                <a:cs typeface="M PLUS 1p"/>
                <a:sym typeface="M PLUS 1p"/>
              </a:rPr>
              <a:t>継続率に関する現状</a:t>
            </a:r>
            <a:endParaRPr sz="1800">
              <a:solidFill>
                <a:schemeClr val="dk1"/>
              </a:solidFill>
              <a:latin typeface="M PLUS 1p"/>
              <a:ea typeface="M PLUS 1p"/>
              <a:cs typeface="M PLUS 1p"/>
              <a:sym typeface="M PLUS 1p"/>
            </a:endParaRPr>
          </a:p>
        </p:txBody>
      </p:sp>
      <p:sp>
        <p:nvSpPr>
          <p:cNvPr id="125" name="Google Shape;125;p15"/>
          <p:cNvSpPr txBox="1"/>
          <p:nvPr/>
        </p:nvSpPr>
        <p:spPr>
          <a:xfrm>
            <a:off x="757200" y="1997200"/>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ja" sz="1800">
                <a:solidFill>
                  <a:schemeClr val="dk1"/>
                </a:solidFill>
                <a:latin typeface="M PLUS 1p"/>
                <a:ea typeface="M PLUS 1p"/>
                <a:cs typeface="M PLUS 1p"/>
                <a:sym typeface="M PLUS 1p"/>
              </a:rPr>
              <a:t>low touchで</a:t>
            </a:r>
            <a:r>
              <a:rPr lang="ja" sz="1800">
                <a:solidFill>
                  <a:schemeClr val="dk1"/>
                </a:solidFill>
                <a:latin typeface="M PLUS 1p"/>
                <a:ea typeface="M PLUS 1p"/>
                <a:cs typeface="M PLUS 1p"/>
                <a:sym typeface="M PLUS 1p"/>
              </a:rPr>
              <a:t>翌月継続率が低い要因の深掘り</a:t>
            </a:r>
            <a:endParaRPr sz="1800">
              <a:solidFill>
                <a:schemeClr val="dk1"/>
              </a:solidFill>
              <a:latin typeface="M PLUS 1p"/>
              <a:ea typeface="M PLUS 1p"/>
              <a:cs typeface="M PLUS 1p"/>
              <a:sym typeface="M PLUS 1p"/>
            </a:endParaRPr>
          </a:p>
        </p:txBody>
      </p:sp>
      <p:sp>
        <p:nvSpPr>
          <p:cNvPr id="126" name="Google Shape;126;p15"/>
          <p:cNvSpPr txBox="1"/>
          <p:nvPr/>
        </p:nvSpPr>
        <p:spPr>
          <a:xfrm>
            <a:off x="757200" y="2575350"/>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M PLUS 1p"/>
              <a:ea typeface="M PLUS 1p"/>
              <a:cs typeface="M PLUS 1p"/>
              <a:sym typeface="M PLUS 1p"/>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700"/>
        </a:solidFill>
      </p:bgPr>
    </p:bg>
    <p:spTree>
      <p:nvGrpSpPr>
        <p:cNvPr id="130" name="Shape 130"/>
        <p:cNvGrpSpPr/>
        <p:nvPr/>
      </p:nvGrpSpPr>
      <p:grpSpPr>
        <a:xfrm>
          <a:off x="0" y="0"/>
          <a:ext cx="0" cy="0"/>
          <a:chOff x="0" y="0"/>
          <a:chExt cx="0" cy="0"/>
        </a:xfrm>
      </p:grpSpPr>
      <p:sp>
        <p:nvSpPr>
          <p:cNvPr id="131" name="Google Shape;131;p16"/>
          <p:cNvSpPr txBox="1"/>
          <p:nvPr/>
        </p:nvSpPr>
        <p:spPr>
          <a:xfrm>
            <a:off x="1795200" y="2200650"/>
            <a:ext cx="5553600" cy="7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rgbClr val="1F1F1F"/>
                </a:solidFill>
                <a:latin typeface="M PLUS 1p"/>
                <a:ea typeface="M PLUS 1p"/>
                <a:cs typeface="M PLUS 1p"/>
                <a:sym typeface="M PLUS 1p"/>
              </a:rPr>
              <a:t>背景・目的</a:t>
            </a:r>
            <a:endParaRPr b="1" sz="3200">
              <a:solidFill>
                <a:srgbClr val="1F1F1F"/>
              </a:solidFill>
              <a:latin typeface="M PLUS 1p"/>
              <a:ea typeface="M PLUS 1p"/>
              <a:cs typeface="M PLUS 1p"/>
              <a:sym typeface="M PLUS 1p"/>
            </a:endParaRPr>
          </a:p>
        </p:txBody>
      </p:sp>
      <p:sp>
        <p:nvSpPr>
          <p:cNvPr id="132" name="Google Shape;132;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sp>
        <p:nvSpPr>
          <p:cNvPr id="137" name="Google Shape;137;p1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138" name="Google Shape;138;p17"/>
          <p:cNvSpPr txBox="1"/>
          <p:nvPr>
            <p:ph idx="12" type="sldNum"/>
          </p:nvPr>
        </p:nvSpPr>
        <p:spPr>
          <a:xfrm>
            <a:off x="8358250" y="4862065"/>
            <a:ext cx="548700" cy="36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139" name="Google Shape;139;p17"/>
          <p:cNvSpPr/>
          <p:nvPr/>
        </p:nvSpPr>
        <p:spPr>
          <a:xfrm>
            <a:off x="5292963" y="1350075"/>
            <a:ext cx="1629600" cy="3630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300">
                <a:latin typeface="M PLUS 1p"/>
                <a:ea typeface="M PLUS 1p"/>
                <a:cs typeface="M PLUS 1p"/>
                <a:sym typeface="M PLUS 1p"/>
              </a:rPr>
              <a:t>売上</a:t>
            </a:r>
            <a:endParaRPr b="1" sz="1300">
              <a:latin typeface="M PLUS 1p"/>
              <a:ea typeface="M PLUS 1p"/>
              <a:cs typeface="M PLUS 1p"/>
              <a:sym typeface="M PLUS 1p"/>
            </a:endParaRPr>
          </a:p>
        </p:txBody>
      </p:sp>
      <p:sp>
        <p:nvSpPr>
          <p:cNvPr id="140" name="Google Shape;140;p17"/>
          <p:cNvSpPr/>
          <p:nvPr/>
        </p:nvSpPr>
        <p:spPr>
          <a:xfrm>
            <a:off x="3704206" y="2072775"/>
            <a:ext cx="1629600" cy="321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300">
                <a:latin typeface="M PLUS 1p"/>
                <a:ea typeface="M PLUS 1p"/>
                <a:cs typeface="M PLUS 1p"/>
                <a:sym typeface="M PLUS 1p"/>
              </a:rPr>
              <a:t>稼働数</a:t>
            </a:r>
            <a:endParaRPr sz="1300">
              <a:latin typeface="M PLUS 1p"/>
              <a:ea typeface="M PLUS 1p"/>
              <a:cs typeface="M PLUS 1p"/>
              <a:sym typeface="M PLUS 1p"/>
            </a:endParaRPr>
          </a:p>
        </p:txBody>
      </p:sp>
      <p:sp>
        <p:nvSpPr>
          <p:cNvPr id="141" name="Google Shape;141;p17"/>
          <p:cNvSpPr/>
          <p:nvPr/>
        </p:nvSpPr>
        <p:spPr>
          <a:xfrm>
            <a:off x="5714637" y="2072751"/>
            <a:ext cx="973500" cy="321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300">
                <a:latin typeface="M PLUS 1p"/>
                <a:ea typeface="M PLUS 1p"/>
                <a:cs typeface="M PLUS 1p"/>
                <a:sym typeface="M PLUS 1p"/>
              </a:rPr>
              <a:t>単価</a:t>
            </a:r>
            <a:endParaRPr sz="1300">
              <a:latin typeface="M PLUS 1p"/>
              <a:ea typeface="M PLUS 1p"/>
              <a:cs typeface="M PLUS 1p"/>
              <a:sym typeface="M PLUS 1p"/>
            </a:endParaRPr>
          </a:p>
        </p:txBody>
      </p:sp>
      <p:sp>
        <p:nvSpPr>
          <p:cNvPr id="142" name="Google Shape;142;p17"/>
          <p:cNvSpPr/>
          <p:nvPr/>
        </p:nvSpPr>
        <p:spPr>
          <a:xfrm>
            <a:off x="7060608" y="2065734"/>
            <a:ext cx="1166100" cy="321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300">
                <a:latin typeface="M PLUS 1p"/>
                <a:ea typeface="M PLUS 1p"/>
                <a:cs typeface="M PLUS 1p"/>
                <a:sym typeface="M PLUS 1p"/>
              </a:rPr>
              <a:t>手数料率</a:t>
            </a:r>
            <a:endParaRPr sz="1300">
              <a:latin typeface="M PLUS 1p"/>
              <a:ea typeface="M PLUS 1p"/>
              <a:cs typeface="M PLUS 1p"/>
              <a:sym typeface="M PLUS 1p"/>
            </a:endParaRPr>
          </a:p>
        </p:txBody>
      </p:sp>
      <p:cxnSp>
        <p:nvCxnSpPr>
          <p:cNvPr id="143" name="Google Shape;143;p17"/>
          <p:cNvCxnSpPr/>
          <p:nvPr/>
        </p:nvCxnSpPr>
        <p:spPr>
          <a:xfrm>
            <a:off x="4489891" y="1891507"/>
            <a:ext cx="3151800" cy="0"/>
          </a:xfrm>
          <a:prstGeom prst="straightConnector1">
            <a:avLst/>
          </a:prstGeom>
          <a:noFill/>
          <a:ln cap="flat" cmpd="sng" w="9525">
            <a:solidFill>
              <a:schemeClr val="dk2"/>
            </a:solidFill>
            <a:prstDash val="solid"/>
            <a:round/>
            <a:headEnd len="med" w="med" type="none"/>
            <a:tailEnd len="med" w="med" type="none"/>
          </a:ln>
        </p:spPr>
      </p:cxnSp>
      <p:sp>
        <p:nvSpPr>
          <p:cNvPr id="144" name="Google Shape;144;p17"/>
          <p:cNvSpPr/>
          <p:nvPr/>
        </p:nvSpPr>
        <p:spPr>
          <a:xfrm>
            <a:off x="6615710" y="2098707"/>
            <a:ext cx="367500" cy="262800"/>
          </a:xfrm>
          <a:prstGeom prst="mathMultiply">
            <a:avLst>
              <a:gd fmla="val 23520" name="adj1"/>
            </a:avLst>
          </a:prstGeom>
          <a:solidFill>
            <a:srgbClr val="1F1F1F"/>
          </a:solidFill>
          <a:ln cap="flat" cmpd="sng" w="9525">
            <a:solidFill>
              <a:srgbClr val="1F1F1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7"/>
          <p:cNvSpPr/>
          <p:nvPr/>
        </p:nvSpPr>
        <p:spPr>
          <a:xfrm>
            <a:off x="3722505" y="3216914"/>
            <a:ext cx="1629600" cy="3630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ja" sz="1300">
                <a:solidFill>
                  <a:srgbClr val="DC0451"/>
                </a:solidFill>
                <a:latin typeface="M PLUS 1p"/>
                <a:ea typeface="M PLUS 1p"/>
                <a:cs typeface="M PLUS 1p"/>
                <a:sym typeface="M PLUS 1p"/>
              </a:rPr>
              <a:t>マッチング数</a:t>
            </a:r>
            <a:endParaRPr b="1" sz="1300">
              <a:solidFill>
                <a:srgbClr val="DC0451"/>
              </a:solidFill>
              <a:latin typeface="M PLUS 1p"/>
              <a:ea typeface="M PLUS 1p"/>
              <a:cs typeface="M PLUS 1p"/>
              <a:sym typeface="M PLUS 1p"/>
            </a:endParaRPr>
          </a:p>
        </p:txBody>
      </p:sp>
      <p:sp>
        <p:nvSpPr>
          <p:cNvPr id="146" name="Google Shape;146;p17"/>
          <p:cNvSpPr/>
          <p:nvPr/>
        </p:nvSpPr>
        <p:spPr>
          <a:xfrm>
            <a:off x="2416909" y="3217266"/>
            <a:ext cx="769800" cy="357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300">
                <a:latin typeface="M PLUS 1p"/>
                <a:ea typeface="M PLUS 1p"/>
                <a:cs typeface="M PLUS 1p"/>
                <a:sym typeface="M PLUS 1p"/>
              </a:rPr>
              <a:t>求人</a:t>
            </a:r>
            <a:r>
              <a:rPr lang="ja" sz="1300">
                <a:latin typeface="M PLUS 1p"/>
                <a:ea typeface="M PLUS 1p"/>
                <a:cs typeface="M PLUS 1p"/>
                <a:sym typeface="M PLUS 1p"/>
              </a:rPr>
              <a:t>数</a:t>
            </a:r>
            <a:endParaRPr sz="1300">
              <a:latin typeface="M PLUS 1p"/>
              <a:ea typeface="M PLUS 1p"/>
              <a:cs typeface="M PLUS 1p"/>
              <a:sym typeface="M PLUS 1p"/>
            </a:endParaRPr>
          </a:p>
        </p:txBody>
      </p:sp>
      <p:sp>
        <p:nvSpPr>
          <p:cNvPr id="147" name="Google Shape;147;p17"/>
          <p:cNvSpPr/>
          <p:nvPr/>
        </p:nvSpPr>
        <p:spPr>
          <a:xfrm>
            <a:off x="5977587" y="4285814"/>
            <a:ext cx="10179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1200">
                <a:solidFill>
                  <a:schemeClr val="dk1"/>
                </a:solidFill>
                <a:latin typeface="M PLUS 1p"/>
                <a:ea typeface="M PLUS 1p"/>
                <a:cs typeface="M PLUS 1p"/>
                <a:sym typeface="M PLUS 1p"/>
              </a:rPr>
              <a:t>応募</a:t>
            </a:r>
            <a:endParaRPr sz="1200">
              <a:solidFill>
                <a:schemeClr val="dk1"/>
              </a:solidFill>
              <a:latin typeface="M PLUS 1p"/>
              <a:ea typeface="M PLUS 1p"/>
              <a:cs typeface="M PLUS 1p"/>
              <a:sym typeface="M PLUS 1p"/>
            </a:endParaRPr>
          </a:p>
          <a:p>
            <a:pPr indent="0" lvl="0" marL="0" rtl="0" algn="ctr">
              <a:spcBef>
                <a:spcPts val="0"/>
              </a:spcBef>
              <a:spcAft>
                <a:spcPts val="0"/>
              </a:spcAft>
              <a:buClr>
                <a:schemeClr val="dk1"/>
              </a:buClr>
              <a:buSzPts val="1100"/>
              <a:buFont typeface="Arial"/>
              <a:buNone/>
            </a:pPr>
            <a:r>
              <a:rPr lang="ja" sz="1200">
                <a:solidFill>
                  <a:schemeClr val="dk1"/>
                </a:solidFill>
                <a:latin typeface="M PLUS 1p"/>
                <a:ea typeface="M PLUS 1p"/>
                <a:cs typeface="M PLUS 1p"/>
                <a:sym typeface="M PLUS 1p"/>
              </a:rPr>
              <a:t>Worker数</a:t>
            </a:r>
            <a:endParaRPr sz="1300">
              <a:latin typeface="M PLUS 1p"/>
              <a:ea typeface="M PLUS 1p"/>
              <a:cs typeface="M PLUS 1p"/>
              <a:sym typeface="M PLUS 1p"/>
            </a:endParaRPr>
          </a:p>
        </p:txBody>
      </p:sp>
      <p:sp>
        <p:nvSpPr>
          <p:cNvPr id="148" name="Google Shape;148;p17"/>
          <p:cNvSpPr/>
          <p:nvPr/>
        </p:nvSpPr>
        <p:spPr>
          <a:xfrm>
            <a:off x="1607074" y="3877728"/>
            <a:ext cx="9735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1300">
                <a:solidFill>
                  <a:schemeClr val="dk1"/>
                </a:solidFill>
                <a:latin typeface="M PLUS 1p"/>
                <a:ea typeface="M PLUS 1p"/>
                <a:cs typeface="M PLUS 1p"/>
                <a:sym typeface="M PLUS 1p"/>
              </a:rPr>
              <a:t>求人掲載</a:t>
            </a:r>
            <a:endParaRPr sz="1200">
              <a:latin typeface="M PLUS 1p"/>
              <a:ea typeface="M PLUS 1p"/>
              <a:cs typeface="M PLUS 1p"/>
              <a:sym typeface="M PLUS 1p"/>
            </a:endParaRPr>
          </a:p>
          <a:p>
            <a:pPr indent="0" lvl="0" marL="0" rtl="0" algn="ctr">
              <a:spcBef>
                <a:spcPts val="0"/>
              </a:spcBef>
              <a:spcAft>
                <a:spcPts val="0"/>
              </a:spcAft>
              <a:buNone/>
            </a:pPr>
            <a:r>
              <a:rPr lang="ja" sz="1200">
                <a:latin typeface="M PLUS 1p"/>
                <a:ea typeface="M PLUS 1p"/>
                <a:cs typeface="M PLUS 1p"/>
                <a:sym typeface="M PLUS 1p"/>
              </a:rPr>
              <a:t>店舗</a:t>
            </a:r>
            <a:r>
              <a:rPr lang="ja" sz="1200">
                <a:latin typeface="M PLUS 1p"/>
                <a:ea typeface="M PLUS 1p"/>
                <a:cs typeface="M PLUS 1p"/>
                <a:sym typeface="M PLUS 1p"/>
              </a:rPr>
              <a:t>数</a:t>
            </a:r>
            <a:endParaRPr sz="1000">
              <a:latin typeface="M PLUS 1p"/>
              <a:ea typeface="M PLUS 1p"/>
              <a:cs typeface="M PLUS 1p"/>
              <a:sym typeface="M PLUS 1p"/>
            </a:endParaRPr>
          </a:p>
        </p:txBody>
      </p:sp>
      <p:cxnSp>
        <p:nvCxnSpPr>
          <p:cNvPr id="149" name="Google Shape;149;p17"/>
          <p:cNvCxnSpPr/>
          <p:nvPr/>
        </p:nvCxnSpPr>
        <p:spPr>
          <a:xfrm>
            <a:off x="2801808" y="3579379"/>
            <a:ext cx="1200" cy="118500"/>
          </a:xfrm>
          <a:prstGeom prst="straightConnector1">
            <a:avLst/>
          </a:prstGeom>
          <a:noFill/>
          <a:ln cap="flat" cmpd="sng" w="9525">
            <a:solidFill>
              <a:schemeClr val="dk2"/>
            </a:solidFill>
            <a:prstDash val="solid"/>
            <a:round/>
            <a:headEnd len="med" w="med" type="none"/>
            <a:tailEnd len="med" w="med" type="none"/>
          </a:ln>
        </p:spPr>
      </p:cxnSp>
      <p:cxnSp>
        <p:nvCxnSpPr>
          <p:cNvPr id="150" name="Google Shape;150;p17"/>
          <p:cNvCxnSpPr/>
          <p:nvPr/>
        </p:nvCxnSpPr>
        <p:spPr>
          <a:xfrm>
            <a:off x="2226610" y="3695287"/>
            <a:ext cx="1463400" cy="0"/>
          </a:xfrm>
          <a:prstGeom prst="straightConnector1">
            <a:avLst/>
          </a:prstGeom>
          <a:noFill/>
          <a:ln cap="flat" cmpd="sng" w="9525">
            <a:solidFill>
              <a:schemeClr val="dk2"/>
            </a:solidFill>
            <a:prstDash val="solid"/>
            <a:round/>
            <a:headEnd len="med" w="med" type="none"/>
            <a:tailEnd len="med" w="med" type="none"/>
          </a:ln>
        </p:spPr>
      </p:cxnSp>
      <p:cxnSp>
        <p:nvCxnSpPr>
          <p:cNvPr id="151" name="Google Shape;151;p17"/>
          <p:cNvCxnSpPr/>
          <p:nvPr/>
        </p:nvCxnSpPr>
        <p:spPr>
          <a:xfrm>
            <a:off x="2256972" y="3698925"/>
            <a:ext cx="0" cy="178500"/>
          </a:xfrm>
          <a:prstGeom prst="straightConnector1">
            <a:avLst/>
          </a:prstGeom>
          <a:noFill/>
          <a:ln cap="flat" cmpd="sng" w="9525">
            <a:solidFill>
              <a:schemeClr val="dk2"/>
            </a:solidFill>
            <a:prstDash val="solid"/>
            <a:round/>
            <a:headEnd len="med" w="med" type="none"/>
            <a:tailEnd len="med" w="med" type="none"/>
          </a:ln>
        </p:spPr>
      </p:cxnSp>
      <p:cxnSp>
        <p:nvCxnSpPr>
          <p:cNvPr id="152" name="Google Shape;152;p17"/>
          <p:cNvCxnSpPr>
            <a:stCxn id="146" idx="0"/>
          </p:cNvCxnSpPr>
          <p:nvPr/>
        </p:nvCxnSpPr>
        <p:spPr>
          <a:xfrm flipH="1" rot="10800000">
            <a:off x="2801809" y="2334666"/>
            <a:ext cx="863100" cy="882600"/>
          </a:xfrm>
          <a:prstGeom prst="straightConnector1">
            <a:avLst/>
          </a:prstGeom>
          <a:noFill/>
          <a:ln cap="flat" cmpd="sng" w="19050">
            <a:solidFill>
              <a:schemeClr val="dk2"/>
            </a:solidFill>
            <a:prstDash val="dot"/>
            <a:round/>
            <a:headEnd len="med" w="med" type="stealth"/>
            <a:tailEnd len="med" w="med" type="stealth"/>
          </a:ln>
        </p:spPr>
      </p:cxnSp>
      <p:sp>
        <p:nvSpPr>
          <p:cNvPr id="153" name="Google Shape;153;p17"/>
          <p:cNvSpPr txBox="1"/>
          <p:nvPr/>
        </p:nvSpPr>
        <p:spPr>
          <a:xfrm>
            <a:off x="2654058" y="2406174"/>
            <a:ext cx="1413300" cy="2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200">
                <a:solidFill>
                  <a:schemeClr val="dk2"/>
                </a:solidFill>
                <a:latin typeface="M PLUS 1p"/>
                <a:ea typeface="M PLUS 1p"/>
                <a:cs typeface="M PLUS 1p"/>
                <a:sym typeface="M PLUS 1p"/>
              </a:rPr>
              <a:t>稼働率</a:t>
            </a:r>
            <a:endParaRPr sz="1200">
              <a:solidFill>
                <a:schemeClr val="dk2"/>
              </a:solidFill>
              <a:latin typeface="M PLUS 1p"/>
              <a:ea typeface="M PLUS 1p"/>
              <a:cs typeface="M PLUS 1p"/>
              <a:sym typeface="M PLUS 1p"/>
            </a:endParaRPr>
          </a:p>
        </p:txBody>
      </p:sp>
      <p:cxnSp>
        <p:nvCxnSpPr>
          <p:cNvPr id="154" name="Google Shape;154;p17"/>
          <p:cNvCxnSpPr/>
          <p:nvPr/>
        </p:nvCxnSpPr>
        <p:spPr>
          <a:xfrm>
            <a:off x="3681981" y="3683483"/>
            <a:ext cx="0" cy="212700"/>
          </a:xfrm>
          <a:prstGeom prst="straightConnector1">
            <a:avLst/>
          </a:prstGeom>
          <a:noFill/>
          <a:ln cap="flat" cmpd="sng" w="9525">
            <a:solidFill>
              <a:schemeClr val="dk2"/>
            </a:solidFill>
            <a:prstDash val="solid"/>
            <a:round/>
            <a:headEnd len="med" w="med" type="none"/>
            <a:tailEnd len="med" w="med" type="none"/>
          </a:ln>
        </p:spPr>
      </p:cxnSp>
      <p:sp>
        <p:nvSpPr>
          <p:cNvPr id="155" name="Google Shape;155;p17"/>
          <p:cNvSpPr/>
          <p:nvPr/>
        </p:nvSpPr>
        <p:spPr>
          <a:xfrm>
            <a:off x="3107645" y="3896573"/>
            <a:ext cx="11247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平均</a:t>
            </a:r>
            <a:endParaRPr sz="1200">
              <a:latin typeface="M PLUS 1p"/>
              <a:ea typeface="M PLUS 1p"/>
              <a:cs typeface="M PLUS 1p"/>
              <a:sym typeface="M PLUS 1p"/>
            </a:endParaRPr>
          </a:p>
          <a:p>
            <a:pPr indent="0" lvl="0" marL="0" rtl="0" algn="ctr">
              <a:spcBef>
                <a:spcPts val="0"/>
              </a:spcBef>
              <a:spcAft>
                <a:spcPts val="0"/>
              </a:spcAft>
              <a:buNone/>
            </a:pPr>
            <a:r>
              <a:rPr lang="ja" sz="1300">
                <a:solidFill>
                  <a:schemeClr val="dk1"/>
                </a:solidFill>
                <a:latin typeface="M PLUS 1p"/>
                <a:ea typeface="M PLUS 1p"/>
                <a:cs typeface="M PLUS 1p"/>
                <a:sym typeface="M PLUS 1p"/>
              </a:rPr>
              <a:t>募集</a:t>
            </a:r>
            <a:r>
              <a:rPr lang="ja" sz="1200">
                <a:latin typeface="M PLUS 1p"/>
                <a:ea typeface="M PLUS 1p"/>
                <a:cs typeface="M PLUS 1p"/>
                <a:sym typeface="M PLUS 1p"/>
              </a:rPr>
              <a:t>人数</a:t>
            </a:r>
            <a:endParaRPr sz="1200">
              <a:latin typeface="M PLUS 1p"/>
              <a:ea typeface="M PLUS 1p"/>
              <a:cs typeface="M PLUS 1p"/>
              <a:sym typeface="M PLUS 1p"/>
            </a:endParaRPr>
          </a:p>
        </p:txBody>
      </p:sp>
      <p:sp>
        <p:nvSpPr>
          <p:cNvPr id="156" name="Google Shape;156;p17"/>
          <p:cNvSpPr/>
          <p:nvPr/>
        </p:nvSpPr>
        <p:spPr>
          <a:xfrm>
            <a:off x="5973399" y="3217266"/>
            <a:ext cx="769800" cy="357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300">
                <a:latin typeface="M PLUS 1p"/>
                <a:ea typeface="M PLUS 1p"/>
                <a:cs typeface="M PLUS 1p"/>
                <a:sym typeface="M PLUS 1p"/>
              </a:rPr>
              <a:t>応募数</a:t>
            </a:r>
            <a:endParaRPr sz="1300">
              <a:latin typeface="M PLUS 1p"/>
              <a:ea typeface="M PLUS 1p"/>
              <a:cs typeface="M PLUS 1p"/>
              <a:sym typeface="M PLUS 1p"/>
            </a:endParaRPr>
          </a:p>
        </p:txBody>
      </p:sp>
      <p:cxnSp>
        <p:nvCxnSpPr>
          <p:cNvPr id="157" name="Google Shape;157;p17"/>
          <p:cNvCxnSpPr/>
          <p:nvPr/>
        </p:nvCxnSpPr>
        <p:spPr>
          <a:xfrm>
            <a:off x="6402498" y="3579923"/>
            <a:ext cx="0" cy="511500"/>
          </a:xfrm>
          <a:prstGeom prst="straightConnector1">
            <a:avLst/>
          </a:prstGeom>
          <a:noFill/>
          <a:ln cap="flat" cmpd="sng" w="9525">
            <a:solidFill>
              <a:schemeClr val="dk2"/>
            </a:solidFill>
            <a:prstDash val="solid"/>
            <a:round/>
            <a:headEnd len="med" w="med" type="none"/>
            <a:tailEnd len="med" w="med" type="none"/>
          </a:ln>
        </p:spPr>
      </p:cxnSp>
      <p:cxnSp>
        <p:nvCxnSpPr>
          <p:cNvPr id="158" name="Google Shape;158;p17"/>
          <p:cNvCxnSpPr/>
          <p:nvPr/>
        </p:nvCxnSpPr>
        <p:spPr>
          <a:xfrm>
            <a:off x="6308723" y="4084787"/>
            <a:ext cx="1443000" cy="0"/>
          </a:xfrm>
          <a:prstGeom prst="straightConnector1">
            <a:avLst/>
          </a:prstGeom>
          <a:noFill/>
          <a:ln cap="flat" cmpd="sng" w="9525">
            <a:solidFill>
              <a:schemeClr val="dk2"/>
            </a:solidFill>
            <a:prstDash val="solid"/>
            <a:round/>
            <a:headEnd len="med" w="med" type="none"/>
            <a:tailEnd len="med" w="med" type="none"/>
          </a:ln>
        </p:spPr>
      </p:cxnSp>
      <p:cxnSp>
        <p:nvCxnSpPr>
          <p:cNvPr id="159" name="Google Shape;159;p17"/>
          <p:cNvCxnSpPr/>
          <p:nvPr/>
        </p:nvCxnSpPr>
        <p:spPr>
          <a:xfrm>
            <a:off x="6308723" y="4091249"/>
            <a:ext cx="0" cy="188100"/>
          </a:xfrm>
          <a:prstGeom prst="straightConnector1">
            <a:avLst/>
          </a:prstGeom>
          <a:noFill/>
          <a:ln cap="flat" cmpd="sng" w="9525">
            <a:solidFill>
              <a:schemeClr val="dk2"/>
            </a:solidFill>
            <a:prstDash val="solid"/>
            <a:round/>
            <a:headEnd len="med" w="med" type="none"/>
            <a:tailEnd len="med" w="med" type="none"/>
          </a:ln>
        </p:spPr>
      </p:cxnSp>
      <p:sp>
        <p:nvSpPr>
          <p:cNvPr id="160" name="Google Shape;160;p17"/>
          <p:cNvSpPr/>
          <p:nvPr/>
        </p:nvSpPr>
        <p:spPr>
          <a:xfrm>
            <a:off x="7272983" y="4286072"/>
            <a:ext cx="9735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平均</a:t>
            </a:r>
            <a:endParaRPr sz="1200">
              <a:latin typeface="M PLUS 1p"/>
              <a:ea typeface="M PLUS 1p"/>
              <a:cs typeface="M PLUS 1p"/>
              <a:sym typeface="M PLUS 1p"/>
            </a:endParaRPr>
          </a:p>
          <a:p>
            <a:pPr indent="0" lvl="0" marL="0" rtl="0" algn="ctr">
              <a:spcBef>
                <a:spcPts val="0"/>
              </a:spcBef>
              <a:spcAft>
                <a:spcPts val="0"/>
              </a:spcAft>
              <a:buNone/>
            </a:pPr>
            <a:r>
              <a:rPr lang="ja" sz="1200">
                <a:latin typeface="M PLUS 1p"/>
                <a:ea typeface="M PLUS 1p"/>
                <a:cs typeface="M PLUS 1p"/>
                <a:sym typeface="M PLUS 1p"/>
              </a:rPr>
              <a:t>応募数</a:t>
            </a:r>
            <a:endParaRPr sz="1200">
              <a:latin typeface="M PLUS 1p"/>
              <a:ea typeface="M PLUS 1p"/>
              <a:cs typeface="M PLUS 1p"/>
              <a:sym typeface="M PLUS 1p"/>
            </a:endParaRPr>
          </a:p>
        </p:txBody>
      </p:sp>
      <p:cxnSp>
        <p:nvCxnSpPr>
          <p:cNvPr id="161" name="Google Shape;161;p17"/>
          <p:cNvCxnSpPr>
            <a:stCxn id="146" idx="3"/>
          </p:cNvCxnSpPr>
          <p:nvPr/>
        </p:nvCxnSpPr>
        <p:spPr>
          <a:xfrm>
            <a:off x="3186709" y="3396216"/>
            <a:ext cx="535800" cy="2400"/>
          </a:xfrm>
          <a:prstGeom prst="straightConnector1">
            <a:avLst/>
          </a:prstGeom>
          <a:noFill/>
          <a:ln cap="flat" cmpd="sng" w="9525">
            <a:solidFill>
              <a:schemeClr val="dk2"/>
            </a:solidFill>
            <a:prstDash val="solid"/>
            <a:round/>
            <a:headEnd len="med" w="med" type="none"/>
            <a:tailEnd len="med" w="med" type="triangle"/>
          </a:ln>
        </p:spPr>
      </p:cxnSp>
      <p:cxnSp>
        <p:nvCxnSpPr>
          <p:cNvPr id="162" name="Google Shape;162;p17"/>
          <p:cNvCxnSpPr>
            <a:endCxn id="156" idx="1"/>
          </p:cNvCxnSpPr>
          <p:nvPr/>
        </p:nvCxnSpPr>
        <p:spPr>
          <a:xfrm>
            <a:off x="5369799" y="3396216"/>
            <a:ext cx="603600" cy="0"/>
          </a:xfrm>
          <a:prstGeom prst="straightConnector1">
            <a:avLst/>
          </a:prstGeom>
          <a:noFill/>
          <a:ln cap="flat" cmpd="sng" w="9525">
            <a:solidFill>
              <a:schemeClr val="dk2"/>
            </a:solidFill>
            <a:prstDash val="solid"/>
            <a:round/>
            <a:headEnd len="med" w="med" type="triangle"/>
            <a:tailEnd len="med" w="med" type="none"/>
          </a:ln>
        </p:spPr>
      </p:cxnSp>
      <p:sp>
        <p:nvSpPr>
          <p:cNvPr id="163" name="Google Shape;163;p17"/>
          <p:cNvSpPr/>
          <p:nvPr/>
        </p:nvSpPr>
        <p:spPr>
          <a:xfrm>
            <a:off x="2460147" y="4595945"/>
            <a:ext cx="10179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求人掲載</a:t>
            </a:r>
            <a:endParaRPr sz="1200">
              <a:latin typeface="M PLUS 1p"/>
              <a:ea typeface="M PLUS 1p"/>
              <a:cs typeface="M PLUS 1p"/>
              <a:sym typeface="M PLUS 1p"/>
            </a:endParaRPr>
          </a:p>
          <a:p>
            <a:pPr indent="0" lvl="0" marL="0" rtl="0" algn="ctr">
              <a:spcBef>
                <a:spcPts val="0"/>
              </a:spcBef>
              <a:spcAft>
                <a:spcPts val="0"/>
              </a:spcAft>
              <a:buNone/>
            </a:pPr>
            <a:r>
              <a:rPr lang="ja" sz="1200">
                <a:latin typeface="M PLUS 1p"/>
                <a:ea typeface="M PLUS 1p"/>
                <a:cs typeface="M PLUS 1p"/>
                <a:sym typeface="M PLUS 1p"/>
              </a:rPr>
              <a:t>継続率</a:t>
            </a:r>
            <a:endParaRPr sz="1200">
              <a:latin typeface="M PLUS 1p"/>
              <a:ea typeface="M PLUS 1p"/>
              <a:cs typeface="M PLUS 1p"/>
              <a:sym typeface="M PLUS 1p"/>
            </a:endParaRPr>
          </a:p>
        </p:txBody>
      </p:sp>
      <p:cxnSp>
        <p:nvCxnSpPr>
          <p:cNvPr id="164" name="Google Shape;164;p17"/>
          <p:cNvCxnSpPr/>
          <p:nvPr/>
        </p:nvCxnSpPr>
        <p:spPr>
          <a:xfrm>
            <a:off x="7751719" y="4096182"/>
            <a:ext cx="0" cy="178500"/>
          </a:xfrm>
          <a:prstGeom prst="straightConnector1">
            <a:avLst/>
          </a:prstGeom>
          <a:noFill/>
          <a:ln cap="flat" cmpd="sng" w="9525">
            <a:solidFill>
              <a:schemeClr val="dk2"/>
            </a:solidFill>
            <a:prstDash val="solid"/>
            <a:round/>
            <a:headEnd len="med" w="med" type="none"/>
            <a:tailEnd len="med" w="med" type="none"/>
          </a:ln>
        </p:spPr>
      </p:cxnSp>
      <p:sp>
        <p:nvSpPr>
          <p:cNvPr id="165" name="Google Shape;165;p17"/>
          <p:cNvSpPr txBox="1"/>
          <p:nvPr/>
        </p:nvSpPr>
        <p:spPr>
          <a:xfrm>
            <a:off x="712300" y="294475"/>
            <a:ext cx="74238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タイミーのNorth Star Metrics</a:t>
            </a:r>
            <a:r>
              <a:rPr b="1" lang="ja" sz="2000">
                <a:solidFill>
                  <a:srgbClr val="1F1F1F"/>
                </a:solidFill>
                <a:latin typeface="M PLUS 1p"/>
                <a:ea typeface="M PLUS 1p"/>
                <a:cs typeface="M PLUS 1p"/>
                <a:sym typeface="M PLUS 1p"/>
              </a:rPr>
              <a:t>　</a:t>
            </a:r>
            <a:r>
              <a:rPr lang="ja" sz="1700">
                <a:solidFill>
                  <a:srgbClr val="1F1F1F"/>
                </a:solidFill>
                <a:latin typeface="M PLUS 1p"/>
                <a:ea typeface="M PLUS 1p"/>
                <a:cs typeface="M PLUS 1p"/>
                <a:sym typeface="M PLUS 1p"/>
              </a:rPr>
              <a:t>※他指標との比較は</a:t>
            </a:r>
            <a:r>
              <a:rPr lang="ja" sz="1700" u="sng">
                <a:solidFill>
                  <a:schemeClr val="hlink"/>
                </a:solidFill>
                <a:latin typeface="M PLUS 1p"/>
                <a:ea typeface="M PLUS 1p"/>
                <a:cs typeface="M PLUS 1p"/>
                <a:sym typeface="M PLUS 1p"/>
                <a:hlinkClick r:id="rId3"/>
              </a:rPr>
              <a:t>こちら</a:t>
            </a:r>
            <a:endParaRPr sz="1700">
              <a:solidFill>
                <a:srgbClr val="1F1F1F"/>
              </a:solidFill>
              <a:latin typeface="M PLUS 1p"/>
              <a:ea typeface="M PLUS 1p"/>
              <a:cs typeface="M PLUS 1p"/>
              <a:sym typeface="M PLUS 1p"/>
            </a:endParaRPr>
          </a:p>
        </p:txBody>
      </p:sp>
      <p:cxnSp>
        <p:nvCxnSpPr>
          <p:cNvPr id="166" name="Google Shape;166;p17"/>
          <p:cNvCxnSpPr>
            <a:stCxn id="140" idx="2"/>
            <a:endCxn id="145" idx="0"/>
          </p:cNvCxnSpPr>
          <p:nvPr/>
        </p:nvCxnSpPr>
        <p:spPr>
          <a:xfrm>
            <a:off x="4519006" y="2394675"/>
            <a:ext cx="18300" cy="822300"/>
          </a:xfrm>
          <a:prstGeom prst="straightConnector1">
            <a:avLst/>
          </a:prstGeom>
          <a:noFill/>
          <a:ln cap="flat" cmpd="sng" w="9525">
            <a:solidFill>
              <a:schemeClr val="dk2"/>
            </a:solidFill>
            <a:prstDash val="solid"/>
            <a:round/>
            <a:headEnd len="med" w="med" type="stealth"/>
            <a:tailEnd len="med" w="med" type="none"/>
          </a:ln>
        </p:spPr>
      </p:cxnSp>
      <p:sp>
        <p:nvSpPr>
          <p:cNvPr id="167" name="Google Shape;167;p17"/>
          <p:cNvSpPr/>
          <p:nvPr/>
        </p:nvSpPr>
        <p:spPr>
          <a:xfrm>
            <a:off x="3722505" y="2624274"/>
            <a:ext cx="1629600" cy="3630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300">
                <a:latin typeface="M PLUS 1p"/>
                <a:ea typeface="M PLUS 1p"/>
                <a:cs typeface="M PLUS 1p"/>
                <a:sym typeface="M PLUS 1p"/>
              </a:rPr>
              <a:t>稼働転換率</a:t>
            </a:r>
            <a:endParaRPr sz="1300">
              <a:latin typeface="M PLUS 1p"/>
              <a:ea typeface="M PLUS 1p"/>
              <a:cs typeface="M PLUS 1p"/>
              <a:sym typeface="M PLUS 1p"/>
            </a:endParaRPr>
          </a:p>
          <a:p>
            <a:pPr indent="0" lvl="0" marL="0" marR="0" rtl="0" algn="ctr">
              <a:lnSpc>
                <a:spcPct val="100000"/>
              </a:lnSpc>
              <a:spcBef>
                <a:spcPts val="0"/>
              </a:spcBef>
              <a:spcAft>
                <a:spcPts val="0"/>
              </a:spcAft>
              <a:buNone/>
            </a:pPr>
            <a:r>
              <a:rPr lang="ja" sz="1000">
                <a:latin typeface="M PLUS 1p"/>
                <a:ea typeface="M PLUS 1p"/>
                <a:cs typeface="M PLUS 1p"/>
                <a:sym typeface="M PLUS 1p"/>
              </a:rPr>
              <a:t>(稼働数/マッチング数)</a:t>
            </a:r>
            <a:endParaRPr sz="1000">
              <a:latin typeface="M PLUS 1p"/>
              <a:ea typeface="M PLUS 1p"/>
              <a:cs typeface="M PLUS 1p"/>
              <a:sym typeface="M PLUS 1p"/>
            </a:endParaRPr>
          </a:p>
        </p:txBody>
      </p:sp>
      <p:sp>
        <p:nvSpPr>
          <p:cNvPr id="168" name="Google Shape;168;p17"/>
          <p:cNvSpPr/>
          <p:nvPr/>
        </p:nvSpPr>
        <p:spPr>
          <a:xfrm>
            <a:off x="5320313" y="2098707"/>
            <a:ext cx="367500" cy="262800"/>
          </a:xfrm>
          <a:prstGeom prst="mathMultiply">
            <a:avLst>
              <a:gd fmla="val 23520" name="adj1"/>
            </a:avLst>
          </a:prstGeom>
          <a:solidFill>
            <a:srgbClr val="1F1F1F"/>
          </a:solidFill>
          <a:ln cap="flat" cmpd="sng" w="9525">
            <a:solidFill>
              <a:srgbClr val="1F1F1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9" name="Google Shape;169;p17"/>
          <p:cNvCxnSpPr/>
          <p:nvPr/>
        </p:nvCxnSpPr>
        <p:spPr>
          <a:xfrm>
            <a:off x="4489891" y="1884138"/>
            <a:ext cx="0" cy="178500"/>
          </a:xfrm>
          <a:prstGeom prst="straightConnector1">
            <a:avLst/>
          </a:prstGeom>
          <a:noFill/>
          <a:ln cap="flat" cmpd="sng" w="9525">
            <a:solidFill>
              <a:schemeClr val="dk2"/>
            </a:solidFill>
            <a:prstDash val="solid"/>
            <a:round/>
            <a:headEnd len="med" w="med" type="none"/>
            <a:tailEnd len="med" w="med" type="none"/>
          </a:ln>
        </p:spPr>
      </p:cxnSp>
      <p:cxnSp>
        <p:nvCxnSpPr>
          <p:cNvPr id="170" name="Google Shape;170;p17"/>
          <p:cNvCxnSpPr/>
          <p:nvPr/>
        </p:nvCxnSpPr>
        <p:spPr>
          <a:xfrm>
            <a:off x="7641057" y="1884138"/>
            <a:ext cx="0" cy="178500"/>
          </a:xfrm>
          <a:prstGeom prst="straightConnector1">
            <a:avLst/>
          </a:prstGeom>
          <a:noFill/>
          <a:ln cap="flat" cmpd="sng" w="9525">
            <a:solidFill>
              <a:schemeClr val="dk2"/>
            </a:solidFill>
            <a:prstDash val="solid"/>
            <a:round/>
            <a:headEnd len="med" w="med" type="none"/>
            <a:tailEnd len="med" w="med" type="none"/>
          </a:ln>
        </p:spPr>
      </p:cxnSp>
      <p:cxnSp>
        <p:nvCxnSpPr>
          <p:cNvPr id="171" name="Google Shape;171;p17"/>
          <p:cNvCxnSpPr/>
          <p:nvPr/>
        </p:nvCxnSpPr>
        <p:spPr>
          <a:xfrm>
            <a:off x="6107761" y="1697145"/>
            <a:ext cx="0" cy="365400"/>
          </a:xfrm>
          <a:prstGeom prst="straightConnector1">
            <a:avLst/>
          </a:prstGeom>
          <a:noFill/>
          <a:ln cap="flat" cmpd="sng" w="9525">
            <a:solidFill>
              <a:schemeClr val="dk2"/>
            </a:solidFill>
            <a:prstDash val="solid"/>
            <a:round/>
            <a:headEnd len="med" w="med" type="none"/>
            <a:tailEnd len="med" w="med" type="none"/>
          </a:ln>
        </p:spPr>
      </p:cxnSp>
      <p:sp>
        <p:nvSpPr>
          <p:cNvPr id="172" name="Google Shape;172;p17"/>
          <p:cNvSpPr/>
          <p:nvPr/>
        </p:nvSpPr>
        <p:spPr>
          <a:xfrm>
            <a:off x="1244500" y="4596226"/>
            <a:ext cx="10179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初回掲載</a:t>
            </a:r>
            <a:r>
              <a:rPr lang="ja" sz="1200">
                <a:latin typeface="M PLUS 1p"/>
                <a:ea typeface="M PLUS 1p"/>
                <a:cs typeface="M PLUS 1p"/>
                <a:sym typeface="M PLUS 1p"/>
              </a:rPr>
              <a:t>率</a:t>
            </a:r>
            <a:endParaRPr sz="1200">
              <a:latin typeface="M PLUS 1p"/>
              <a:ea typeface="M PLUS 1p"/>
              <a:cs typeface="M PLUS 1p"/>
              <a:sym typeface="M PLUS 1p"/>
            </a:endParaRPr>
          </a:p>
        </p:txBody>
      </p:sp>
      <p:cxnSp>
        <p:nvCxnSpPr>
          <p:cNvPr id="173" name="Google Shape;173;p17"/>
          <p:cNvCxnSpPr/>
          <p:nvPr/>
        </p:nvCxnSpPr>
        <p:spPr>
          <a:xfrm>
            <a:off x="2093823" y="4286072"/>
            <a:ext cx="0" cy="139200"/>
          </a:xfrm>
          <a:prstGeom prst="straightConnector1">
            <a:avLst/>
          </a:prstGeom>
          <a:noFill/>
          <a:ln cap="flat" cmpd="sng" w="9525">
            <a:solidFill>
              <a:schemeClr val="dk2"/>
            </a:solidFill>
            <a:prstDash val="solid"/>
            <a:round/>
            <a:headEnd len="med" w="med" type="none"/>
            <a:tailEnd len="med" w="med" type="none"/>
          </a:ln>
        </p:spPr>
      </p:cxnSp>
      <p:cxnSp>
        <p:nvCxnSpPr>
          <p:cNvPr id="174" name="Google Shape;174;p17"/>
          <p:cNvCxnSpPr/>
          <p:nvPr/>
        </p:nvCxnSpPr>
        <p:spPr>
          <a:xfrm>
            <a:off x="1682961" y="4425707"/>
            <a:ext cx="1317900" cy="0"/>
          </a:xfrm>
          <a:prstGeom prst="straightConnector1">
            <a:avLst/>
          </a:prstGeom>
          <a:noFill/>
          <a:ln cap="flat" cmpd="sng" w="9525">
            <a:solidFill>
              <a:schemeClr val="dk2"/>
            </a:solidFill>
            <a:prstDash val="solid"/>
            <a:round/>
            <a:headEnd len="med" w="med" type="none"/>
            <a:tailEnd len="med" w="med" type="none"/>
          </a:ln>
        </p:spPr>
      </p:cxnSp>
      <p:cxnSp>
        <p:nvCxnSpPr>
          <p:cNvPr id="175" name="Google Shape;175;p17"/>
          <p:cNvCxnSpPr/>
          <p:nvPr/>
        </p:nvCxnSpPr>
        <p:spPr>
          <a:xfrm>
            <a:off x="1682938" y="4425700"/>
            <a:ext cx="0" cy="19020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17"/>
          <p:cNvCxnSpPr/>
          <p:nvPr/>
        </p:nvCxnSpPr>
        <p:spPr>
          <a:xfrm>
            <a:off x="3000845" y="4425707"/>
            <a:ext cx="0" cy="178500"/>
          </a:xfrm>
          <a:prstGeom prst="straightConnector1">
            <a:avLst/>
          </a:prstGeom>
          <a:noFill/>
          <a:ln cap="flat" cmpd="sng" w="9525">
            <a:solidFill>
              <a:schemeClr val="dk2"/>
            </a:solidFill>
            <a:prstDash val="solid"/>
            <a:round/>
            <a:headEnd len="med" w="med" type="none"/>
            <a:tailEnd len="med" w="med" type="none"/>
          </a:ln>
        </p:spPr>
      </p:cxnSp>
      <p:sp>
        <p:nvSpPr>
          <p:cNvPr id="177" name="Google Shape;177;p17"/>
          <p:cNvSpPr txBox="1"/>
          <p:nvPr/>
        </p:nvSpPr>
        <p:spPr>
          <a:xfrm>
            <a:off x="432300" y="667200"/>
            <a:ext cx="8620500" cy="741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マッチング数は</a:t>
            </a:r>
            <a:r>
              <a:rPr b="1" lang="ja" sz="1600">
                <a:solidFill>
                  <a:srgbClr val="1F1F1F"/>
                </a:solidFill>
                <a:latin typeface="M PLUS 1p"/>
                <a:ea typeface="M PLUS 1p"/>
                <a:cs typeface="M PLUS 1p"/>
                <a:sym typeface="M PLUS 1p"/>
              </a:rPr>
              <a:t>プラットフォームの成長を把握しやすい指標</a:t>
            </a:r>
            <a:endParaRPr sz="1600">
              <a:solidFill>
                <a:srgbClr val="1F1F1F"/>
              </a:solidFill>
              <a:latin typeface="M PLUS 1p"/>
              <a:ea typeface="M PLUS 1p"/>
              <a:cs typeface="M PLUS 1p"/>
              <a:sym typeface="M PLUS 1p"/>
            </a:endParaRPr>
          </a:p>
          <a:p>
            <a:pPr indent="0" lvl="0" marL="457200" rtl="0" algn="l">
              <a:lnSpc>
                <a:spcPct val="120000"/>
              </a:lnSpc>
              <a:spcBef>
                <a:spcPts val="0"/>
              </a:spcBef>
              <a:spcAft>
                <a:spcPts val="0"/>
              </a:spcAft>
              <a:buNone/>
            </a:pPr>
            <a:r>
              <a:rPr lang="ja" sz="1600">
                <a:solidFill>
                  <a:srgbClr val="1F1F1F"/>
                </a:solidFill>
                <a:latin typeface="M PLUS 1p"/>
                <a:ea typeface="M PLUS 1p"/>
                <a:cs typeface="M PLUS 1p"/>
                <a:sym typeface="M PLUS 1p"/>
              </a:rPr>
              <a:t>※</a:t>
            </a:r>
            <a:r>
              <a:rPr lang="ja" sz="1600">
                <a:solidFill>
                  <a:srgbClr val="1F1F1F"/>
                </a:solidFill>
                <a:latin typeface="M PLUS 1p"/>
                <a:ea typeface="M PLUS 1p"/>
                <a:cs typeface="M PLUS 1p"/>
                <a:sym typeface="M PLUS 1p"/>
              </a:rPr>
              <a:t>稼働率など</a:t>
            </a:r>
            <a:r>
              <a:rPr lang="ja" sz="1600">
                <a:solidFill>
                  <a:srgbClr val="1F1F1F"/>
                </a:solidFill>
                <a:latin typeface="M PLUS 1p"/>
                <a:ea typeface="M PLUS 1p"/>
                <a:cs typeface="M PLUS 1p"/>
                <a:sym typeface="M PLUS 1p"/>
              </a:rPr>
              <a:t>「率」だと分母の変化は捉えづらい</a:t>
            </a:r>
            <a:endParaRPr sz="16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t/>
            </a:r>
            <a:endParaRPr sz="1600">
              <a:solidFill>
                <a:srgbClr val="1F1F1F"/>
              </a:solidFill>
              <a:latin typeface="M PLUS 1p"/>
              <a:ea typeface="M PLUS 1p"/>
              <a:cs typeface="M PLUS 1p"/>
              <a:sym typeface="M PLUS 1p"/>
            </a:endParaRPr>
          </a:p>
        </p:txBody>
      </p:sp>
      <p:sp>
        <p:nvSpPr>
          <p:cNvPr id="178" name="Google Shape;178;p17"/>
          <p:cNvSpPr/>
          <p:nvPr/>
        </p:nvSpPr>
        <p:spPr>
          <a:xfrm>
            <a:off x="330250" y="3801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7"/>
          <p:cNvSpPr txBox="1"/>
          <p:nvPr/>
        </p:nvSpPr>
        <p:spPr>
          <a:xfrm>
            <a:off x="374950" y="3503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18"/>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185" name="Google Shape;185;p18"/>
          <p:cNvSpPr txBox="1"/>
          <p:nvPr/>
        </p:nvSpPr>
        <p:spPr>
          <a:xfrm>
            <a:off x="712300" y="294475"/>
            <a:ext cx="84318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マッチング数を構成するInput Metrics</a:t>
            </a:r>
            <a:r>
              <a:rPr b="1" lang="ja" sz="1600">
                <a:solidFill>
                  <a:srgbClr val="1F1F1F"/>
                </a:solidFill>
                <a:latin typeface="M PLUS 1p"/>
                <a:ea typeface="M PLUS 1p"/>
                <a:cs typeface="M PLUS 1p"/>
                <a:sym typeface="M PLUS 1p"/>
              </a:rPr>
              <a:t>　</a:t>
            </a:r>
            <a:endParaRPr sz="1600">
              <a:solidFill>
                <a:srgbClr val="1F1F1F"/>
              </a:solidFill>
              <a:latin typeface="M PLUS 1p"/>
              <a:ea typeface="M PLUS 1p"/>
              <a:cs typeface="M PLUS 1p"/>
              <a:sym typeface="M PLUS 1p"/>
            </a:endParaRPr>
          </a:p>
        </p:txBody>
      </p:sp>
      <p:sp>
        <p:nvSpPr>
          <p:cNvPr id="186" name="Google Shape;186;p18"/>
          <p:cNvSpPr txBox="1"/>
          <p:nvPr/>
        </p:nvSpPr>
        <p:spPr>
          <a:xfrm>
            <a:off x="432350" y="860575"/>
            <a:ext cx="8620500" cy="13029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マッチング数を構成する指標は、</a:t>
            </a:r>
            <a:r>
              <a:rPr b="1" lang="ja" sz="1600">
                <a:solidFill>
                  <a:srgbClr val="1F1F1F"/>
                </a:solidFill>
                <a:latin typeface="M PLUS 1p"/>
                <a:ea typeface="M PLUS 1p"/>
                <a:cs typeface="M PLUS 1p"/>
                <a:sym typeface="M PLUS 1p"/>
              </a:rPr>
              <a:t>店舗側の</a:t>
            </a:r>
            <a:r>
              <a:rPr b="1" lang="ja" sz="1600">
                <a:solidFill>
                  <a:srgbClr val="1F1F1F"/>
                </a:solidFill>
                <a:latin typeface="M PLUS 1p"/>
                <a:ea typeface="M PLUS 1p"/>
                <a:cs typeface="M PLUS 1p"/>
                <a:sym typeface="M PLUS 1p"/>
              </a:rPr>
              <a:t>初回掲載</a:t>
            </a:r>
            <a:r>
              <a:rPr b="1" lang="ja" sz="1600">
                <a:solidFill>
                  <a:srgbClr val="1F1F1F"/>
                </a:solidFill>
                <a:latin typeface="M PLUS 1p"/>
                <a:ea typeface="M PLUS 1p"/>
                <a:cs typeface="M PLUS 1p"/>
                <a:sym typeface="M PLUS 1p"/>
              </a:rPr>
              <a:t>率、翌月継続率、平均募集人数</a:t>
            </a:r>
            <a:r>
              <a:rPr lang="ja" sz="1600">
                <a:solidFill>
                  <a:srgbClr val="1F1F1F"/>
                </a:solidFill>
                <a:latin typeface="M PLUS 1p"/>
                <a:ea typeface="M PLUS 1p"/>
                <a:cs typeface="M PLUS 1p"/>
                <a:sym typeface="M PLUS 1p"/>
              </a:rPr>
              <a:t>を、マッチング数を構成するInput Metricsと考える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本分析では「</a:t>
            </a:r>
            <a:r>
              <a:rPr b="1" lang="ja" sz="1600">
                <a:solidFill>
                  <a:srgbClr val="1F1F1F"/>
                </a:solidFill>
                <a:latin typeface="M PLUS 1p"/>
                <a:ea typeface="M PLUS 1p"/>
                <a:cs typeface="M PLUS 1p"/>
                <a:sym typeface="M PLUS 1p"/>
              </a:rPr>
              <a:t>翌月継続率</a:t>
            </a:r>
            <a:r>
              <a:rPr lang="ja" sz="1600">
                <a:solidFill>
                  <a:srgbClr val="1F1F1F"/>
                </a:solidFill>
                <a:latin typeface="M PLUS 1p"/>
                <a:ea typeface="M PLUS 1p"/>
                <a:cs typeface="M PLUS 1p"/>
                <a:sym typeface="M PLUS 1p"/>
              </a:rPr>
              <a:t>」に着目して分析</a:t>
            </a:r>
            <a:endParaRPr sz="1600">
              <a:solidFill>
                <a:srgbClr val="1F1F1F"/>
              </a:solidFill>
              <a:latin typeface="M PLUS 1p"/>
              <a:ea typeface="M PLUS 1p"/>
              <a:cs typeface="M PLUS 1p"/>
              <a:sym typeface="M PLUS 1p"/>
            </a:endParaRPr>
          </a:p>
          <a:p>
            <a:pPr indent="0" lvl="0" marL="457200" rtl="0" algn="l">
              <a:lnSpc>
                <a:spcPct val="120000"/>
              </a:lnSpc>
              <a:spcBef>
                <a:spcPts val="0"/>
              </a:spcBef>
              <a:spcAft>
                <a:spcPts val="0"/>
              </a:spcAft>
              <a:buNone/>
            </a:pPr>
            <a:r>
              <a:t/>
            </a:r>
            <a:endParaRPr sz="1600">
              <a:solidFill>
                <a:srgbClr val="1F1F1F"/>
              </a:solidFill>
              <a:latin typeface="M PLUS 1p"/>
              <a:ea typeface="M PLUS 1p"/>
              <a:cs typeface="M PLUS 1p"/>
              <a:sym typeface="M PLUS 1p"/>
            </a:endParaRPr>
          </a:p>
        </p:txBody>
      </p:sp>
      <p:sp>
        <p:nvSpPr>
          <p:cNvPr id="187" name="Google Shape;187;p18"/>
          <p:cNvSpPr/>
          <p:nvPr/>
        </p:nvSpPr>
        <p:spPr>
          <a:xfrm>
            <a:off x="330250" y="3801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8"/>
          <p:cNvSpPr txBox="1"/>
          <p:nvPr/>
        </p:nvSpPr>
        <p:spPr>
          <a:xfrm>
            <a:off x="374950" y="3503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189" name="Google Shape;189;p18"/>
          <p:cNvSpPr/>
          <p:nvPr/>
        </p:nvSpPr>
        <p:spPr>
          <a:xfrm>
            <a:off x="683763" y="2163475"/>
            <a:ext cx="5905500" cy="2141100"/>
          </a:xfrm>
          <a:prstGeom prst="roundRect">
            <a:avLst>
              <a:gd fmla="val 16667" name="adj"/>
            </a:avLst>
          </a:prstGeom>
          <a:noFill/>
          <a:ln cap="flat" cmpd="sng" w="19050">
            <a:solidFill>
              <a:srgbClr val="595959"/>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18"/>
          <p:cNvSpPr/>
          <p:nvPr/>
        </p:nvSpPr>
        <p:spPr>
          <a:xfrm>
            <a:off x="942062" y="2522050"/>
            <a:ext cx="1606800" cy="1020600"/>
          </a:xfrm>
          <a:prstGeom prst="roundRect">
            <a:avLst>
              <a:gd fmla="val 16667"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50">
                <a:solidFill>
                  <a:srgbClr val="000000"/>
                </a:solidFill>
                <a:highlight>
                  <a:srgbClr val="FFFFFF"/>
                </a:highlight>
                <a:latin typeface="M PLUS 1p"/>
                <a:ea typeface="M PLUS 1p"/>
                <a:cs typeface="M PLUS 1p"/>
                <a:sym typeface="M PLUS 1p"/>
              </a:rPr>
              <a:t>タイミーを利用している店舗が</a:t>
            </a:r>
            <a:r>
              <a:rPr b="1" lang="ja" sz="1250">
                <a:solidFill>
                  <a:srgbClr val="000000"/>
                </a:solidFill>
                <a:highlight>
                  <a:srgbClr val="FFFFFF"/>
                </a:highlight>
                <a:latin typeface="M PLUS 1p"/>
                <a:ea typeface="M PLUS 1p"/>
                <a:cs typeface="M PLUS 1p"/>
                <a:sym typeface="M PLUS 1p"/>
              </a:rPr>
              <a:t>どれだけ存在</a:t>
            </a:r>
            <a:r>
              <a:rPr lang="ja" sz="1250">
                <a:solidFill>
                  <a:srgbClr val="000000"/>
                </a:solidFill>
                <a:highlight>
                  <a:srgbClr val="FFFFFF"/>
                </a:highlight>
                <a:latin typeface="M PLUS 1p"/>
                <a:ea typeface="M PLUS 1p"/>
                <a:cs typeface="M PLUS 1p"/>
                <a:sym typeface="M PLUS 1p"/>
              </a:rPr>
              <a:t>するか</a:t>
            </a:r>
            <a:endParaRPr sz="1300">
              <a:latin typeface="M PLUS 1p"/>
              <a:ea typeface="M PLUS 1p"/>
              <a:cs typeface="M PLUS 1p"/>
              <a:sym typeface="M PLUS 1p"/>
            </a:endParaRPr>
          </a:p>
        </p:txBody>
      </p:sp>
      <p:sp>
        <p:nvSpPr>
          <p:cNvPr id="191" name="Google Shape;191;p18"/>
          <p:cNvSpPr/>
          <p:nvPr/>
        </p:nvSpPr>
        <p:spPr>
          <a:xfrm>
            <a:off x="2750894" y="2165625"/>
            <a:ext cx="1842000" cy="1947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18"/>
          <p:cNvSpPr txBox="1"/>
          <p:nvPr/>
        </p:nvSpPr>
        <p:spPr>
          <a:xfrm>
            <a:off x="1094463" y="3656950"/>
            <a:ext cx="1376700" cy="342900"/>
          </a:xfrm>
          <a:prstGeom prst="rect">
            <a:avLst/>
          </a:prstGeom>
          <a:solidFill>
            <a:srgbClr val="FCE5CD"/>
          </a:solidFill>
          <a:ln cap="flat" cmpd="sng" w="19050">
            <a:solidFill>
              <a:srgbClr val="1F1F1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ja" sz="1500">
                <a:solidFill>
                  <a:srgbClr val="1F1F1F"/>
                </a:solidFill>
                <a:latin typeface="M PLUS 1p"/>
                <a:ea typeface="M PLUS 1p"/>
                <a:cs typeface="M PLUS 1p"/>
                <a:sym typeface="M PLUS 1p"/>
              </a:rPr>
              <a:t>初回掲載</a:t>
            </a:r>
            <a:r>
              <a:rPr b="1" lang="ja" sz="1500">
                <a:solidFill>
                  <a:srgbClr val="1F1F1F"/>
                </a:solidFill>
                <a:latin typeface="M PLUS 1p"/>
                <a:ea typeface="M PLUS 1p"/>
                <a:cs typeface="M PLUS 1p"/>
                <a:sym typeface="M PLUS 1p"/>
              </a:rPr>
              <a:t>率</a:t>
            </a:r>
            <a:endParaRPr b="1" sz="1500">
              <a:solidFill>
                <a:srgbClr val="1F1F1F"/>
              </a:solidFill>
              <a:latin typeface="M PLUS 1p"/>
              <a:ea typeface="M PLUS 1p"/>
              <a:cs typeface="M PLUS 1p"/>
              <a:sym typeface="M PLUS 1p"/>
            </a:endParaRPr>
          </a:p>
          <a:p>
            <a:pPr indent="0" lvl="0" marL="0" rtl="0" algn="ctr">
              <a:spcBef>
                <a:spcPts val="0"/>
              </a:spcBef>
              <a:spcAft>
                <a:spcPts val="0"/>
              </a:spcAft>
              <a:buNone/>
            </a:pPr>
            <a:r>
              <a:t/>
            </a:r>
            <a:endParaRPr b="1" sz="1500">
              <a:solidFill>
                <a:srgbClr val="1F1F1F"/>
              </a:solidFill>
              <a:latin typeface="M PLUS 1p"/>
              <a:ea typeface="M PLUS 1p"/>
              <a:cs typeface="M PLUS 1p"/>
              <a:sym typeface="M PLUS 1p"/>
            </a:endParaRPr>
          </a:p>
        </p:txBody>
      </p:sp>
      <p:sp>
        <p:nvSpPr>
          <p:cNvPr id="193" name="Google Shape;193;p18"/>
          <p:cNvSpPr txBox="1"/>
          <p:nvPr/>
        </p:nvSpPr>
        <p:spPr>
          <a:xfrm>
            <a:off x="2829363" y="3656950"/>
            <a:ext cx="1590000" cy="342900"/>
          </a:xfrm>
          <a:prstGeom prst="rect">
            <a:avLst/>
          </a:prstGeom>
          <a:solidFill>
            <a:srgbClr val="FCE5CD"/>
          </a:solidFill>
          <a:ln cap="flat" cmpd="sng" w="19050">
            <a:solidFill>
              <a:srgbClr val="1F1F1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ja" sz="1500">
                <a:solidFill>
                  <a:srgbClr val="1F1F1F"/>
                </a:solidFill>
                <a:latin typeface="M PLUS 1p"/>
                <a:ea typeface="M PLUS 1p"/>
                <a:cs typeface="M PLUS 1p"/>
                <a:sym typeface="M PLUS 1p"/>
              </a:rPr>
              <a:t>翌月</a:t>
            </a:r>
            <a:r>
              <a:rPr b="1" lang="ja" sz="1500">
                <a:solidFill>
                  <a:srgbClr val="1F1F1F"/>
                </a:solidFill>
                <a:latin typeface="M PLUS 1p"/>
                <a:ea typeface="M PLUS 1p"/>
                <a:cs typeface="M PLUS 1p"/>
                <a:sym typeface="M PLUS 1p"/>
              </a:rPr>
              <a:t>継続率</a:t>
            </a:r>
            <a:endParaRPr b="1" sz="1500">
              <a:solidFill>
                <a:srgbClr val="1F1F1F"/>
              </a:solidFill>
              <a:latin typeface="M PLUS 1p"/>
              <a:ea typeface="M PLUS 1p"/>
              <a:cs typeface="M PLUS 1p"/>
              <a:sym typeface="M PLUS 1p"/>
            </a:endParaRPr>
          </a:p>
          <a:p>
            <a:pPr indent="0" lvl="0" marL="0" rtl="0" algn="ctr">
              <a:spcBef>
                <a:spcPts val="0"/>
              </a:spcBef>
              <a:spcAft>
                <a:spcPts val="0"/>
              </a:spcAft>
              <a:buNone/>
            </a:pPr>
            <a:r>
              <a:t/>
            </a:r>
            <a:endParaRPr b="1" sz="1500">
              <a:solidFill>
                <a:srgbClr val="1F1F1F"/>
              </a:solidFill>
              <a:latin typeface="M PLUS 1p"/>
              <a:ea typeface="M PLUS 1p"/>
              <a:cs typeface="M PLUS 1p"/>
              <a:sym typeface="M PLUS 1p"/>
            </a:endParaRPr>
          </a:p>
        </p:txBody>
      </p:sp>
      <p:sp>
        <p:nvSpPr>
          <p:cNvPr id="194" name="Google Shape;194;p18"/>
          <p:cNvSpPr txBox="1"/>
          <p:nvPr/>
        </p:nvSpPr>
        <p:spPr>
          <a:xfrm>
            <a:off x="4594063" y="3656950"/>
            <a:ext cx="1842000" cy="342900"/>
          </a:xfrm>
          <a:prstGeom prst="rect">
            <a:avLst/>
          </a:prstGeom>
          <a:solidFill>
            <a:srgbClr val="FCE5CD"/>
          </a:solidFill>
          <a:ln cap="flat" cmpd="sng" w="19050">
            <a:solidFill>
              <a:srgbClr val="1F1F1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ja" sz="1500">
                <a:solidFill>
                  <a:srgbClr val="1F1F1F"/>
                </a:solidFill>
                <a:latin typeface="M PLUS 1p"/>
                <a:ea typeface="M PLUS 1p"/>
                <a:cs typeface="M PLUS 1p"/>
                <a:sym typeface="M PLUS 1p"/>
              </a:rPr>
              <a:t>AA当たり募集</a:t>
            </a:r>
            <a:r>
              <a:rPr b="1" lang="ja" sz="1500">
                <a:solidFill>
                  <a:srgbClr val="1F1F1F"/>
                </a:solidFill>
                <a:latin typeface="M PLUS 1p"/>
                <a:ea typeface="M PLUS 1p"/>
                <a:cs typeface="M PLUS 1p"/>
                <a:sym typeface="M PLUS 1p"/>
              </a:rPr>
              <a:t>人</a:t>
            </a:r>
            <a:r>
              <a:rPr b="1" lang="ja" sz="1500">
                <a:solidFill>
                  <a:srgbClr val="1F1F1F"/>
                </a:solidFill>
                <a:latin typeface="M PLUS 1p"/>
                <a:ea typeface="M PLUS 1p"/>
                <a:cs typeface="M PLUS 1p"/>
                <a:sym typeface="M PLUS 1p"/>
              </a:rPr>
              <a:t>数</a:t>
            </a:r>
            <a:endParaRPr b="1" sz="1500">
              <a:solidFill>
                <a:srgbClr val="1F1F1F"/>
              </a:solidFill>
              <a:latin typeface="M PLUS 1p"/>
              <a:ea typeface="M PLUS 1p"/>
              <a:cs typeface="M PLUS 1p"/>
              <a:sym typeface="M PLUS 1p"/>
            </a:endParaRPr>
          </a:p>
          <a:p>
            <a:pPr indent="0" lvl="0" marL="0" rtl="0" algn="ctr">
              <a:spcBef>
                <a:spcPts val="0"/>
              </a:spcBef>
              <a:spcAft>
                <a:spcPts val="0"/>
              </a:spcAft>
              <a:buNone/>
            </a:pPr>
            <a:r>
              <a:t/>
            </a:r>
            <a:endParaRPr b="1" sz="1500">
              <a:solidFill>
                <a:srgbClr val="1F1F1F"/>
              </a:solidFill>
              <a:latin typeface="M PLUS 1p"/>
              <a:ea typeface="M PLUS 1p"/>
              <a:cs typeface="M PLUS 1p"/>
              <a:sym typeface="M PLUS 1p"/>
            </a:endParaRPr>
          </a:p>
        </p:txBody>
      </p:sp>
      <p:sp>
        <p:nvSpPr>
          <p:cNvPr id="195" name="Google Shape;195;p18"/>
          <p:cNvSpPr txBox="1"/>
          <p:nvPr/>
        </p:nvSpPr>
        <p:spPr>
          <a:xfrm>
            <a:off x="6777913" y="3573050"/>
            <a:ext cx="1606800" cy="804900"/>
          </a:xfrm>
          <a:prstGeom prst="rect">
            <a:avLst/>
          </a:prstGeom>
          <a:solidFill>
            <a:srgbClr val="FFFFFF"/>
          </a:solidFill>
          <a:ln cap="flat" cmpd="sng" w="9525">
            <a:solidFill>
              <a:srgbClr val="1F1F1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ja" sz="1300">
                <a:solidFill>
                  <a:srgbClr val="1F1F1F"/>
                </a:solidFill>
                <a:latin typeface="M PLUS 1p"/>
                <a:ea typeface="M PLUS 1p"/>
                <a:cs typeface="M PLUS 1p"/>
                <a:sym typeface="M PLUS 1p"/>
              </a:rPr>
              <a:t>・</a:t>
            </a:r>
            <a:r>
              <a:rPr lang="ja" sz="1300">
                <a:solidFill>
                  <a:srgbClr val="1F1F1F"/>
                </a:solidFill>
                <a:latin typeface="M PLUS 1p"/>
                <a:ea typeface="M PLUS 1p"/>
                <a:cs typeface="M PLUS 1p"/>
                <a:sym typeface="M PLUS 1p"/>
              </a:rPr>
              <a:t>求人</a:t>
            </a:r>
            <a:r>
              <a:rPr lang="ja" sz="1300">
                <a:solidFill>
                  <a:srgbClr val="1F1F1F"/>
                </a:solidFill>
                <a:latin typeface="M PLUS 1p"/>
                <a:ea typeface="M PLUS 1p"/>
                <a:cs typeface="M PLUS 1p"/>
                <a:sym typeface="M PLUS 1p"/>
              </a:rPr>
              <a:t>当たりマッチング数</a:t>
            </a:r>
            <a:endParaRPr sz="1300">
              <a:solidFill>
                <a:srgbClr val="1F1F1F"/>
              </a:solidFill>
              <a:latin typeface="M PLUS 1p"/>
              <a:ea typeface="M PLUS 1p"/>
              <a:cs typeface="M PLUS 1p"/>
              <a:sym typeface="M PLUS 1p"/>
            </a:endParaRPr>
          </a:p>
          <a:p>
            <a:pPr indent="0" lvl="0" marL="0" rtl="0" algn="l">
              <a:spcBef>
                <a:spcPts val="0"/>
              </a:spcBef>
              <a:spcAft>
                <a:spcPts val="0"/>
              </a:spcAft>
              <a:buNone/>
            </a:pPr>
            <a:r>
              <a:rPr lang="ja" sz="1300">
                <a:solidFill>
                  <a:srgbClr val="1F1F1F"/>
                </a:solidFill>
                <a:latin typeface="M PLUS 1p"/>
                <a:ea typeface="M PLUS 1p"/>
                <a:cs typeface="M PLUS 1p"/>
                <a:sym typeface="M PLUS 1p"/>
              </a:rPr>
              <a:t>・キャンセル率</a:t>
            </a:r>
            <a:endParaRPr sz="1500">
              <a:solidFill>
                <a:srgbClr val="1F1F1F"/>
              </a:solidFill>
              <a:latin typeface="M PLUS 1p"/>
              <a:ea typeface="M PLUS 1p"/>
              <a:cs typeface="M PLUS 1p"/>
              <a:sym typeface="M PLUS 1p"/>
            </a:endParaRPr>
          </a:p>
        </p:txBody>
      </p:sp>
      <p:sp>
        <p:nvSpPr>
          <p:cNvPr id="196" name="Google Shape;196;p18"/>
          <p:cNvSpPr/>
          <p:nvPr/>
        </p:nvSpPr>
        <p:spPr>
          <a:xfrm>
            <a:off x="2807887" y="2522050"/>
            <a:ext cx="1662300" cy="1020600"/>
          </a:xfrm>
          <a:prstGeom prst="roundRect">
            <a:avLst>
              <a:gd fmla="val 16667"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250">
                <a:solidFill>
                  <a:srgbClr val="000000"/>
                </a:solidFill>
                <a:highlight>
                  <a:srgbClr val="FFFFFF"/>
                </a:highlight>
                <a:latin typeface="M PLUS 1p"/>
                <a:ea typeface="M PLUS 1p"/>
                <a:cs typeface="M PLUS 1p"/>
                <a:sym typeface="M PLUS 1p"/>
              </a:rPr>
              <a:t>店舗が</a:t>
            </a:r>
            <a:r>
              <a:rPr b="1" lang="ja" sz="1250">
                <a:solidFill>
                  <a:srgbClr val="000000"/>
                </a:solidFill>
                <a:highlight>
                  <a:srgbClr val="FFFFFF"/>
                </a:highlight>
                <a:latin typeface="M PLUS 1p"/>
                <a:ea typeface="M PLUS 1p"/>
                <a:cs typeface="M PLUS 1p"/>
                <a:sym typeface="M PLUS 1p"/>
              </a:rPr>
              <a:t>どれくらい継続して</a:t>
            </a:r>
            <a:r>
              <a:rPr lang="ja" sz="1250">
                <a:solidFill>
                  <a:srgbClr val="000000"/>
                </a:solidFill>
                <a:highlight>
                  <a:srgbClr val="FFFFFF"/>
                </a:highlight>
                <a:latin typeface="M PLUS 1p"/>
                <a:ea typeface="M PLUS 1p"/>
                <a:cs typeface="M PLUS 1p"/>
                <a:sym typeface="M PLUS 1p"/>
              </a:rPr>
              <a:t>タイミーを利用しているか</a:t>
            </a:r>
            <a:endParaRPr sz="1250">
              <a:solidFill>
                <a:srgbClr val="000000"/>
              </a:solidFill>
              <a:highlight>
                <a:srgbClr val="FFFFFF"/>
              </a:highlight>
              <a:latin typeface="M PLUS 1p"/>
              <a:ea typeface="M PLUS 1p"/>
              <a:cs typeface="M PLUS 1p"/>
              <a:sym typeface="M PLUS 1p"/>
            </a:endParaRPr>
          </a:p>
        </p:txBody>
      </p:sp>
      <p:sp>
        <p:nvSpPr>
          <p:cNvPr id="197" name="Google Shape;197;p18"/>
          <p:cNvSpPr/>
          <p:nvPr/>
        </p:nvSpPr>
        <p:spPr>
          <a:xfrm>
            <a:off x="4667808" y="2522050"/>
            <a:ext cx="1617000" cy="1020600"/>
          </a:xfrm>
          <a:prstGeom prst="roundRect">
            <a:avLst>
              <a:gd fmla="val 16667"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250">
                <a:solidFill>
                  <a:srgbClr val="000000"/>
                </a:solidFill>
                <a:highlight>
                  <a:srgbClr val="FFFFFF"/>
                </a:highlight>
                <a:latin typeface="M PLUS 1p"/>
                <a:ea typeface="M PLUS 1p"/>
                <a:cs typeface="M PLUS 1p"/>
                <a:sym typeface="M PLUS 1p"/>
              </a:rPr>
              <a:t>店舗が</a:t>
            </a:r>
            <a:r>
              <a:rPr b="1" lang="ja" sz="1250">
                <a:solidFill>
                  <a:srgbClr val="000000"/>
                </a:solidFill>
                <a:highlight>
                  <a:srgbClr val="FFFFFF"/>
                </a:highlight>
                <a:latin typeface="M PLUS 1p"/>
                <a:ea typeface="M PLUS 1p"/>
                <a:cs typeface="M PLUS 1p"/>
                <a:sym typeface="M PLUS 1p"/>
              </a:rPr>
              <a:t>どのくらいたくさん</a:t>
            </a:r>
            <a:r>
              <a:rPr lang="ja" sz="1250">
                <a:solidFill>
                  <a:srgbClr val="000000"/>
                </a:solidFill>
                <a:highlight>
                  <a:srgbClr val="FFFFFF"/>
                </a:highlight>
                <a:latin typeface="M PLUS 1p"/>
                <a:ea typeface="M PLUS 1p"/>
                <a:cs typeface="M PLUS 1p"/>
                <a:sym typeface="M PLUS 1p"/>
              </a:rPr>
              <a:t>タイミーを使っているか</a:t>
            </a:r>
            <a:endParaRPr sz="1250">
              <a:solidFill>
                <a:srgbClr val="000000"/>
              </a:solidFill>
              <a:highlight>
                <a:srgbClr val="FFFFFF"/>
              </a:highlight>
              <a:latin typeface="M PLUS 1p"/>
              <a:ea typeface="M PLUS 1p"/>
              <a:cs typeface="M PLUS 1p"/>
              <a:sym typeface="M PLUS 1p"/>
            </a:endParaRPr>
          </a:p>
        </p:txBody>
      </p:sp>
      <p:sp>
        <p:nvSpPr>
          <p:cNvPr id="198" name="Google Shape;198;p18"/>
          <p:cNvSpPr/>
          <p:nvPr/>
        </p:nvSpPr>
        <p:spPr>
          <a:xfrm>
            <a:off x="6719338" y="2522050"/>
            <a:ext cx="1740900" cy="1020600"/>
          </a:xfrm>
          <a:prstGeom prst="roundRect">
            <a:avLst>
              <a:gd fmla="val 16667"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250">
                <a:solidFill>
                  <a:srgbClr val="000000"/>
                </a:solidFill>
                <a:latin typeface="M PLUS 1p"/>
                <a:ea typeface="M PLUS 1p"/>
                <a:cs typeface="M PLUS 1p"/>
                <a:sym typeface="M PLUS 1p"/>
              </a:rPr>
              <a:t>マッチングが</a:t>
            </a:r>
            <a:r>
              <a:rPr b="1" lang="ja" sz="1250">
                <a:solidFill>
                  <a:srgbClr val="000000"/>
                </a:solidFill>
                <a:latin typeface="M PLUS 1p"/>
                <a:ea typeface="M PLUS 1p"/>
                <a:cs typeface="M PLUS 1p"/>
                <a:sym typeface="M PLUS 1p"/>
              </a:rPr>
              <a:t>効率的に生じていて稼働に</a:t>
            </a:r>
            <a:r>
              <a:rPr lang="ja" sz="1250">
                <a:solidFill>
                  <a:srgbClr val="000000"/>
                </a:solidFill>
                <a:latin typeface="M PLUS 1p"/>
                <a:ea typeface="M PLUS 1p"/>
                <a:cs typeface="M PLUS 1p"/>
                <a:sym typeface="M PLUS 1p"/>
              </a:rPr>
              <a:t>繋がっているか</a:t>
            </a:r>
            <a:endParaRPr sz="1250">
              <a:solidFill>
                <a:srgbClr val="000000"/>
              </a:solidFill>
              <a:latin typeface="M PLUS 1p"/>
              <a:ea typeface="M PLUS 1p"/>
              <a:cs typeface="M PLUS 1p"/>
              <a:sym typeface="M PLUS 1p"/>
            </a:endParaRPr>
          </a:p>
          <a:p>
            <a:pPr indent="0" lvl="0" marL="0" marR="0" rtl="0" algn="ctr">
              <a:lnSpc>
                <a:spcPct val="100000"/>
              </a:lnSpc>
              <a:spcBef>
                <a:spcPts val="0"/>
              </a:spcBef>
              <a:spcAft>
                <a:spcPts val="0"/>
              </a:spcAft>
              <a:buNone/>
            </a:pPr>
            <a:r>
              <a:rPr lang="ja" sz="1250">
                <a:solidFill>
                  <a:srgbClr val="000000"/>
                </a:solidFill>
                <a:latin typeface="M PLUS 1p"/>
                <a:ea typeface="M PLUS 1p"/>
                <a:cs typeface="M PLUS 1p"/>
                <a:sym typeface="M PLUS 1p"/>
              </a:rPr>
              <a:t>(ガードレール指標)</a:t>
            </a:r>
            <a:endParaRPr sz="1250">
              <a:solidFill>
                <a:srgbClr val="000000"/>
              </a:solidFill>
              <a:latin typeface="M PLUS 1p"/>
              <a:ea typeface="M PLUS 1p"/>
              <a:cs typeface="M PLUS 1p"/>
              <a:sym typeface="M PLUS 1p"/>
            </a:endParaRPr>
          </a:p>
        </p:txBody>
      </p:sp>
      <p:sp>
        <p:nvSpPr>
          <p:cNvPr id="199" name="Google Shape;199;p18"/>
          <p:cNvSpPr txBox="1"/>
          <p:nvPr/>
        </p:nvSpPr>
        <p:spPr>
          <a:xfrm>
            <a:off x="927363" y="2209150"/>
            <a:ext cx="1671300" cy="342900"/>
          </a:xfrm>
          <a:prstGeom prst="rect">
            <a:avLst/>
          </a:prstGeom>
          <a:solidFill>
            <a:srgbClr val="FFF2C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1600">
                <a:solidFill>
                  <a:srgbClr val="1F1F1F"/>
                </a:solidFill>
                <a:latin typeface="M PLUS 1p"/>
                <a:ea typeface="M PLUS 1p"/>
                <a:cs typeface="M PLUS 1p"/>
                <a:sym typeface="M PLUS 1p"/>
              </a:rPr>
              <a:t>広さ</a:t>
            </a:r>
            <a:endParaRPr b="1" sz="1600">
              <a:solidFill>
                <a:srgbClr val="1F1F1F"/>
              </a:solidFill>
              <a:latin typeface="M PLUS 1p"/>
              <a:ea typeface="M PLUS 1p"/>
              <a:cs typeface="M PLUS 1p"/>
              <a:sym typeface="M PLUS 1p"/>
            </a:endParaRPr>
          </a:p>
        </p:txBody>
      </p:sp>
      <p:sp>
        <p:nvSpPr>
          <p:cNvPr id="200" name="Google Shape;200;p18"/>
          <p:cNvSpPr txBox="1"/>
          <p:nvPr/>
        </p:nvSpPr>
        <p:spPr>
          <a:xfrm>
            <a:off x="2797597" y="2209150"/>
            <a:ext cx="1671300" cy="342900"/>
          </a:xfrm>
          <a:prstGeom prst="rect">
            <a:avLst/>
          </a:prstGeom>
          <a:solidFill>
            <a:srgbClr val="F4CCC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1600">
                <a:solidFill>
                  <a:srgbClr val="1F1F1F"/>
                </a:solidFill>
                <a:latin typeface="M PLUS 1p"/>
                <a:ea typeface="M PLUS 1p"/>
                <a:cs typeface="M PLUS 1p"/>
                <a:sym typeface="M PLUS 1p"/>
              </a:rPr>
              <a:t>継続</a:t>
            </a:r>
            <a:endParaRPr b="1" sz="1600">
              <a:solidFill>
                <a:srgbClr val="1F1F1F"/>
              </a:solidFill>
              <a:latin typeface="M PLUS 1p"/>
              <a:ea typeface="M PLUS 1p"/>
              <a:cs typeface="M PLUS 1p"/>
              <a:sym typeface="M PLUS 1p"/>
            </a:endParaRPr>
          </a:p>
        </p:txBody>
      </p:sp>
      <p:sp>
        <p:nvSpPr>
          <p:cNvPr id="201" name="Google Shape;201;p18"/>
          <p:cNvSpPr txBox="1"/>
          <p:nvPr/>
        </p:nvSpPr>
        <p:spPr>
          <a:xfrm>
            <a:off x="4679412" y="2209150"/>
            <a:ext cx="1671300" cy="342900"/>
          </a:xfrm>
          <a:prstGeom prst="rect">
            <a:avLst/>
          </a:prstGeom>
          <a:solidFill>
            <a:srgbClr val="D9EAD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1600">
                <a:solidFill>
                  <a:srgbClr val="1F1F1F"/>
                </a:solidFill>
                <a:latin typeface="M PLUS 1p"/>
                <a:ea typeface="M PLUS 1p"/>
                <a:cs typeface="M PLUS 1p"/>
                <a:sym typeface="M PLUS 1p"/>
              </a:rPr>
              <a:t>深さ</a:t>
            </a:r>
            <a:endParaRPr b="1" sz="1600">
              <a:solidFill>
                <a:srgbClr val="1F1F1F"/>
              </a:solidFill>
              <a:latin typeface="M PLUS 1p"/>
              <a:ea typeface="M PLUS 1p"/>
              <a:cs typeface="M PLUS 1p"/>
              <a:sym typeface="M PLUS 1p"/>
            </a:endParaRPr>
          </a:p>
        </p:txBody>
      </p:sp>
      <p:sp>
        <p:nvSpPr>
          <p:cNvPr id="202" name="Google Shape;202;p18"/>
          <p:cNvSpPr txBox="1"/>
          <p:nvPr/>
        </p:nvSpPr>
        <p:spPr>
          <a:xfrm>
            <a:off x="6772591" y="2209150"/>
            <a:ext cx="1634400" cy="342900"/>
          </a:xfrm>
          <a:prstGeom prst="rect">
            <a:avLst/>
          </a:prstGeom>
          <a:solidFill>
            <a:srgbClr val="D9D9D9"/>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1600">
                <a:solidFill>
                  <a:srgbClr val="1F1F1F"/>
                </a:solidFill>
                <a:latin typeface="M PLUS 1p"/>
                <a:ea typeface="M PLUS 1p"/>
                <a:cs typeface="M PLUS 1p"/>
                <a:sym typeface="M PLUS 1p"/>
              </a:rPr>
              <a:t>効率</a:t>
            </a:r>
            <a:endParaRPr b="1" sz="1600">
              <a:solidFill>
                <a:srgbClr val="1F1F1F"/>
              </a:solidFill>
              <a:latin typeface="M PLUS 1p"/>
              <a:ea typeface="M PLUS 1p"/>
              <a:cs typeface="M PLUS 1p"/>
              <a:sym typeface="M PLUS 1p"/>
            </a:endParaRPr>
          </a:p>
          <a:p>
            <a:pPr indent="0" lvl="0" marL="0" rtl="0" algn="ctr">
              <a:spcBef>
                <a:spcPts val="0"/>
              </a:spcBef>
              <a:spcAft>
                <a:spcPts val="0"/>
              </a:spcAft>
              <a:buNone/>
            </a:pPr>
            <a:r>
              <a:t/>
            </a:r>
            <a:endParaRPr b="1" sz="1600">
              <a:solidFill>
                <a:srgbClr val="1F1F1F"/>
              </a:solidFill>
              <a:latin typeface="M PLUS 1p"/>
              <a:ea typeface="M PLUS 1p"/>
              <a:cs typeface="M PLUS 1p"/>
              <a:sym typeface="M PLUS 1p"/>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19"/>
          <p:cNvSpPr txBox="1"/>
          <p:nvPr/>
        </p:nvSpPr>
        <p:spPr>
          <a:xfrm>
            <a:off x="432350" y="860575"/>
            <a:ext cx="8620500" cy="1209000"/>
          </a:xfrm>
          <a:prstGeom prst="rect">
            <a:avLst/>
          </a:prstGeom>
          <a:noFill/>
          <a:ln>
            <a:noFill/>
          </a:ln>
        </p:spPr>
        <p:txBody>
          <a:bodyPr anchorCtr="0" anchor="t" bIns="91425" lIns="91425" spcFirstLastPara="1" rIns="91425" wrap="square" tIns="91425">
            <a:noAutofit/>
          </a:bodyPr>
          <a:lstStyle/>
          <a:p>
            <a:pPr indent="-245600" lvl="0" marL="3960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1ヶ月目の落ち幅が非常に大きく、以降は安定することから</a:t>
            </a:r>
            <a:r>
              <a:rPr lang="ja" sz="1600">
                <a:solidFill>
                  <a:srgbClr val="1F1F1F"/>
                </a:solidFill>
                <a:latin typeface="M PLUS 1p"/>
                <a:ea typeface="M PLUS 1p"/>
                <a:cs typeface="M PLUS 1p"/>
                <a:sym typeface="M PLUS 1p"/>
              </a:rPr>
              <a:t>、</a:t>
            </a:r>
            <a:r>
              <a:rPr lang="ja" sz="1600">
                <a:solidFill>
                  <a:srgbClr val="1F1F1F"/>
                </a:solidFill>
                <a:latin typeface="M PLUS 1p"/>
                <a:ea typeface="M PLUS 1p"/>
                <a:cs typeface="M PLUS 1p"/>
                <a:sym typeface="M PLUS 1p"/>
              </a:rPr>
              <a:t>本分析では1ヶ月目の継続率に着目</a:t>
            </a:r>
            <a:endParaRPr sz="1600">
              <a:solidFill>
                <a:srgbClr val="1F1F1F"/>
              </a:solidFill>
              <a:latin typeface="M PLUS 1p"/>
              <a:ea typeface="M PLUS 1p"/>
              <a:cs typeface="M PLUS 1p"/>
              <a:sym typeface="M PLUS 1p"/>
            </a:endParaRPr>
          </a:p>
          <a:p>
            <a:pPr indent="-245600" lvl="0" marL="3960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厳密には初回</a:t>
            </a:r>
            <a:r>
              <a:rPr lang="ja" sz="1600">
                <a:solidFill>
                  <a:srgbClr val="1F1F1F"/>
                </a:solidFill>
                <a:latin typeface="M PLUS 1p"/>
                <a:ea typeface="M PLUS 1p"/>
                <a:cs typeface="M PLUS 1p"/>
                <a:sym typeface="M PLUS 1p"/>
              </a:rPr>
              <a:t>掲載</a:t>
            </a:r>
            <a:r>
              <a:rPr lang="ja" sz="1600">
                <a:solidFill>
                  <a:srgbClr val="1F1F1F"/>
                </a:solidFill>
                <a:latin typeface="M PLUS 1p"/>
                <a:ea typeface="M PLUS 1p"/>
                <a:cs typeface="M PLUS 1p"/>
                <a:sym typeface="M PLUS 1p"/>
              </a:rPr>
              <a:t>から31-60日目の継続に着目し、以降これを「翌月継続率」と呼ぶ</a:t>
            </a:r>
            <a:endParaRPr sz="1600">
              <a:solidFill>
                <a:srgbClr val="1F1F1F"/>
              </a:solidFill>
              <a:latin typeface="M PLUS 1p"/>
              <a:ea typeface="M PLUS 1p"/>
              <a:cs typeface="M PLUS 1p"/>
              <a:sym typeface="M PLUS 1p"/>
            </a:endParaRPr>
          </a:p>
        </p:txBody>
      </p:sp>
      <p:sp>
        <p:nvSpPr>
          <p:cNvPr id="208" name="Google Shape;208;p19"/>
          <p:cNvSpPr txBox="1"/>
          <p:nvPr/>
        </p:nvSpPr>
        <p:spPr>
          <a:xfrm>
            <a:off x="712300" y="294475"/>
            <a:ext cx="70527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なぜ”翌月”継続率か</a:t>
            </a:r>
            <a:endParaRPr b="1" sz="2000">
              <a:solidFill>
                <a:srgbClr val="1F1F1F"/>
              </a:solidFill>
              <a:latin typeface="M PLUS 1p"/>
              <a:ea typeface="M PLUS 1p"/>
              <a:cs typeface="M PLUS 1p"/>
              <a:sym typeface="M PLUS 1p"/>
            </a:endParaRPr>
          </a:p>
        </p:txBody>
      </p:sp>
      <p:sp>
        <p:nvSpPr>
          <p:cNvPr id="209" name="Google Shape;209;p1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10" name="Google Shape;21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11" name="Google Shape;211;p19"/>
          <p:cNvSpPr/>
          <p:nvPr/>
        </p:nvSpPr>
        <p:spPr>
          <a:xfrm>
            <a:off x="330250" y="3801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9"/>
          <p:cNvSpPr txBox="1"/>
          <p:nvPr/>
        </p:nvSpPr>
        <p:spPr>
          <a:xfrm>
            <a:off x="374950" y="3503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pic>
        <p:nvPicPr>
          <p:cNvPr id="213" name="Google Shape;213;p19" title="グラフ"/>
          <p:cNvPicPr preferRelativeResize="0"/>
          <p:nvPr/>
        </p:nvPicPr>
        <p:blipFill>
          <a:blip r:embed="rId3">
            <a:alphaModFix/>
          </a:blip>
          <a:stretch>
            <a:fillRect/>
          </a:stretch>
        </p:blipFill>
        <p:spPr>
          <a:xfrm>
            <a:off x="2144247" y="2069576"/>
            <a:ext cx="4403904" cy="30020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BBBB7"/>
        </a:solidFill>
      </p:bgPr>
    </p:bg>
    <p:spTree>
      <p:nvGrpSpPr>
        <p:cNvPr id="217" name="Shape 217"/>
        <p:cNvGrpSpPr/>
        <p:nvPr/>
      </p:nvGrpSpPr>
      <p:grpSpPr>
        <a:xfrm>
          <a:off x="0" y="0"/>
          <a:ext cx="0" cy="0"/>
          <a:chOff x="0" y="0"/>
          <a:chExt cx="0" cy="0"/>
        </a:xfrm>
      </p:grpSpPr>
      <p:sp>
        <p:nvSpPr>
          <p:cNvPr id="218" name="Google Shape;218;p20"/>
          <p:cNvSpPr txBox="1"/>
          <p:nvPr/>
        </p:nvSpPr>
        <p:spPr>
          <a:xfrm>
            <a:off x="1795200" y="2200650"/>
            <a:ext cx="5553600" cy="7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rgbClr val="FFFFFF"/>
                </a:solidFill>
                <a:latin typeface="M PLUS 1p"/>
                <a:ea typeface="M PLUS 1p"/>
                <a:cs typeface="M PLUS 1p"/>
                <a:sym typeface="M PLUS 1p"/>
              </a:rPr>
              <a:t>翌月継続率に関する現状</a:t>
            </a:r>
            <a:endParaRPr b="1" sz="3200">
              <a:solidFill>
                <a:srgbClr val="FFFFFF"/>
              </a:solidFill>
              <a:latin typeface="M PLUS 1p"/>
              <a:ea typeface="M PLUS 1p"/>
              <a:cs typeface="M PLUS 1p"/>
              <a:sym typeface="M PLUS 1p"/>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21"/>
          <p:cNvSpPr txBox="1"/>
          <p:nvPr/>
        </p:nvSpPr>
        <p:spPr>
          <a:xfrm>
            <a:off x="432350" y="860575"/>
            <a:ext cx="8620500" cy="12090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翌月</a:t>
            </a:r>
            <a:r>
              <a:rPr lang="ja" sz="1600">
                <a:solidFill>
                  <a:srgbClr val="1F1F1F"/>
                </a:solidFill>
                <a:latin typeface="M PLUS 1p"/>
                <a:ea typeface="M PLUS 1p"/>
                <a:cs typeface="M PLUS 1p"/>
                <a:sym typeface="M PLUS 1p"/>
              </a:rPr>
              <a:t>継続率はhigh touchと比較するとlow touchでは</a:t>
            </a:r>
            <a:r>
              <a:rPr b="1" lang="ja" sz="1600">
                <a:solidFill>
                  <a:srgbClr val="1F1F1F"/>
                </a:solidFill>
                <a:latin typeface="M PLUS 1p"/>
                <a:ea typeface="M PLUS 1p"/>
                <a:cs typeface="M PLUS 1p"/>
                <a:sym typeface="M PLUS 1p"/>
              </a:rPr>
              <a:t>22%ほど低くなっている</a:t>
            </a:r>
            <a:endParaRPr b="1"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分析インパクトが見込める、かつ、その結果をGrowthやスコアリングPJTに繋げられるlow touch領域に分析のスコープにすることとした</a:t>
            </a:r>
            <a:endParaRPr sz="16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t/>
            </a:r>
            <a:endParaRPr sz="1600">
              <a:solidFill>
                <a:srgbClr val="1F1F1F"/>
              </a:solidFill>
              <a:latin typeface="M PLUS 1p"/>
              <a:ea typeface="M PLUS 1p"/>
              <a:cs typeface="M PLUS 1p"/>
              <a:sym typeface="M PLUS 1p"/>
            </a:endParaRPr>
          </a:p>
        </p:txBody>
      </p:sp>
      <p:sp>
        <p:nvSpPr>
          <p:cNvPr id="224" name="Google Shape;224;p21"/>
          <p:cNvSpPr txBox="1"/>
          <p:nvPr/>
        </p:nvSpPr>
        <p:spPr>
          <a:xfrm>
            <a:off x="712300" y="294475"/>
            <a:ext cx="70527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特に</a:t>
            </a:r>
            <a:r>
              <a:rPr b="1" lang="ja" sz="2000">
                <a:solidFill>
                  <a:srgbClr val="1F1F1F"/>
                </a:solidFill>
                <a:latin typeface="M PLUS 1p"/>
                <a:ea typeface="M PLUS 1p"/>
                <a:cs typeface="M PLUS 1p"/>
                <a:sym typeface="M PLUS 1p"/>
              </a:rPr>
              <a:t>翌月継続率が低いlow touchに着目 </a:t>
            </a:r>
            <a:endParaRPr b="1" sz="2000">
              <a:solidFill>
                <a:srgbClr val="1F1F1F"/>
              </a:solidFill>
              <a:latin typeface="M PLUS 1p"/>
              <a:ea typeface="M PLUS 1p"/>
              <a:cs typeface="M PLUS 1p"/>
              <a:sym typeface="M PLUS 1p"/>
            </a:endParaRPr>
          </a:p>
        </p:txBody>
      </p:sp>
      <p:sp>
        <p:nvSpPr>
          <p:cNvPr id="225" name="Google Shape;225;p2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26" name="Google Shape;226;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27" name="Google Shape;227;p21"/>
          <p:cNvSpPr/>
          <p:nvPr/>
        </p:nvSpPr>
        <p:spPr>
          <a:xfrm>
            <a:off x="330250" y="380175"/>
            <a:ext cx="342900" cy="342900"/>
          </a:xfrm>
          <a:prstGeom prst="ellipse">
            <a:avLst/>
          </a:prstGeom>
          <a:solidFill>
            <a:srgbClr val="5BBB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1"/>
          <p:cNvSpPr txBox="1"/>
          <p:nvPr/>
        </p:nvSpPr>
        <p:spPr>
          <a:xfrm>
            <a:off x="374950" y="3503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pic>
        <p:nvPicPr>
          <p:cNvPr id="229" name="Google Shape;229;p21" title="グラフ"/>
          <p:cNvPicPr preferRelativeResize="0"/>
          <p:nvPr/>
        </p:nvPicPr>
        <p:blipFill>
          <a:blip r:embed="rId3">
            <a:alphaModFix/>
          </a:blip>
          <a:stretch>
            <a:fillRect/>
          </a:stretch>
        </p:blipFill>
        <p:spPr>
          <a:xfrm>
            <a:off x="2070025" y="1913975"/>
            <a:ext cx="5003940" cy="30940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0451"/>
        </a:solidFill>
      </p:bgPr>
    </p:bg>
    <p:spTree>
      <p:nvGrpSpPr>
        <p:cNvPr id="233" name="Shape 233"/>
        <p:cNvGrpSpPr/>
        <p:nvPr/>
      </p:nvGrpSpPr>
      <p:grpSpPr>
        <a:xfrm>
          <a:off x="0" y="0"/>
          <a:ext cx="0" cy="0"/>
          <a:chOff x="0" y="0"/>
          <a:chExt cx="0" cy="0"/>
        </a:xfrm>
      </p:grpSpPr>
      <p:sp>
        <p:nvSpPr>
          <p:cNvPr id="234" name="Google Shape;234;p22"/>
          <p:cNvSpPr txBox="1"/>
          <p:nvPr/>
        </p:nvSpPr>
        <p:spPr>
          <a:xfrm>
            <a:off x="377100" y="2200650"/>
            <a:ext cx="8389800" cy="7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chemeClr val="lt1"/>
                </a:solidFill>
                <a:latin typeface="M PLUS 1p"/>
                <a:ea typeface="M PLUS 1p"/>
                <a:cs typeface="M PLUS 1p"/>
                <a:sym typeface="M PLUS 1p"/>
              </a:rPr>
              <a:t>low </a:t>
            </a:r>
            <a:r>
              <a:rPr b="1" lang="ja" sz="3200">
                <a:solidFill>
                  <a:schemeClr val="lt1"/>
                </a:solidFill>
                <a:latin typeface="M PLUS 1p"/>
                <a:ea typeface="M PLUS 1p"/>
                <a:cs typeface="M PLUS 1p"/>
                <a:sym typeface="M PLUS 1p"/>
              </a:rPr>
              <a:t>touch</a:t>
            </a:r>
            <a:r>
              <a:rPr b="1" lang="ja" sz="3200">
                <a:solidFill>
                  <a:schemeClr val="lt1"/>
                </a:solidFill>
                <a:latin typeface="M PLUS 1p"/>
                <a:ea typeface="M PLUS 1p"/>
                <a:cs typeface="M PLUS 1p"/>
                <a:sym typeface="M PLUS 1p"/>
              </a:rPr>
              <a:t>で翌月継続率が低い要因の深掘り</a:t>
            </a:r>
            <a:endParaRPr b="1" sz="3200">
              <a:solidFill>
                <a:schemeClr val="lt1"/>
              </a:solidFill>
              <a:latin typeface="M PLUS 1p"/>
              <a:ea typeface="M PLUS 1p"/>
              <a:cs typeface="M PLUS 1p"/>
              <a:sym typeface="M PLUS 1p"/>
            </a:endParaRPr>
          </a:p>
        </p:txBody>
      </p:sp>
      <p:sp>
        <p:nvSpPr>
          <p:cNvPr id="235" name="Google Shape;23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23"/>
          <p:cNvSpPr/>
          <p:nvPr/>
        </p:nvSpPr>
        <p:spPr>
          <a:xfrm>
            <a:off x="342900" y="365275"/>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3"/>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242" name="Google Shape;242;p23"/>
          <p:cNvSpPr txBox="1"/>
          <p:nvPr/>
        </p:nvSpPr>
        <p:spPr>
          <a:xfrm>
            <a:off x="712300" y="294475"/>
            <a:ext cx="83088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low touchでは翌週継続率が低いため、翌月継続率も低くなっている</a:t>
            </a:r>
            <a:endParaRPr b="1" sz="2000">
              <a:solidFill>
                <a:srgbClr val="1F1F1F"/>
              </a:solidFill>
              <a:latin typeface="M PLUS 1p"/>
              <a:ea typeface="M PLUS 1p"/>
              <a:cs typeface="M PLUS 1p"/>
              <a:sym typeface="M PLUS 1p"/>
            </a:endParaRPr>
          </a:p>
        </p:txBody>
      </p:sp>
      <p:sp>
        <p:nvSpPr>
          <p:cNvPr id="243" name="Google Shape;243;p23"/>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44" name="Google Shape;244;p23"/>
          <p:cNvSpPr txBox="1"/>
          <p:nvPr/>
        </p:nvSpPr>
        <p:spPr>
          <a:xfrm>
            <a:off x="432350" y="860575"/>
            <a:ext cx="8620500" cy="9810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翌週継続することで翌月継続率は39%ほど増加する(左グラフ)</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しかし、low touchはhigh touchと比較して12%ほど翌週継続率が低い(右グラフ)</a:t>
            </a:r>
            <a:endParaRPr sz="1600">
              <a:solidFill>
                <a:srgbClr val="1F1F1F"/>
              </a:solidFill>
              <a:latin typeface="M PLUS 1p"/>
              <a:ea typeface="M PLUS 1p"/>
              <a:cs typeface="M PLUS 1p"/>
              <a:sym typeface="M PLUS 1p"/>
            </a:endParaRPr>
          </a:p>
        </p:txBody>
      </p:sp>
      <p:sp>
        <p:nvSpPr>
          <p:cNvPr id="245" name="Google Shape;245;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46" name="Google Shape;246;p23"/>
          <p:cNvSpPr txBox="1"/>
          <p:nvPr/>
        </p:nvSpPr>
        <p:spPr>
          <a:xfrm>
            <a:off x="458900" y="2160650"/>
            <a:ext cx="3000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100">
                <a:solidFill>
                  <a:schemeClr val="dk1"/>
                </a:solidFill>
              </a:rPr>
              <a:t>[グラフ] 翌</a:t>
            </a:r>
            <a:r>
              <a:rPr b="1" lang="ja" sz="1100">
                <a:solidFill>
                  <a:schemeClr val="dk1"/>
                </a:solidFill>
              </a:rPr>
              <a:t>週</a:t>
            </a:r>
            <a:r>
              <a:rPr b="1" lang="ja" sz="1100">
                <a:solidFill>
                  <a:schemeClr val="dk1"/>
                </a:solidFill>
              </a:rPr>
              <a:t>継続率の比較</a:t>
            </a:r>
            <a:r>
              <a:rPr lang="ja" sz="1100">
                <a:solidFill>
                  <a:schemeClr val="dk1"/>
                </a:solidFill>
              </a:rPr>
              <a:t> </a:t>
            </a:r>
            <a:endParaRPr sz="1100">
              <a:solidFill>
                <a:schemeClr val="dk1"/>
              </a:solidFill>
            </a:endParaRPr>
          </a:p>
          <a:p>
            <a:pPr indent="0" lvl="0" marL="0" rtl="0" algn="l">
              <a:spcBef>
                <a:spcPts val="0"/>
              </a:spcBef>
              <a:spcAft>
                <a:spcPts val="0"/>
              </a:spcAft>
              <a:buNone/>
            </a:pPr>
            <a:r>
              <a:rPr lang="ja" sz="1100">
                <a:solidFill>
                  <a:schemeClr val="dk1"/>
                </a:solidFill>
              </a:rPr>
              <a:t>・棒グラフでhigh touth、low touchの継続率を比較。SBMが低いことを視覚的に示す。</a:t>
            </a:r>
            <a:endParaRPr>
              <a:solidFill>
                <a:schemeClr val="dk1"/>
              </a:solidFill>
            </a:endParaRPr>
          </a:p>
        </p:txBody>
      </p:sp>
      <p:pic>
        <p:nvPicPr>
          <p:cNvPr id="247" name="Google Shape;247;p23" title="グラフ"/>
          <p:cNvPicPr preferRelativeResize="0"/>
          <p:nvPr/>
        </p:nvPicPr>
        <p:blipFill>
          <a:blip r:embed="rId3">
            <a:alphaModFix/>
          </a:blip>
          <a:stretch>
            <a:fillRect/>
          </a:stretch>
        </p:blipFill>
        <p:spPr>
          <a:xfrm>
            <a:off x="4707800" y="1680250"/>
            <a:ext cx="4343088" cy="2685474"/>
          </a:xfrm>
          <a:prstGeom prst="rect">
            <a:avLst/>
          </a:prstGeom>
          <a:noFill/>
          <a:ln>
            <a:noFill/>
          </a:ln>
        </p:spPr>
      </p:pic>
      <p:pic>
        <p:nvPicPr>
          <p:cNvPr id="248" name="Google Shape;248;p23" title="グラフ"/>
          <p:cNvPicPr preferRelativeResize="0"/>
          <p:nvPr/>
        </p:nvPicPr>
        <p:blipFill>
          <a:blip r:embed="rId4">
            <a:alphaModFix/>
          </a:blip>
          <a:stretch>
            <a:fillRect/>
          </a:stretch>
        </p:blipFill>
        <p:spPr>
          <a:xfrm>
            <a:off x="387590" y="1841575"/>
            <a:ext cx="4082187" cy="2524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24"/>
          <p:cNvSpPr/>
          <p:nvPr/>
        </p:nvSpPr>
        <p:spPr>
          <a:xfrm>
            <a:off x="342900" y="365275"/>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4"/>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255" name="Google Shape;255;p24"/>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翌月継続する顧客の掲載パターン①</a:t>
            </a:r>
            <a:endParaRPr b="1" sz="2000">
              <a:solidFill>
                <a:srgbClr val="1F1F1F"/>
              </a:solidFill>
              <a:latin typeface="M PLUS 1p"/>
              <a:ea typeface="M PLUS 1p"/>
              <a:cs typeface="M PLUS 1p"/>
              <a:sym typeface="M PLUS 1p"/>
            </a:endParaRPr>
          </a:p>
        </p:txBody>
      </p:sp>
      <p:sp>
        <p:nvSpPr>
          <p:cNvPr id="256" name="Google Shape;256;p24"/>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57" name="Google Shape;257;p24"/>
          <p:cNvSpPr txBox="1"/>
          <p:nvPr/>
        </p:nvSpPr>
        <p:spPr>
          <a:xfrm>
            <a:off x="432350" y="860575"/>
            <a:ext cx="8620500" cy="9810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利用初月に毎週掲載している店舗が最も継続率が高い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たとえ2週目に掲載がなくても、3,4週目に再掲載されれば、継続率は大きく回復する</a:t>
            </a:r>
            <a:endParaRPr sz="1600">
              <a:solidFill>
                <a:srgbClr val="1F1F1F"/>
              </a:solidFill>
              <a:latin typeface="M PLUS 1p"/>
              <a:ea typeface="M PLUS 1p"/>
              <a:cs typeface="M PLUS 1p"/>
              <a:sym typeface="M PLUS 1p"/>
            </a:endParaRPr>
          </a:p>
          <a:p>
            <a:pPr indent="0" lvl="0" marL="457200" rtl="0" algn="l">
              <a:lnSpc>
                <a:spcPct val="120000"/>
              </a:lnSpc>
              <a:spcBef>
                <a:spcPts val="0"/>
              </a:spcBef>
              <a:spcAft>
                <a:spcPts val="0"/>
              </a:spcAft>
              <a:buNone/>
            </a:pPr>
            <a:r>
              <a:t/>
            </a:r>
            <a:endParaRPr sz="1600">
              <a:solidFill>
                <a:srgbClr val="1F1F1F"/>
              </a:solidFill>
              <a:latin typeface="M PLUS 1p"/>
              <a:ea typeface="M PLUS 1p"/>
              <a:cs typeface="M PLUS 1p"/>
              <a:sym typeface="M PLUS 1p"/>
            </a:endParaRPr>
          </a:p>
        </p:txBody>
      </p:sp>
      <p:sp>
        <p:nvSpPr>
          <p:cNvPr id="258" name="Google Shape;258;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graphicFrame>
        <p:nvGraphicFramePr>
          <p:cNvPr id="259" name="Google Shape;259;p24"/>
          <p:cNvGraphicFramePr/>
          <p:nvPr/>
        </p:nvGraphicFramePr>
        <p:xfrm>
          <a:off x="1473600" y="1577700"/>
          <a:ext cx="3000000" cy="3000000"/>
        </p:xfrm>
        <a:graphic>
          <a:graphicData uri="http://schemas.openxmlformats.org/drawingml/2006/table">
            <a:tbl>
              <a:tblPr>
                <a:noFill/>
                <a:tableStyleId>{CAC97641-BD0D-4239-80C1-88AB4E65D543}</a:tableStyleId>
              </a:tblPr>
              <a:tblGrid>
                <a:gridCol w="1307600"/>
                <a:gridCol w="1307600"/>
                <a:gridCol w="1307600"/>
                <a:gridCol w="1307600"/>
                <a:gridCol w="1307600"/>
              </a:tblGrid>
              <a:tr h="316125">
                <a:tc>
                  <a:txBody>
                    <a:bodyPr/>
                    <a:lstStyle/>
                    <a:p>
                      <a:pPr indent="0" lvl="0" marL="0" rtl="0" algn="l">
                        <a:spcBef>
                          <a:spcPts val="0"/>
                        </a:spcBef>
                        <a:spcAft>
                          <a:spcPts val="0"/>
                        </a:spcAft>
                        <a:buNone/>
                      </a:pPr>
                      <a:r>
                        <a:rPr b="1" lang="ja" sz="1200">
                          <a:solidFill>
                            <a:srgbClr val="434343"/>
                          </a:solidFill>
                        </a:rPr>
                        <a:t>翌週継続</a:t>
                      </a:r>
                      <a:endParaRPr b="1" sz="1200">
                        <a:solidFill>
                          <a:srgbClr val="434343"/>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b="1" lang="ja" sz="1200">
                          <a:solidFill>
                            <a:srgbClr val="434343"/>
                          </a:solidFill>
                        </a:rPr>
                        <a:t>3</a:t>
                      </a:r>
                      <a:r>
                        <a:rPr b="1" lang="ja" sz="1200">
                          <a:solidFill>
                            <a:srgbClr val="434343"/>
                          </a:solidFill>
                        </a:rPr>
                        <a:t>週目継続</a:t>
                      </a:r>
                      <a:endParaRPr b="1" sz="1200">
                        <a:solidFill>
                          <a:srgbClr val="434343"/>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b="1" lang="ja" sz="1200">
                          <a:solidFill>
                            <a:srgbClr val="434343"/>
                          </a:solidFill>
                        </a:rPr>
                        <a:t>4</a:t>
                      </a:r>
                      <a:r>
                        <a:rPr b="1" lang="ja" sz="1200">
                          <a:solidFill>
                            <a:srgbClr val="434343"/>
                          </a:solidFill>
                        </a:rPr>
                        <a:t>週目継続</a:t>
                      </a:r>
                      <a:endParaRPr b="1" sz="1200">
                        <a:solidFill>
                          <a:srgbClr val="434343"/>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b="1" lang="ja" sz="1200">
                          <a:solidFill>
                            <a:srgbClr val="434343"/>
                          </a:solidFill>
                        </a:rPr>
                        <a:t>翌月継続率</a:t>
                      </a:r>
                      <a:endParaRPr b="1" sz="1200">
                        <a:solidFill>
                          <a:srgbClr val="434343"/>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b="1" lang="ja" sz="1200">
                          <a:solidFill>
                            <a:srgbClr val="434343"/>
                          </a:solidFill>
                        </a:rPr>
                        <a:t>店舗の割合</a:t>
                      </a:r>
                      <a:endParaRPr b="1" sz="1200">
                        <a:solidFill>
                          <a:srgbClr val="434343"/>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r>
              <a:tr h="316125">
                <a:tc>
                  <a:txBody>
                    <a:bodyPr/>
                    <a:lstStyle/>
                    <a:p>
                      <a:pPr indent="0" lvl="0" marL="0" rtl="0" algn="ctr">
                        <a:spcBef>
                          <a:spcPts val="0"/>
                        </a:spcBef>
                        <a:spcAft>
                          <a:spcPts val="0"/>
                        </a:spcAft>
                        <a:buNone/>
                      </a:pPr>
                      <a:r>
                        <a:rPr b="1" lang="ja" sz="1200">
                          <a:solidFill>
                            <a:srgbClr val="6AA84F"/>
                          </a:solidFill>
                          <a:highlight>
                            <a:srgbClr val="D9EAD3"/>
                          </a:highlight>
                        </a:rPr>
                        <a:t>◯</a:t>
                      </a:r>
                      <a:endParaRPr b="1" sz="1200">
                        <a:solidFill>
                          <a:srgbClr val="6AA84F"/>
                        </a:solidFill>
                        <a:highlight>
                          <a:srgbClr val="D9EAD3"/>
                        </a:highlight>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ja" sz="1200">
                          <a:solidFill>
                            <a:srgbClr val="6AA84F"/>
                          </a:solidFill>
                          <a:highlight>
                            <a:srgbClr val="D9EAD3"/>
                          </a:highlight>
                        </a:rPr>
                        <a:t>◯</a:t>
                      </a:r>
                      <a:endParaRPr b="1" sz="1200">
                        <a:solidFill>
                          <a:srgbClr val="6AA84F"/>
                        </a:solidFill>
                        <a:highlight>
                          <a:srgbClr val="D9EAD3"/>
                        </a:highlight>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ja" sz="1200">
                          <a:solidFill>
                            <a:srgbClr val="6AA84F"/>
                          </a:solidFill>
                          <a:highlight>
                            <a:srgbClr val="D9EAD3"/>
                          </a:highlight>
                        </a:rPr>
                        <a:t>◯</a:t>
                      </a:r>
                      <a:endParaRPr sz="1200">
                        <a:highlight>
                          <a:srgbClr val="D9EAD3"/>
                        </a:highlight>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ja" sz="1200">
                          <a:solidFill>
                            <a:srgbClr val="38761D"/>
                          </a:solidFill>
                        </a:rPr>
                        <a:t>87%</a:t>
                      </a:r>
                      <a:endParaRPr b="1" sz="1200">
                        <a:solidFill>
                          <a:srgbClr val="38761D"/>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ja" sz="1200"/>
                        <a:t>10%</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6125">
                <a:tc>
                  <a:txBody>
                    <a:bodyPr/>
                    <a:lstStyle/>
                    <a:p>
                      <a:pPr indent="0" lvl="0" marL="0" rtl="0" algn="ctr">
                        <a:spcBef>
                          <a:spcPts val="0"/>
                        </a:spcBef>
                        <a:spcAft>
                          <a:spcPts val="0"/>
                        </a:spcAft>
                        <a:buNone/>
                      </a:pPr>
                      <a:r>
                        <a:rPr b="1" lang="ja" sz="1200">
                          <a:solidFill>
                            <a:srgbClr val="6AA84F"/>
                          </a:solidFill>
                          <a:highlight>
                            <a:srgbClr val="D9EAD3"/>
                          </a:highlight>
                        </a:rPr>
                        <a:t>◯</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ja" sz="1200">
                          <a:solidFill>
                            <a:srgbClr val="6AA84F"/>
                          </a:solidFill>
                          <a:highlight>
                            <a:srgbClr val="D9EAD3"/>
                          </a:highlight>
                        </a:rPr>
                        <a:t>◯</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ja" sz="1200">
                          <a:solidFill>
                            <a:srgbClr val="CC0000"/>
                          </a:solidFill>
                          <a:highlight>
                            <a:srgbClr val="F4CCCC"/>
                          </a:highlight>
                        </a:rPr>
                        <a:t>ー</a:t>
                      </a:r>
                      <a:endParaRPr sz="1200">
                        <a:solidFill>
                          <a:srgbClr val="CC0000"/>
                        </a:solidFill>
                        <a:highlight>
                          <a:srgbClr val="F4CCCC"/>
                        </a:highlight>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ja" sz="1200">
                          <a:solidFill>
                            <a:srgbClr val="B45F06"/>
                          </a:solidFill>
                        </a:rPr>
                        <a:t>58%</a:t>
                      </a:r>
                      <a:endParaRPr b="1" sz="1200">
                        <a:solidFill>
                          <a:srgbClr val="B45F06"/>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ja" sz="1200"/>
                        <a:t>7%</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6125">
                <a:tc>
                  <a:txBody>
                    <a:bodyPr/>
                    <a:lstStyle/>
                    <a:p>
                      <a:pPr indent="0" lvl="0" marL="0" rtl="0" algn="ctr">
                        <a:spcBef>
                          <a:spcPts val="0"/>
                        </a:spcBef>
                        <a:spcAft>
                          <a:spcPts val="0"/>
                        </a:spcAft>
                        <a:buNone/>
                      </a:pPr>
                      <a:r>
                        <a:rPr b="1" lang="ja" sz="1200">
                          <a:solidFill>
                            <a:srgbClr val="6AA84F"/>
                          </a:solidFill>
                          <a:highlight>
                            <a:srgbClr val="D9EAD3"/>
                          </a:highlight>
                        </a:rPr>
                        <a:t>◯</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ja" sz="1200">
                          <a:solidFill>
                            <a:srgbClr val="CC0000"/>
                          </a:solidFill>
                          <a:highlight>
                            <a:srgbClr val="F4CCCC"/>
                          </a:highlight>
                        </a:rPr>
                        <a:t>ー</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ja" sz="1200">
                          <a:solidFill>
                            <a:srgbClr val="6AA84F"/>
                          </a:solidFill>
                          <a:highlight>
                            <a:srgbClr val="D9EAD3"/>
                          </a:highlight>
                        </a:rPr>
                        <a:t>◯</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ja" sz="1200">
                          <a:solidFill>
                            <a:srgbClr val="38761D"/>
                          </a:solidFill>
                        </a:rPr>
                        <a:t>75%</a:t>
                      </a:r>
                      <a:endParaRPr b="1" sz="1200">
                        <a:solidFill>
                          <a:srgbClr val="38761D"/>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ja" sz="1200"/>
                        <a:t>3%</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6125">
                <a:tc>
                  <a:txBody>
                    <a:bodyPr/>
                    <a:lstStyle/>
                    <a:p>
                      <a:pPr indent="0" lvl="0" marL="0" rtl="0" algn="ctr">
                        <a:spcBef>
                          <a:spcPts val="0"/>
                        </a:spcBef>
                        <a:spcAft>
                          <a:spcPts val="0"/>
                        </a:spcAft>
                        <a:buNone/>
                      </a:pPr>
                      <a:r>
                        <a:rPr b="1" lang="ja" sz="1200">
                          <a:solidFill>
                            <a:srgbClr val="6AA84F"/>
                          </a:solidFill>
                          <a:highlight>
                            <a:srgbClr val="D9EAD3"/>
                          </a:highlight>
                        </a:rPr>
                        <a:t>◯</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ja" sz="1200">
                          <a:solidFill>
                            <a:srgbClr val="CC0000"/>
                          </a:solidFill>
                          <a:highlight>
                            <a:srgbClr val="F4CCCC"/>
                          </a:highlight>
                        </a:rPr>
                        <a:t>ー</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ja" sz="1200">
                          <a:solidFill>
                            <a:srgbClr val="CC0000"/>
                          </a:solidFill>
                          <a:highlight>
                            <a:srgbClr val="F4CCCC"/>
                          </a:highlight>
                        </a:rPr>
                        <a:t>ー</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ja" sz="1200">
                          <a:solidFill>
                            <a:srgbClr val="CC0000"/>
                          </a:solidFill>
                        </a:rPr>
                        <a:t>38%</a:t>
                      </a:r>
                      <a:endParaRPr b="1" sz="1200">
                        <a:solidFill>
                          <a:srgbClr val="CC0000"/>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ja" sz="1200"/>
                        <a:t>8%</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6125">
                <a:tc>
                  <a:txBody>
                    <a:bodyPr/>
                    <a:lstStyle/>
                    <a:p>
                      <a:pPr indent="0" lvl="0" marL="0" rtl="0" algn="ctr">
                        <a:spcBef>
                          <a:spcPts val="0"/>
                        </a:spcBef>
                        <a:spcAft>
                          <a:spcPts val="0"/>
                        </a:spcAft>
                        <a:buNone/>
                      </a:pPr>
                      <a:r>
                        <a:rPr lang="ja" sz="1200">
                          <a:solidFill>
                            <a:srgbClr val="CC0000"/>
                          </a:solidFill>
                          <a:highlight>
                            <a:srgbClr val="F4CCCC"/>
                          </a:highlight>
                        </a:rPr>
                        <a:t>ー</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ja" sz="1200">
                          <a:solidFill>
                            <a:srgbClr val="6AA84F"/>
                          </a:solidFill>
                          <a:highlight>
                            <a:srgbClr val="D9EAD3"/>
                          </a:highlight>
                        </a:rPr>
                        <a:t>◯</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ja" sz="1200">
                          <a:solidFill>
                            <a:srgbClr val="6AA84F"/>
                          </a:solidFill>
                          <a:highlight>
                            <a:srgbClr val="D9EAD3"/>
                          </a:highlight>
                        </a:rPr>
                        <a:t>◯</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ja" sz="1200">
                          <a:solidFill>
                            <a:srgbClr val="38761D"/>
                          </a:solidFill>
                        </a:rPr>
                        <a:t>79%</a:t>
                      </a:r>
                      <a:endParaRPr b="1" sz="1200">
                        <a:solidFill>
                          <a:srgbClr val="38761D"/>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ja" sz="1200"/>
                        <a:t>4%</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6125">
                <a:tc>
                  <a:txBody>
                    <a:bodyPr/>
                    <a:lstStyle/>
                    <a:p>
                      <a:pPr indent="0" lvl="0" marL="0" rtl="0" algn="ctr">
                        <a:spcBef>
                          <a:spcPts val="0"/>
                        </a:spcBef>
                        <a:spcAft>
                          <a:spcPts val="0"/>
                        </a:spcAft>
                        <a:buNone/>
                      </a:pPr>
                      <a:r>
                        <a:rPr lang="ja" sz="1200">
                          <a:solidFill>
                            <a:srgbClr val="CC0000"/>
                          </a:solidFill>
                          <a:highlight>
                            <a:srgbClr val="F4CCCC"/>
                          </a:highlight>
                        </a:rPr>
                        <a:t>ー</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ja" sz="1200">
                          <a:solidFill>
                            <a:srgbClr val="6AA84F"/>
                          </a:solidFill>
                          <a:highlight>
                            <a:srgbClr val="D9EAD3"/>
                          </a:highlight>
                        </a:rPr>
                        <a:t>◯</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ja" sz="1200">
                          <a:solidFill>
                            <a:srgbClr val="CC0000"/>
                          </a:solidFill>
                          <a:highlight>
                            <a:srgbClr val="F4CCCC"/>
                          </a:highlight>
                        </a:rPr>
                        <a:t>ー</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ja" sz="1200">
                          <a:solidFill>
                            <a:srgbClr val="B45F06"/>
                          </a:solidFill>
                        </a:rPr>
                        <a:t>51%</a:t>
                      </a:r>
                      <a:endParaRPr b="1" sz="1200">
                        <a:solidFill>
                          <a:srgbClr val="B45F06"/>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ja" sz="1200"/>
                        <a:t>6%</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6125">
                <a:tc>
                  <a:txBody>
                    <a:bodyPr/>
                    <a:lstStyle/>
                    <a:p>
                      <a:pPr indent="0" lvl="0" marL="0" rtl="0" algn="ctr">
                        <a:spcBef>
                          <a:spcPts val="0"/>
                        </a:spcBef>
                        <a:spcAft>
                          <a:spcPts val="0"/>
                        </a:spcAft>
                        <a:buNone/>
                      </a:pPr>
                      <a:r>
                        <a:rPr lang="ja" sz="1200">
                          <a:solidFill>
                            <a:srgbClr val="CC0000"/>
                          </a:solidFill>
                          <a:highlight>
                            <a:srgbClr val="F4CCCC"/>
                          </a:highlight>
                        </a:rPr>
                        <a:t>ー</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ja" sz="1200">
                          <a:solidFill>
                            <a:srgbClr val="CC0000"/>
                          </a:solidFill>
                          <a:highlight>
                            <a:srgbClr val="F4CCCC"/>
                          </a:highlight>
                        </a:rPr>
                        <a:t>ー</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ja" sz="1200">
                          <a:solidFill>
                            <a:srgbClr val="6AA84F"/>
                          </a:solidFill>
                          <a:highlight>
                            <a:srgbClr val="D9EAD3"/>
                          </a:highlight>
                        </a:rPr>
                        <a:t>◯</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ja" sz="1200">
                          <a:solidFill>
                            <a:srgbClr val="38761D"/>
                          </a:solidFill>
                        </a:rPr>
                        <a:t>62%</a:t>
                      </a:r>
                      <a:endParaRPr b="1" sz="1200">
                        <a:solidFill>
                          <a:srgbClr val="38761D"/>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ja" sz="1200"/>
                        <a:t>5%</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00000">
                <a:tc>
                  <a:txBody>
                    <a:bodyPr/>
                    <a:lstStyle/>
                    <a:p>
                      <a:pPr indent="0" lvl="0" marL="0" rtl="0" algn="ctr">
                        <a:spcBef>
                          <a:spcPts val="0"/>
                        </a:spcBef>
                        <a:spcAft>
                          <a:spcPts val="0"/>
                        </a:spcAft>
                        <a:buNone/>
                      </a:pPr>
                      <a:r>
                        <a:rPr lang="ja" sz="1200">
                          <a:solidFill>
                            <a:srgbClr val="CC0000"/>
                          </a:solidFill>
                          <a:highlight>
                            <a:srgbClr val="F4CCCC"/>
                          </a:highlight>
                        </a:rPr>
                        <a:t>ー</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ja" sz="1200">
                          <a:solidFill>
                            <a:srgbClr val="CC0000"/>
                          </a:solidFill>
                          <a:highlight>
                            <a:srgbClr val="F4CCCC"/>
                          </a:highlight>
                        </a:rPr>
                        <a:t>ー</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ja" sz="1200">
                          <a:solidFill>
                            <a:srgbClr val="CC0000"/>
                          </a:solidFill>
                          <a:highlight>
                            <a:srgbClr val="F4CCCC"/>
                          </a:highlight>
                        </a:rPr>
                        <a:t>ー</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ja" sz="1200">
                          <a:solidFill>
                            <a:srgbClr val="CC0000"/>
                          </a:solidFill>
                        </a:rPr>
                        <a:t>16%</a:t>
                      </a:r>
                      <a:endParaRPr b="1" sz="1200">
                        <a:solidFill>
                          <a:srgbClr val="CC0000"/>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ja" sz="1200"/>
                        <a:t>56%</a:t>
                      </a:r>
                      <a:endParaRPr sz="1200"/>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25"/>
          <p:cNvSpPr/>
          <p:nvPr/>
        </p:nvSpPr>
        <p:spPr>
          <a:xfrm>
            <a:off x="342900" y="365275"/>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5"/>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266" name="Google Shape;266;p25"/>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翌月継続する顧客の掲載パターン</a:t>
            </a:r>
            <a:r>
              <a:rPr b="1" lang="ja" sz="2000">
                <a:solidFill>
                  <a:srgbClr val="1F1F1F"/>
                </a:solidFill>
                <a:latin typeface="M PLUS 1p"/>
                <a:ea typeface="M PLUS 1p"/>
                <a:cs typeface="M PLUS 1p"/>
                <a:sym typeface="M PLUS 1p"/>
              </a:rPr>
              <a:t>①</a:t>
            </a:r>
            <a:endParaRPr b="1" sz="2000">
              <a:solidFill>
                <a:srgbClr val="1F1F1F"/>
              </a:solidFill>
              <a:latin typeface="M PLUS 1p"/>
              <a:ea typeface="M PLUS 1p"/>
              <a:cs typeface="M PLUS 1p"/>
              <a:sym typeface="M PLUS 1p"/>
            </a:endParaRPr>
          </a:p>
        </p:txBody>
      </p:sp>
      <p:sp>
        <p:nvSpPr>
          <p:cNvPr id="267" name="Google Shape;267;p25"/>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68" name="Google Shape;268;p25"/>
          <p:cNvSpPr txBox="1"/>
          <p:nvPr/>
        </p:nvSpPr>
        <p:spPr>
          <a:xfrm>
            <a:off x="432350" y="860575"/>
            <a:ext cx="8620500" cy="11310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毎週掲載の場合は、1週目の掲載で1週目・2週目に稼働して、2週目の掲載で2週目・3週目に稼働をするというような一定のパターンがある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常に当該週 ~ 翌週の募集の掲載を促すよう</a:t>
            </a:r>
            <a:r>
              <a:rPr lang="ja" sz="1600">
                <a:solidFill>
                  <a:srgbClr val="1F1F1F"/>
                </a:solidFill>
                <a:latin typeface="M PLUS 1p"/>
                <a:ea typeface="M PLUS 1p"/>
                <a:cs typeface="M PLUS 1p"/>
                <a:sym typeface="M PLUS 1p"/>
              </a:rPr>
              <a:t>な施策が有効と考えられる</a:t>
            </a:r>
            <a:endParaRPr sz="1600">
              <a:solidFill>
                <a:srgbClr val="1F1F1F"/>
              </a:solidFill>
              <a:latin typeface="M PLUS 1p"/>
              <a:ea typeface="M PLUS 1p"/>
              <a:cs typeface="M PLUS 1p"/>
              <a:sym typeface="M PLUS 1p"/>
            </a:endParaRPr>
          </a:p>
          <a:p>
            <a:pPr indent="0" lvl="0" marL="457200" rtl="0" algn="l">
              <a:lnSpc>
                <a:spcPct val="120000"/>
              </a:lnSpc>
              <a:spcBef>
                <a:spcPts val="0"/>
              </a:spcBef>
              <a:spcAft>
                <a:spcPts val="0"/>
              </a:spcAft>
              <a:buNone/>
            </a:pPr>
            <a:r>
              <a:t/>
            </a:r>
            <a:endParaRPr sz="1600">
              <a:solidFill>
                <a:srgbClr val="1F1F1F"/>
              </a:solidFill>
              <a:latin typeface="M PLUS 1p"/>
              <a:ea typeface="M PLUS 1p"/>
              <a:cs typeface="M PLUS 1p"/>
              <a:sym typeface="M PLUS 1p"/>
            </a:endParaRPr>
          </a:p>
          <a:p>
            <a:pPr indent="0" lvl="0" marL="457200" rtl="0" algn="l">
              <a:lnSpc>
                <a:spcPct val="120000"/>
              </a:lnSpc>
              <a:spcBef>
                <a:spcPts val="0"/>
              </a:spcBef>
              <a:spcAft>
                <a:spcPts val="0"/>
              </a:spcAft>
              <a:buNone/>
            </a:pPr>
            <a:r>
              <a:t/>
            </a:r>
            <a:endParaRPr sz="1600">
              <a:solidFill>
                <a:srgbClr val="1F1F1F"/>
              </a:solidFill>
              <a:latin typeface="M PLUS 1p"/>
              <a:ea typeface="M PLUS 1p"/>
              <a:cs typeface="M PLUS 1p"/>
              <a:sym typeface="M PLUS 1p"/>
            </a:endParaRPr>
          </a:p>
        </p:txBody>
      </p:sp>
      <p:sp>
        <p:nvSpPr>
          <p:cNvPr id="269" name="Google Shape;269;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graphicFrame>
        <p:nvGraphicFramePr>
          <p:cNvPr id="270" name="Google Shape;270;p25"/>
          <p:cNvGraphicFramePr/>
          <p:nvPr/>
        </p:nvGraphicFramePr>
        <p:xfrm>
          <a:off x="387600" y="1991475"/>
          <a:ext cx="3000000" cy="3000000"/>
        </p:xfrm>
        <a:graphic>
          <a:graphicData uri="http://schemas.openxmlformats.org/drawingml/2006/table">
            <a:tbl>
              <a:tblPr>
                <a:noFill/>
                <a:tableStyleId>{CAC97641-BD0D-4239-80C1-88AB4E65D543}</a:tableStyleId>
              </a:tblPr>
              <a:tblGrid>
                <a:gridCol w="2009100"/>
                <a:gridCol w="1298200"/>
                <a:gridCol w="1356050"/>
                <a:gridCol w="1306200"/>
                <a:gridCol w="1327125"/>
                <a:gridCol w="1323825"/>
              </a:tblGrid>
              <a:tr h="381000">
                <a:tc>
                  <a:txBody>
                    <a:bodyPr/>
                    <a:lstStyle/>
                    <a:p>
                      <a:pPr indent="0" lvl="0" marL="0" rtl="0" algn="l">
                        <a:spcBef>
                          <a:spcPts val="0"/>
                        </a:spcBef>
                        <a:spcAft>
                          <a:spcPts val="0"/>
                        </a:spcAft>
                        <a:buNone/>
                      </a:pPr>
                      <a:r>
                        <a:t/>
                      </a:r>
                      <a:endParaRPr b="1" sz="1200">
                        <a:solidFill>
                          <a:srgbClr val="434343"/>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ja" sz="1200">
                          <a:solidFill>
                            <a:srgbClr val="434343"/>
                          </a:solidFill>
                        </a:rPr>
                        <a:t>1週目</a:t>
                      </a:r>
                      <a:r>
                        <a:rPr b="1" lang="ja" sz="1200">
                          <a:solidFill>
                            <a:srgbClr val="434343"/>
                          </a:solidFill>
                        </a:rPr>
                        <a:t>に稼働した募集がある店舗の割合</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ja" sz="1200">
                          <a:solidFill>
                            <a:srgbClr val="434343"/>
                          </a:solidFill>
                        </a:rPr>
                        <a:t>2週目</a:t>
                      </a:r>
                      <a:r>
                        <a:rPr b="1" lang="ja" sz="1200">
                          <a:solidFill>
                            <a:srgbClr val="434343"/>
                          </a:solidFill>
                        </a:rPr>
                        <a:t>に稼働した募集がある店舗の割合</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ja" sz="1200">
                          <a:solidFill>
                            <a:srgbClr val="434343"/>
                          </a:solidFill>
                        </a:rPr>
                        <a:t>3週目</a:t>
                      </a:r>
                      <a:r>
                        <a:rPr b="1" lang="ja" sz="1200">
                          <a:solidFill>
                            <a:srgbClr val="434343"/>
                          </a:solidFill>
                        </a:rPr>
                        <a:t>に稼働した募集がある店舗の割合</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ja" sz="1200">
                          <a:solidFill>
                            <a:srgbClr val="434343"/>
                          </a:solidFill>
                        </a:rPr>
                        <a:t>4週目</a:t>
                      </a:r>
                      <a:r>
                        <a:rPr b="1" lang="ja" sz="1200">
                          <a:solidFill>
                            <a:srgbClr val="434343"/>
                          </a:solidFill>
                        </a:rPr>
                        <a:t>に稼働した募集がある店舗の割合</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ja" sz="1200">
                          <a:solidFill>
                            <a:srgbClr val="434343"/>
                          </a:solidFill>
                        </a:rPr>
                        <a:t>5週</a:t>
                      </a:r>
                      <a:r>
                        <a:rPr b="1" lang="ja" sz="1200">
                          <a:solidFill>
                            <a:srgbClr val="434343"/>
                          </a:solidFill>
                        </a:rPr>
                        <a:t>目</a:t>
                      </a:r>
                      <a:r>
                        <a:rPr b="1" lang="ja" sz="1200">
                          <a:solidFill>
                            <a:srgbClr val="434343"/>
                          </a:solidFill>
                        </a:rPr>
                        <a:t>に稼働した募集がある店舗の割合</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r>
              <a:tr h="381000">
                <a:tc>
                  <a:txBody>
                    <a:bodyPr/>
                    <a:lstStyle/>
                    <a:p>
                      <a:pPr indent="0" lvl="0" marL="0" rtl="0" algn="l">
                        <a:spcBef>
                          <a:spcPts val="0"/>
                        </a:spcBef>
                        <a:spcAft>
                          <a:spcPts val="0"/>
                        </a:spcAft>
                        <a:buNone/>
                      </a:pPr>
                      <a:r>
                        <a:rPr b="1" lang="ja" sz="1200">
                          <a:solidFill>
                            <a:srgbClr val="434343"/>
                          </a:solidFill>
                        </a:rPr>
                        <a:t>1週目に掲載した募集</a:t>
                      </a:r>
                      <a:endParaRPr b="1" sz="1200">
                        <a:solidFill>
                          <a:srgbClr val="434343"/>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r">
                        <a:lnSpc>
                          <a:spcPct val="115000"/>
                        </a:lnSpc>
                        <a:spcBef>
                          <a:spcPts val="0"/>
                        </a:spcBef>
                        <a:spcAft>
                          <a:spcPts val="0"/>
                        </a:spcAft>
                        <a:buNone/>
                      </a:pPr>
                      <a:r>
                        <a:rPr b="1" lang="ja" sz="1200">
                          <a:solidFill>
                            <a:srgbClr val="434343"/>
                          </a:solidFill>
                        </a:rPr>
                        <a:t>87%</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57BB8A"/>
                    </a:solidFill>
                  </a:tcPr>
                </a:tc>
                <a:tc>
                  <a:txBody>
                    <a:bodyPr/>
                    <a:lstStyle/>
                    <a:p>
                      <a:pPr indent="0" lvl="0" marL="0" rtl="0" algn="r">
                        <a:lnSpc>
                          <a:spcPct val="115000"/>
                        </a:lnSpc>
                        <a:spcBef>
                          <a:spcPts val="0"/>
                        </a:spcBef>
                        <a:spcAft>
                          <a:spcPts val="0"/>
                        </a:spcAft>
                        <a:buNone/>
                      </a:pPr>
                      <a:r>
                        <a:rPr b="1" lang="ja" sz="1200">
                          <a:solidFill>
                            <a:srgbClr val="434343"/>
                          </a:solidFill>
                        </a:rPr>
                        <a:t>65%</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82CDA8"/>
                    </a:solidFill>
                  </a:tcPr>
                </a:tc>
                <a:tc>
                  <a:txBody>
                    <a:bodyPr/>
                    <a:lstStyle/>
                    <a:p>
                      <a:pPr indent="0" lvl="0" marL="0" rtl="0" algn="r">
                        <a:lnSpc>
                          <a:spcPct val="115000"/>
                        </a:lnSpc>
                        <a:spcBef>
                          <a:spcPts val="0"/>
                        </a:spcBef>
                        <a:spcAft>
                          <a:spcPts val="0"/>
                        </a:spcAft>
                        <a:buNone/>
                      </a:pPr>
                      <a:r>
                        <a:rPr b="1" lang="ja" sz="1200">
                          <a:solidFill>
                            <a:srgbClr val="434343"/>
                          </a:solidFill>
                        </a:rPr>
                        <a:t>19%</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BF1E6"/>
                    </a:solidFill>
                  </a:tcPr>
                </a:tc>
                <a:tc>
                  <a:txBody>
                    <a:bodyPr/>
                    <a:lstStyle/>
                    <a:p>
                      <a:pPr indent="0" lvl="0" marL="0" rtl="0" algn="r">
                        <a:lnSpc>
                          <a:spcPct val="115000"/>
                        </a:lnSpc>
                        <a:spcBef>
                          <a:spcPts val="0"/>
                        </a:spcBef>
                        <a:spcAft>
                          <a:spcPts val="0"/>
                        </a:spcAft>
                        <a:buNone/>
                      </a:pPr>
                      <a:r>
                        <a:rPr b="1" lang="ja" sz="1200">
                          <a:solidFill>
                            <a:srgbClr val="434343"/>
                          </a:solidFill>
                        </a:rPr>
                        <a:t>7%</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2FAF6"/>
                    </a:solidFill>
                  </a:tcPr>
                </a:tc>
                <a:tc>
                  <a:txBody>
                    <a:bodyPr/>
                    <a:lstStyle/>
                    <a:p>
                      <a:pPr indent="0" lvl="0" marL="0" rtl="0" algn="r">
                        <a:lnSpc>
                          <a:spcPct val="115000"/>
                        </a:lnSpc>
                        <a:spcBef>
                          <a:spcPts val="0"/>
                        </a:spcBef>
                        <a:spcAft>
                          <a:spcPts val="0"/>
                        </a:spcAft>
                        <a:buNone/>
                      </a:pPr>
                      <a:r>
                        <a:rPr b="1" lang="ja" sz="1200">
                          <a:solidFill>
                            <a:srgbClr val="434343"/>
                          </a:solidFill>
                        </a:rPr>
                        <a:t>3%</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9FDFB"/>
                    </a:solidFill>
                  </a:tcPr>
                </a:tc>
              </a:tr>
              <a:tr h="381000">
                <a:tc>
                  <a:txBody>
                    <a:bodyPr/>
                    <a:lstStyle/>
                    <a:p>
                      <a:pPr indent="0" lvl="0" marL="0" rtl="0" algn="l">
                        <a:spcBef>
                          <a:spcPts val="0"/>
                        </a:spcBef>
                        <a:spcAft>
                          <a:spcPts val="0"/>
                        </a:spcAft>
                        <a:buNone/>
                      </a:pPr>
                      <a:r>
                        <a:rPr b="1" lang="ja" sz="1200">
                          <a:solidFill>
                            <a:srgbClr val="434343"/>
                          </a:solidFill>
                        </a:rPr>
                        <a:t>2週目に掲載した募集</a:t>
                      </a:r>
                      <a:endParaRPr b="1" sz="1200">
                        <a:solidFill>
                          <a:srgbClr val="434343"/>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r">
                        <a:lnSpc>
                          <a:spcPct val="115000"/>
                        </a:lnSpc>
                        <a:spcBef>
                          <a:spcPts val="0"/>
                        </a:spcBef>
                        <a:spcAft>
                          <a:spcPts val="0"/>
                        </a:spcAft>
                        <a:buNone/>
                      </a:pPr>
                      <a:r>
                        <a:rPr b="1" lang="ja" sz="1200">
                          <a:solidFill>
                            <a:srgbClr val="434343"/>
                          </a:solidFill>
                        </a:rPr>
                        <a:t>0%</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ja" sz="1200">
                          <a:solidFill>
                            <a:srgbClr val="434343"/>
                          </a:solidFill>
                        </a:rPr>
                        <a:t>72%</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73C79E"/>
                    </a:solidFill>
                  </a:tcPr>
                </a:tc>
                <a:tc>
                  <a:txBody>
                    <a:bodyPr/>
                    <a:lstStyle/>
                    <a:p>
                      <a:pPr indent="0" lvl="0" marL="0" rtl="0" algn="r">
                        <a:lnSpc>
                          <a:spcPct val="115000"/>
                        </a:lnSpc>
                        <a:spcBef>
                          <a:spcPts val="0"/>
                        </a:spcBef>
                        <a:spcAft>
                          <a:spcPts val="0"/>
                        </a:spcAft>
                        <a:buNone/>
                      </a:pPr>
                      <a:r>
                        <a:rPr b="1" lang="ja" sz="1200">
                          <a:solidFill>
                            <a:srgbClr val="434343"/>
                          </a:solidFill>
                        </a:rPr>
                        <a:t>68%</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7CCAA4"/>
                    </a:solidFill>
                  </a:tcPr>
                </a:tc>
                <a:tc>
                  <a:txBody>
                    <a:bodyPr/>
                    <a:lstStyle/>
                    <a:p>
                      <a:pPr indent="0" lvl="0" marL="0" rtl="0" algn="r">
                        <a:lnSpc>
                          <a:spcPct val="115000"/>
                        </a:lnSpc>
                        <a:spcBef>
                          <a:spcPts val="0"/>
                        </a:spcBef>
                        <a:spcAft>
                          <a:spcPts val="0"/>
                        </a:spcAft>
                        <a:buNone/>
                      </a:pPr>
                      <a:r>
                        <a:rPr b="1" lang="ja" sz="1200">
                          <a:solidFill>
                            <a:srgbClr val="434343"/>
                          </a:solidFill>
                        </a:rPr>
                        <a:t>17%</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EF2E8"/>
                    </a:solidFill>
                  </a:tcPr>
                </a:tc>
                <a:tc>
                  <a:txBody>
                    <a:bodyPr/>
                    <a:lstStyle/>
                    <a:p>
                      <a:pPr indent="0" lvl="0" marL="0" rtl="0" algn="r">
                        <a:lnSpc>
                          <a:spcPct val="115000"/>
                        </a:lnSpc>
                        <a:spcBef>
                          <a:spcPts val="0"/>
                        </a:spcBef>
                        <a:spcAft>
                          <a:spcPts val="0"/>
                        </a:spcAft>
                        <a:buNone/>
                      </a:pPr>
                      <a:r>
                        <a:rPr b="1" lang="ja" sz="1200">
                          <a:solidFill>
                            <a:srgbClr val="434343"/>
                          </a:solidFill>
                        </a:rPr>
                        <a:t>7%</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AF7"/>
                    </a:solidFill>
                  </a:tcPr>
                </a:tc>
              </a:tr>
              <a:tr h="381000">
                <a:tc>
                  <a:txBody>
                    <a:bodyPr/>
                    <a:lstStyle/>
                    <a:p>
                      <a:pPr indent="0" lvl="0" marL="0" rtl="0" algn="l">
                        <a:spcBef>
                          <a:spcPts val="0"/>
                        </a:spcBef>
                        <a:spcAft>
                          <a:spcPts val="0"/>
                        </a:spcAft>
                        <a:buNone/>
                      </a:pPr>
                      <a:r>
                        <a:rPr b="1" lang="ja" sz="1200">
                          <a:solidFill>
                            <a:srgbClr val="434343"/>
                          </a:solidFill>
                        </a:rPr>
                        <a:t>3週目に掲載した募集</a:t>
                      </a:r>
                      <a:endParaRPr b="1" sz="1200">
                        <a:solidFill>
                          <a:srgbClr val="434343"/>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r">
                        <a:lnSpc>
                          <a:spcPct val="115000"/>
                        </a:lnSpc>
                        <a:spcBef>
                          <a:spcPts val="0"/>
                        </a:spcBef>
                        <a:spcAft>
                          <a:spcPts val="0"/>
                        </a:spcAft>
                        <a:buNone/>
                      </a:pPr>
                      <a:r>
                        <a:rPr b="1" lang="ja" sz="1200">
                          <a:solidFill>
                            <a:srgbClr val="434343"/>
                          </a:solidFill>
                        </a:rPr>
                        <a:t>0%</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ja" sz="1200">
                          <a:solidFill>
                            <a:srgbClr val="434343"/>
                          </a:solidFill>
                        </a:rPr>
                        <a:t>0%</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ja" sz="1200">
                          <a:solidFill>
                            <a:srgbClr val="434343"/>
                          </a:solidFill>
                        </a:rPr>
                        <a:t>70%</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78C9A1"/>
                    </a:solidFill>
                  </a:tcPr>
                </a:tc>
                <a:tc>
                  <a:txBody>
                    <a:bodyPr/>
                    <a:lstStyle/>
                    <a:p>
                      <a:pPr indent="0" lvl="0" marL="0" rtl="0" algn="r">
                        <a:lnSpc>
                          <a:spcPct val="115000"/>
                        </a:lnSpc>
                        <a:spcBef>
                          <a:spcPts val="0"/>
                        </a:spcBef>
                        <a:spcAft>
                          <a:spcPts val="0"/>
                        </a:spcAft>
                        <a:buNone/>
                      </a:pPr>
                      <a:r>
                        <a:rPr b="1" lang="ja" sz="1200">
                          <a:solidFill>
                            <a:srgbClr val="434343"/>
                          </a:solidFill>
                        </a:rPr>
                        <a:t>59%</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8DD1B0"/>
                    </a:solidFill>
                  </a:tcPr>
                </a:tc>
                <a:tc>
                  <a:txBody>
                    <a:bodyPr/>
                    <a:lstStyle/>
                    <a:p>
                      <a:pPr indent="0" lvl="0" marL="0" rtl="0" algn="r">
                        <a:lnSpc>
                          <a:spcPct val="115000"/>
                        </a:lnSpc>
                        <a:spcBef>
                          <a:spcPts val="0"/>
                        </a:spcBef>
                        <a:spcAft>
                          <a:spcPts val="0"/>
                        </a:spcAft>
                        <a:buNone/>
                      </a:pPr>
                      <a:r>
                        <a:rPr b="1" lang="ja" sz="1200">
                          <a:solidFill>
                            <a:srgbClr val="434343"/>
                          </a:solidFill>
                        </a:rPr>
                        <a:t>14%</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4F4ED"/>
                    </a:solidFill>
                  </a:tcPr>
                </a:tc>
              </a:tr>
              <a:tr h="381000">
                <a:tc>
                  <a:txBody>
                    <a:bodyPr/>
                    <a:lstStyle/>
                    <a:p>
                      <a:pPr indent="0" lvl="0" marL="0" rtl="0" algn="l">
                        <a:spcBef>
                          <a:spcPts val="0"/>
                        </a:spcBef>
                        <a:spcAft>
                          <a:spcPts val="0"/>
                        </a:spcAft>
                        <a:buNone/>
                      </a:pPr>
                      <a:r>
                        <a:rPr b="1" lang="ja" sz="1200">
                          <a:solidFill>
                            <a:srgbClr val="434343"/>
                          </a:solidFill>
                        </a:rPr>
                        <a:t>4週目に掲載した募集</a:t>
                      </a:r>
                      <a:endParaRPr b="1" sz="1200">
                        <a:solidFill>
                          <a:srgbClr val="434343"/>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CCCCC"/>
                    </a:solidFill>
                  </a:tcPr>
                </a:tc>
                <a:tc>
                  <a:txBody>
                    <a:bodyPr/>
                    <a:lstStyle/>
                    <a:p>
                      <a:pPr indent="0" lvl="0" marL="0" rtl="0" algn="r">
                        <a:lnSpc>
                          <a:spcPct val="115000"/>
                        </a:lnSpc>
                        <a:spcBef>
                          <a:spcPts val="0"/>
                        </a:spcBef>
                        <a:spcAft>
                          <a:spcPts val="0"/>
                        </a:spcAft>
                        <a:buNone/>
                      </a:pPr>
                      <a:r>
                        <a:rPr b="1" lang="ja" sz="1200">
                          <a:solidFill>
                            <a:srgbClr val="434343"/>
                          </a:solidFill>
                        </a:rPr>
                        <a:t>0%</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ja" sz="1200">
                          <a:solidFill>
                            <a:srgbClr val="434343"/>
                          </a:solidFill>
                        </a:rPr>
                        <a:t>0%</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ja" sz="1200">
                          <a:solidFill>
                            <a:srgbClr val="434343"/>
                          </a:solidFill>
                        </a:rPr>
                        <a:t>0%</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ja" sz="1200">
                          <a:solidFill>
                            <a:srgbClr val="434343"/>
                          </a:solidFill>
                        </a:rPr>
                        <a:t>75%</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FC59B"/>
                    </a:solidFill>
                  </a:tcPr>
                </a:tc>
                <a:tc>
                  <a:txBody>
                    <a:bodyPr/>
                    <a:lstStyle/>
                    <a:p>
                      <a:pPr indent="0" lvl="0" marL="0" rtl="0" algn="r">
                        <a:lnSpc>
                          <a:spcPct val="115000"/>
                        </a:lnSpc>
                        <a:spcBef>
                          <a:spcPts val="0"/>
                        </a:spcBef>
                        <a:spcAft>
                          <a:spcPts val="0"/>
                        </a:spcAft>
                        <a:buNone/>
                      </a:pPr>
                      <a:r>
                        <a:rPr b="1" lang="ja" sz="1200">
                          <a:solidFill>
                            <a:srgbClr val="434343"/>
                          </a:solidFill>
                        </a:rPr>
                        <a:t>61%</a:t>
                      </a:r>
                      <a:endParaRPr b="1" sz="1200">
                        <a:solidFill>
                          <a:srgbClr val="434343"/>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8AD0AE"/>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26"/>
          <p:cNvSpPr/>
          <p:nvPr/>
        </p:nvSpPr>
        <p:spPr>
          <a:xfrm>
            <a:off x="342900" y="365275"/>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6"/>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
        <p:nvSpPr>
          <p:cNvPr id="277" name="Google Shape;277;p26"/>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 翌月継続する顧客の掲載パターン②</a:t>
            </a:r>
            <a:endParaRPr b="1" sz="2000">
              <a:solidFill>
                <a:srgbClr val="1F1F1F"/>
              </a:solidFill>
              <a:latin typeface="M PLUS 1p"/>
              <a:ea typeface="M PLUS 1p"/>
              <a:cs typeface="M PLUS 1p"/>
              <a:sym typeface="M PLUS 1p"/>
            </a:endParaRPr>
          </a:p>
        </p:txBody>
      </p:sp>
      <p:sp>
        <p:nvSpPr>
          <p:cNvPr id="278" name="Google Shape;278;p2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79" name="Google Shape;279;p26"/>
          <p:cNvSpPr txBox="1"/>
          <p:nvPr/>
        </p:nvSpPr>
        <p:spPr>
          <a:xfrm>
            <a:off x="432350" y="860575"/>
            <a:ext cx="8620500" cy="9810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初週に翌週稼働の募集も一緒に出ている店舗では翌週・翌月継続率がともに高い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初週分のみの募集だと、募集期間も短く体験を損なう可能性が大きいため、翌週分も一緒に掲載してもらい、2週の経験をしてもらうことが良さそう</a:t>
            </a:r>
            <a:endParaRPr sz="1600">
              <a:solidFill>
                <a:srgbClr val="1F1F1F"/>
              </a:solidFill>
              <a:latin typeface="M PLUS 1p"/>
              <a:ea typeface="M PLUS 1p"/>
              <a:cs typeface="M PLUS 1p"/>
              <a:sym typeface="M PLUS 1p"/>
            </a:endParaRPr>
          </a:p>
        </p:txBody>
      </p:sp>
      <p:sp>
        <p:nvSpPr>
          <p:cNvPr id="280" name="Google Shape;280;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pic>
        <p:nvPicPr>
          <p:cNvPr id="281" name="Google Shape;281;p26" title="グラフ"/>
          <p:cNvPicPr preferRelativeResize="0"/>
          <p:nvPr/>
        </p:nvPicPr>
        <p:blipFill>
          <a:blip r:embed="rId3">
            <a:alphaModFix/>
          </a:blip>
          <a:stretch>
            <a:fillRect/>
          </a:stretch>
        </p:blipFill>
        <p:spPr>
          <a:xfrm>
            <a:off x="1912462" y="1841575"/>
            <a:ext cx="5309676" cy="3283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 name="Shape 285"/>
        <p:cNvGrpSpPr/>
        <p:nvPr/>
      </p:nvGrpSpPr>
      <p:grpSpPr>
        <a:xfrm>
          <a:off x="0" y="0"/>
          <a:ext cx="0" cy="0"/>
          <a:chOff x="0" y="0"/>
          <a:chExt cx="0" cy="0"/>
        </a:xfrm>
      </p:grpSpPr>
      <p:sp>
        <p:nvSpPr>
          <p:cNvPr id="286" name="Google Shape;286;p27"/>
          <p:cNvSpPr txBox="1"/>
          <p:nvPr/>
        </p:nvSpPr>
        <p:spPr>
          <a:xfrm>
            <a:off x="432350" y="860575"/>
            <a:ext cx="8620500" cy="13740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レビューをしている店舗は、翌月継続率が大幅に向上する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レビューと翌月継続の直接的な因果関係はつかめていないが、レビューを促す施策を実施し、顧客の動きを観察する打ち手が有効かもしれない</a:t>
            </a:r>
            <a:endParaRPr sz="1600">
              <a:solidFill>
                <a:srgbClr val="1F1F1F"/>
              </a:solidFill>
              <a:latin typeface="M PLUS 1p"/>
              <a:ea typeface="M PLUS 1p"/>
              <a:cs typeface="M PLUS 1p"/>
              <a:sym typeface="M PLUS 1p"/>
            </a:endParaRPr>
          </a:p>
        </p:txBody>
      </p:sp>
      <p:sp>
        <p:nvSpPr>
          <p:cNvPr id="287" name="Google Shape;287;p27"/>
          <p:cNvSpPr/>
          <p:nvPr/>
        </p:nvSpPr>
        <p:spPr>
          <a:xfrm>
            <a:off x="342900" y="365275"/>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7"/>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4</a:t>
            </a:r>
            <a:endParaRPr b="1" sz="1300">
              <a:solidFill>
                <a:srgbClr val="FFFFFF"/>
              </a:solidFill>
              <a:latin typeface="Zen Kaku Gothic New"/>
              <a:ea typeface="Zen Kaku Gothic New"/>
              <a:cs typeface="Zen Kaku Gothic New"/>
              <a:sym typeface="Zen Kaku Gothic New"/>
            </a:endParaRPr>
          </a:p>
        </p:txBody>
      </p:sp>
      <p:sp>
        <p:nvSpPr>
          <p:cNvPr id="289" name="Google Shape;289;p27"/>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翌月継続する顧客の掲載パターン</a:t>
            </a:r>
            <a:r>
              <a:rPr b="1" lang="ja" sz="2000">
                <a:solidFill>
                  <a:srgbClr val="1F1F1F"/>
                </a:solidFill>
                <a:latin typeface="M PLUS 1p"/>
                <a:ea typeface="M PLUS 1p"/>
                <a:cs typeface="M PLUS 1p"/>
                <a:sym typeface="M PLUS 1p"/>
              </a:rPr>
              <a:t>④</a:t>
            </a:r>
            <a:endParaRPr b="1" sz="2000">
              <a:solidFill>
                <a:srgbClr val="1F1F1F"/>
              </a:solidFill>
              <a:latin typeface="M PLUS 1p"/>
              <a:ea typeface="M PLUS 1p"/>
              <a:cs typeface="M PLUS 1p"/>
              <a:sym typeface="M PLUS 1p"/>
            </a:endParaRPr>
          </a:p>
        </p:txBody>
      </p:sp>
      <p:sp>
        <p:nvSpPr>
          <p:cNvPr id="290" name="Google Shape;290;p2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91" name="Google Shape;291;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pic>
        <p:nvPicPr>
          <p:cNvPr id="292" name="Google Shape;292;p27" title="レビュー状況と翌月継続率の関係（low touch、初月1回だけ掲載した店舗）"/>
          <p:cNvPicPr preferRelativeResize="0"/>
          <p:nvPr/>
        </p:nvPicPr>
        <p:blipFill>
          <a:blip r:embed="rId3">
            <a:alphaModFix/>
          </a:blip>
          <a:stretch>
            <a:fillRect/>
          </a:stretch>
        </p:blipFill>
        <p:spPr>
          <a:xfrm>
            <a:off x="240725" y="2234575"/>
            <a:ext cx="3767925" cy="1925499"/>
          </a:xfrm>
          <a:prstGeom prst="rect">
            <a:avLst/>
          </a:prstGeom>
          <a:noFill/>
          <a:ln>
            <a:noFill/>
          </a:ln>
        </p:spPr>
      </p:pic>
      <p:pic>
        <p:nvPicPr>
          <p:cNvPr id="293" name="Google Shape;293;p27" title="レビュー状況と翌月継続率の関係（初月2回だけ掲載した店舗）"/>
          <p:cNvPicPr preferRelativeResize="0"/>
          <p:nvPr/>
        </p:nvPicPr>
        <p:blipFill>
          <a:blip r:embed="rId4">
            <a:alphaModFix/>
          </a:blip>
          <a:stretch>
            <a:fillRect/>
          </a:stretch>
        </p:blipFill>
        <p:spPr>
          <a:xfrm>
            <a:off x="4008651" y="2234573"/>
            <a:ext cx="5138125" cy="19254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7900"/>
        </a:solidFill>
      </p:bgPr>
    </p:bg>
    <p:spTree>
      <p:nvGrpSpPr>
        <p:cNvPr id="297" name="Shape 297"/>
        <p:cNvGrpSpPr/>
        <p:nvPr/>
      </p:nvGrpSpPr>
      <p:grpSpPr>
        <a:xfrm>
          <a:off x="0" y="0"/>
          <a:ext cx="0" cy="0"/>
          <a:chOff x="0" y="0"/>
          <a:chExt cx="0" cy="0"/>
        </a:xfrm>
      </p:grpSpPr>
      <p:sp>
        <p:nvSpPr>
          <p:cNvPr id="298" name="Google Shape;298;p28"/>
          <p:cNvSpPr txBox="1"/>
          <p:nvPr/>
        </p:nvSpPr>
        <p:spPr>
          <a:xfrm>
            <a:off x="1028250" y="2200650"/>
            <a:ext cx="7087500" cy="7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rgbClr val="FFFFFF"/>
                </a:solidFill>
                <a:latin typeface="M PLUS 1p"/>
                <a:ea typeface="M PLUS 1p"/>
                <a:cs typeface="M PLUS 1p"/>
                <a:sym typeface="M PLUS 1p"/>
              </a:rPr>
              <a:t>Appendix</a:t>
            </a:r>
            <a:endParaRPr b="1" sz="3200">
              <a:solidFill>
                <a:srgbClr val="FFFFFF"/>
              </a:solidFill>
              <a:latin typeface="M PLUS 1p"/>
              <a:ea typeface="M PLUS 1p"/>
              <a:cs typeface="M PLUS 1p"/>
              <a:sym typeface="M PLUS 1p"/>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29"/>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9"/>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305" name="Google Shape;305;p29"/>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Appendix①業界構成比と翌月継続率の関係</a:t>
            </a:r>
            <a:endParaRPr b="1" sz="2000">
              <a:solidFill>
                <a:srgbClr val="1F1F1F"/>
              </a:solidFill>
              <a:latin typeface="M PLUS 1p"/>
              <a:ea typeface="M PLUS 1p"/>
              <a:cs typeface="M PLUS 1p"/>
              <a:sym typeface="M PLUS 1p"/>
            </a:endParaRPr>
          </a:p>
        </p:txBody>
      </p:sp>
      <p:sp>
        <p:nvSpPr>
          <p:cNvPr id="306" name="Google Shape;306;p2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07" name="Google Shape;307;p29"/>
          <p:cNvSpPr txBox="1"/>
          <p:nvPr/>
        </p:nvSpPr>
        <p:spPr>
          <a:xfrm>
            <a:off x="432350" y="860575"/>
            <a:ext cx="8620500" cy="48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low touchにおける業界別での翌月継続率に大きな差分はない</a:t>
            </a:r>
            <a:endParaRPr sz="1600">
              <a:solidFill>
                <a:srgbClr val="1F1F1F"/>
              </a:solidFill>
              <a:latin typeface="M PLUS 1p"/>
              <a:ea typeface="M PLUS 1p"/>
              <a:cs typeface="M PLUS 1p"/>
              <a:sym typeface="M PLUS 1p"/>
            </a:endParaRPr>
          </a:p>
        </p:txBody>
      </p:sp>
      <p:sp>
        <p:nvSpPr>
          <p:cNvPr id="308" name="Google Shape;308;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pic>
        <p:nvPicPr>
          <p:cNvPr id="309" name="Google Shape;309;p29" title="グラフ"/>
          <p:cNvPicPr preferRelativeResize="0"/>
          <p:nvPr/>
        </p:nvPicPr>
        <p:blipFill>
          <a:blip r:embed="rId3">
            <a:alphaModFix/>
          </a:blip>
          <a:stretch>
            <a:fillRect/>
          </a:stretch>
        </p:blipFill>
        <p:spPr>
          <a:xfrm>
            <a:off x="1727175" y="1300925"/>
            <a:ext cx="5689650" cy="3513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30"/>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0"/>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316" name="Google Shape;316;p3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a:t>
            </a:r>
            <a:r>
              <a:rPr b="1" lang="ja" sz="2000">
                <a:solidFill>
                  <a:srgbClr val="1F1F1F"/>
                </a:solidFill>
                <a:latin typeface="M PLUS 1p"/>
                <a:ea typeface="M PLUS 1p"/>
                <a:cs typeface="M PLUS 1p"/>
                <a:sym typeface="M PLUS 1p"/>
              </a:rPr>
              <a:t>②アカウント開設前の変数と翌月継続率の関係</a:t>
            </a:r>
            <a:endParaRPr b="1" sz="2000">
              <a:solidFill>
                <a:srgbClr val="1F1F1F"/>
              </a:solidFill>
              <a:latin typeface="M PLUS 1p"/>
              <a:ea typeface="M PLUS 1p"/>
              <a:cs typeface="M PLUS 1p"/>
              <a:sym typeface="M PLUS 1p"/>
            </a:endParaRPr>
          </a:p>
        </p:txBody>
      </p:sp>
      <p:sp>
        <p:nvSpPr>
          <p:cNvPr id="317" name="Google Shape;317;p3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18" name="Google Shape;318;p30"/>
          <p:cNvSpPr txBox="1"/>
          <p:nvPr/>
        </p:nvSpPr>
        <p:spPr>
          <a:xfrm>
            <a:off x="432350" y="860575"/>
            <a:ext cx="8620500" cy="3936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開設前の流入経路や事業所属性別で翌月継続率を比較したが、翌週継続に相当するほどのインパクトが期待できる指標は見つからなかった</a:t>
            </a:r>
            <a:endParaRPr sz="1600">
              <a:solidFill>
                <a:srgbClr val="1F1F1F"/>
              </a:solidFill>
              <a:latin typeface="M PLUS 1p"/>
              <a:ea typeface="M PLUS 1p"/>
              <a:cs typeface="M PLUS 1p"/>
              <a:sym typeface="M PLUS 1p"/>
            </a:endParaRPr>
          </a:p>
        </p:txBody>
      </p:sp>
      <p:sp>
        <p:nvSpPr>
          <p:cNvPr id="319" name="Google Shape;319;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pic>
        <p:nvPicPr>
          <p:cNvPr id="320" name="Google Shape;320;p30" title="グラフ"/>
          <p:cNvPicPr preferRelativeResize="0"/>
          <p:nvPr/>
        </p:nvPicPr>
        <p:blipFill>
          <a:blip r:embed="rId3">
            <a:alphaModFix/>
          </a:blip>
          <a:stretch>
            <a:fillRect/>
          </a:stretch>
        </p:blipFill>
        <p:spPr>
          <a:xfrm>
            <a:off x="432350" y="1794450"/>
            <a:ext cx="3765726" cy="2328476"/>
          </a:xfrm>
          <a:prstGeom prst="rect">
            <a:avLst/>
          </a:prstGeom>
          <a:noFill/>
          <a:ln>
            <a:noFill/>
          </a:ln>
        </p:spPr>
      </p:pic>
      <p:pic>
        <p:nvPicPr>
          <p:cNvPr id="321" name="Google Shape;321;p30" title="グラフ"/>
          <p:cNvPicPr preferRelativeResize="0"/>
          <p:nvPr/>
        </p:nvPicPr>
        <p:blipFill>
          <a:blip r:embed="rId4">
            <a:alphaModFix/>
          </a:blip>
          <a:stretch>
            <a:fillRect/>
          </a:stretch>
        </p:blipFill>
        <p:spPr>
          <a:xfrm>
            <a:off x="4706725" y="1794460"/>
            <a:ext cx="3765726" cy="232846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31"/>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1"/>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
        <p:nvSpPr>
          <p:cNvPr id="328" name="Google Shape;328;p3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a:t>
            </a:r>
            <a:r>
              <a:rPr b="1" lang="ja" sz="2000">
                <a:solidFill>
                  <a:srgbClr val="1F1F1F"/>
                </a:solidFill>
                <a:latin typeface="M PLUS 1p"/>
                <a:ea typeface="M PLUS 1p"/>
                <a:cs typeface="M PLUS 1p"/>
                <a:sym typeface="M PLUS 1p"/>
              </a:rPr>
              <a:t>③</a:t>
            </a:r>
            <a:r>
              <a:rPr b="1" lang="ja" sz="2000">
                <a:solidFill>
                  <a:srgbClr val="1F1F1F"/>
                </a:solidFill>
                <a:latin typeface="M PLUS 1p"/>
                <a:ea typeface="M PLUS 1p"/>
                <a:cs typeface="M PLUS 1p"/>
                <a:sym typeface="M PLUS 1p"/>
              </a:rPr>
              <a:t>アカウント開設前の変数と翌月継続率の関係</a:t>
            </a:r>
            <a:endParaRPr b="1" sz="2000">
              <a:solidFill>
                <a:srgbClr val="1F1F1F"/>
              </a:solidFill>
              <a:latin typeface="M PLUS 1p"/>
              <a:ea typeface="M PLUS 1p"/>
              <a:cs typeface="M PLUS 1p"/>
              <a:sym typeface="M PLUS 1p"/>
            </a:endParaRPr>
          </a:p>
        </p:txBody>
      </p:sp>
      <p:sp>
        <p:nvSpPr>
          <p:cNvPr id="329" name="Google Shape;329;p3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30" name="Google Shape;330;p31"/>
          <p:cNvSpPr txBox="1"/>
          <p:nvPr/>
        </p:nvSpPr>
        <p:spPr>
          <a:xfrm>
            <a:off x="432350" y="860575"/>
            <a:ext cx="8620500" cy="3936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開設前の流入経路や事業所属性別で翌月継続率を比較したが、翌週継続に相当する影響のある指標は見つからなかった</a:t>
            </a:r>
            <a:endParaRPr sz="1600">
              <a:solidFill>
                <a:srgbClr val="1F1F1F"/>
              </a:solidFill>
              <a:latin typeface="M PLUS 1p"/>
              <a:ea typeface="M PLUS 1p"/>
              <a:cs typeface="M PLUS 1p"/>
              <a:sym typeface="M PLUS 1p"/>
            </a:endParaRPr>
          </a:p>
        </p:txBody>
      </p:sp>
      <p:sp>
        <p:nvSpPr>
          <p:cNvPr id="331" name="Google Shape;331;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pic>
        <p:nvPicPr>
          <p:cNvPr id="332" name="Google Shape;332;p31" title="グラフ"/>
          <p:cNvPicPr preferRelativeResize="0"/>
          <p:nvPr/>
        </p:nvPicPr>
        <p:blipFill>
          <a:blip r:embed="rId3">
            <a:alphaModFix/>
          </a:blip>
          <a:stretch>
            <a:fillRect/>
          </a:stretch>
        </p:blipFill>
        <p:spPr>
          <a:xfrm>
            <a:off x="342900" y="2263475"/>
            <a:ext cx="2820576" cy="1744065"/>
          </a:xfrm>
          <a:prstGeom prst="rect">
            <a:avLst/>
          </a:prstGeom>
          <a:noFill/>
          <a:ln>
            <a:noFill/>
          </a:ln>
        </p:spPr>
      </p:pic>
      <p:pic>
        <p:nvPicPr>
          <p:cNvPr id="333" name="Google Shape;333;p31" title="グラフ"/>
          <p:cNvPicPr preferRelativeResize="0"/>
          <p:nvPr/>
        </p:nvPicPr>
        <p:blipFill>
          <a:blip r:embed="rId4">
            <a:alphaModFix/>
          </a:blip>
          <a:stretch>
            <a:fillRect/>
          </a:stretch>
        </p:blipFill>
        <p:spPr>
          <a:xfrm>
            <a:off x="3286062" y="2263475"/>
            <a:ext cx="2801796" cy="1744065"/>
          </a:xfrm>
          <a:prstGeom prst="rect">
            <a:avLst/>
          </a:prstGeom>
          <a:noFill/>
          <a:ln>
            <a:noFill/>
          </a:ln>
        </p:spPr>
      </p:pic>
      <p:pic>
        <p:nvPicPr>
          <p:cNvPr id="334" name="Google Shape;334;p31" title="グラフ"/>
          <p:cNvPicPr preferRelativeResize="0"/>
          <p:nvPr/>
        </p:nvPicPr>
        <p:blipFill>
          <a:blip r:embed="rId5">
            <a:alphaModFix/>
          </a:blip>
          <a:stretch>
            <a:fillRect/>
          </a:stretch>
        </p:blipFill>
        <p:spPr>
          <a:xfrm>
            <a:off x="6210439" y="2263474"/>
            <a:ext cx="2801796" cy="174407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32"/>
          <p:cNvSpPr/>
          <p:nvPr/>
        </p:nvSpPr>
        <p:spPr>
          <a:xfrm>
            <a:off x="342900" y="365275"/>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2"/>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
        <p:nvSpPr>
          <p:cNvPr id="341" name="Google Shape;341;p32"/>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appendix④初週での掲載パターン別継続率</a:t>
            </a:r>
            <a:r>
              <a:rPr b="1" lang="ja" sz="2000">
                <a:solidFill>
                  <a:srgbClr val="1F1F1F"/>
                </a:solidFill>
                <a:latin typeface="M PLUS 1p"/>
                <a:ea typeface="M PLUS 1p"/>
                <a:cs typeface="M PLUS 1p"/>
                <a:sym typeface="M PLUS 1p"/>
              </a:rPr>
              <a:t>_</a:t>
            </a:r>
            <a:r>
              <a:rPr b="1" lang="ja" sz="2000">
                <a:solidFill>
                  <a:srgbClr val="1F1F1F"/>
                </a:solidFill>
                <a:latin typeface="M PLUS 1p"/>
                <a:ea typeface="M PLUS 1p"/>
                <a:cs typeface="M PLUS 1p"/>
                <a:sym typeface="M PLUS 1p"/>
              </a:rPr>
              <a:t>月次推移</a:t>
            </a:r>
            <a:endParaRPr b="1" sz="2000">
              <a:solidFill>
                <a:srgbClr val="1F1F1F"/>
              </a:solidFill>
              <a:latin typeface="M PLUS 1p"/>
              <a:ea typeface="M PLUS 1p"/>
              <a:cs typeface="M PLUS 1p"/>
              <a:sym typeface="M PLUS 1p"/>
            </a:endParaRPr>
          </a:p>
        </p:txBody>
      </p:sp>
      <p:sp>
        <p:nvSpPr>
          <p:cNvPr id="342" name="Google Shape;342;p3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43" name="Google Shape;343;p32"/>
          <p:cNvSpPr txBox="1"/>
          <p:nvPr/>
        </p:nvSpPr>
        <p:spPr>
          <a:xfrm>
            <a:off x="432350" y="860575"/>
            <a:ext cx="8620500" cy="9810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時系列で見ても、一定の継続率の違いが出ている。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初週のみ掲載の店舗が多い状況のため、この店舗群を翌週も一緒に掲載してもらうことで継続率の向上を図りたい</a:t>
            </a:r>
            <a:endParaRPr sz="1600">
              <a:solidFill>
                <a:srgbClr val="1F1F1F"/>
              </a:solidFill>
              <a:latin typeface="M PLUS 1p"/>
              <a:ea typeface="M PLUS 1p"/>
              <a:cs typeface="M PLUS 1p"/>
              <a:sym typeface="M PLUS 1p"/>
            </a:endParaRPr>
          </a:p>
        </p:txBody>
      </p:sp>
      <p:sp>
        <p:nvSpPr>
          <p:cNvPr id="344" name="Google Shape;344;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pic>
        <p:nvPicPr>
          <p:cNvPr id="345" name="Google Shape;345;p32" title="グラフ"/>
          <p:cNvPicPr preferRelativeResize="0"/>
          <p:nvPr/>
        </p:nvPicPr>
        <p:blipFill>
          <a:blip r:embed="rId3">
            <a:alphaModFix/>
          </a:blip>
          <a:stretch>
            <a:fillRect/>
          </a:stretch>
        </p:blipFill>
        <p:spPr>
          <a:xfrm>
            <a:off x="270550" y="2177825"/>
            <a:ext cx="4179173" cy="2485399"/>
          </a:xfrm>
          <a:prstGeom prst="rect">
            <a:avLst/>
          </a:prstGeom>
          <a:noFill/>
          <a:ln>
            <a:noFill/>
          </a:ln>
        </p:spPr>
      </p:pic>
      <p:pic>
        <p:nvPicPr>
          <p:cNvPr id="346" name="Google Shape;346;p32" title="グラフ"/>
          <p:cNvPicPr preferRelativeResize="0"/>
          <p:nvPr/>
        </p:nvPicPr>
        <p:blipFill>
          <a:blip r:embed="rId4">
            <a:alphaModFix/>
          </a:blip>
          <a:stretch>
            <a:fillRect/>
          </a:stretch>
        </p:blipFill>
        <p:spPr>
          <a:xfrm>
            <a:off x="4627003" y="2177825"/>
            <a:ext cx="4179173" cy="24853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mee-simple">
  <a:themeElements>
    <a:clrScheme name="Office">
      <a:dk1>
        <a:srgbClr val="000000"/>
      </a:dk1>
      <a:lt1>
        <a:srgbClr val="FFFFFF"/>
      </a:lt1>
      <a:dk2>
        <a:srgbClr val="000000"/>
      </a:dk2>
      <a:lt2>
        <a:srgbClr val="FFFFFF"/>
      </a:lt2>
      <a:accent1>
        <a:srgbClr val="FFCE00"/>
      </a:accent1>
      <a:accent2>
        <a:srgbClr val="FFCE00"/>
      </a:accent2>
      <a:accent3>
        <a:srgbClr val="FFCE00"/>
      </a:accent3>
      <a:accent4>
        <a:srgbClr val="FFCE00"/>
      </a:accent4>
      <a:accent5>
        <a:srgbClr val="FFCE00"/>
      </a:accent5>
      <a:accent6>
        <a:srgbClr val="007AFF"/>
      </a:accent6>
      <a:hlink>
        <a:srgbClr val="007A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
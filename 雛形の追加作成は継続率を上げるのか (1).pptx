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8DCE0D-C110-41B6-AD72-EE73AA2D9250}">
  <a:tblStyle styleId="{BF8DCE0D-C110-41B6-AD72-EE73AA2D92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a1a499af_6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aa1a499af_6_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aa1a499af_6_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aa1a499af_6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faa1a499af_6_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faa1a499af_6_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aa1a499af_6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faa1a499af_6_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aa1a499af_6_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a1a499af_6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faa1a499af_6_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faa1a499af_6_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aa1a499af_6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faa1a499af_6_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faa1a499af_6_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aa1a499af_6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faa1a499af_6_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aa1a499af_6_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a1a499af_6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faa1a499af_6_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aa1a499af_6_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a1a499af_6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faa1a499af_6_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aa1a499af_6_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aa1a499af_6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aa1a499af_6_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aa1a499af_6_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aa1a499af_6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faa1a499af_6_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aa1a499af_6_1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a1a499af_6_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faa1a499af_6_1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aa1a499af_6_1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10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/>
        </p:nvSpPr>
        <p:spPr>
          <a:xfrm>
            <a:off x="548640" y="1440180"/>
            <a:ext cx="7886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900"/>
              <a:buFont typeface="Calibri"/>
              <a:buNone/>
            </a:pPr>
            <a:r>
              <a:rPr b="1" i="0" lang="ja" sz="2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雛形の追加作成は継続率を上げるのか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 txBox="1"/>
          <p:nvPr/>
        </p:nvSpPr>
        <p:spPr>
          <a:xfrm>
            <a:off x="548640" y="2160270"/>
            <a:ext cx="78867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libri"/>
              <a:buNone/>
            </a:pPr>
            <a:r>
              <a:rPr b="0" i="0" lang="ja" sz="14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いつ・何枚・どの職種で作るべきか ― 新規店舗16,361店舗の初回募集後行動と継続率の分析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548640" y="4046220"/>
            <a:ext cx="7886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Calibri"/>
              <a:buNone/>
            </a:pPr>
            <a:r>
              <a:rPr b="0" i="0" lang="ja" sz="1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オンボーディングチーム ｜ 2026年9月11日 ｜ 対象: 初回募集 2026年1月〜8月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/>
        </p:nvSpPr>
        <p:spPr>
          <a:xfrm>
            <a:off x="411480" y="24003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エグゼクティブサマリー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 txBox="1"/>
          <p:nvPr/>
        </p:nvSpPr>
        <p:spPr>
          <a:xfrm>
            <a:off x="411480" y="44577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ja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結論：「2枚目の雛形を初月内に持たせる」が最重要。作るタイミングより、2枚目があるかどうかが効く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411480" y="483489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雛形追加と継続率分析 | 2026-09-11 | SMBオンボーディング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411480" y="1165860"/>
            <a:ext cx="1988820" cy="994410"/>
          </a:xfrm>
          <a:prstGeom prst="roundRect">
            <a:avLst>
              <a:gd fmla="val 5517" name="adj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514350" y="1248156"/>
            <a:ext cx="17830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Calibri"/>
              <a:buNone/>
            </a:pPr>
            <a:r>
              <a:rPr b="1" lang="ja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51%→82%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514350" y="1748790"/>
            <a:ext cx="1783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Calibri"/>
              <a:buNone/>
            </a:pPr>
            <a:r>
              <a:rPr lang="ja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翌月継続率：雛形1枚のみ → 初月内に2枚目追加（単純比較）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2537460" y="1165860"/>
            <a:ext cx="1988820" cy="994410"/>
          </a:xfrm>
          <a:prstGeom prst="roundRect">
            <a:avLst>
              <a:gd fmla="val 5517" name="adj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2640330" y="1248156"/>
            <a:ext cx="17830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Calibri"/>
              <a:buNone/>
            </a:pPr>
            <a:r>
              <a:rPr b="1" lang="ja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+15pt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2640330" y="1748790"/>
            <a:ext cx="1783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Calibri"/>
              <a:buNone/>
            </a:pPr>
            <a:r>
              <a:rPr lang="ja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初月の活動量を揃えた後の翌月継続率の差（4日以上稼働店舗）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663440" y="1165860"/>
            <a:ext cx="1988820" cy="994410"/>
          </a:xfrm>
          <a:prstGeom prst="roundRect">
            <a:avLst>
              <a:gd fmla="val 5517" name="adj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766310" y="1248156"/>
            <a:ext cx="17830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Calibri"/>
              <a:buNone/>
            </a:pPr>
            <a:r>
              <a:rPr b="1" lang="ja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+16pt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766310" y="1748790"/>
            <a:ext cx="1783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Calibri"/>
              <a:buNone/>
            </a:pPr>
            <a:r>
              <a:rPr lang="ja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同条件での3ヶ月継続率の差（42%→57%）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789420" y="1165860"/>
            <a:ext cx="1954530" cy="994410"/>
          </a:xfrm>
          <a:prstGeom prst="roundRect">
            <a:avLst>
              <a:gd fmla="val 5517" name="adj"/>
            </a:avLst>
          </a:prstGeom>
          <a:solidFill>
            <a:srgbClr val="FFF6D9"/>
          </a:solidFill>
          <a:ln cap="flat" cmpd="sng" w="12700">
            <a:solidFill>
              <a:srgbClr val="FFF6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6892290" y="1248156"/>
            <a:ext cx="174879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Calibri"/>
              <a:buNone/>
            </a:pPr>
            <a:r>
              <a:rPr b="1" lang="ja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6892290" y="1748790"/>
            <a:ext cx="17487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Calibri"/>
              <a:buNone/>
            </a:pPr>
            <a:r>
              <a:rPr lang="ja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新規店舗のうち初月末に2枚以上持つ割合（残り80%が打ち手の対象）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11480" y="2366010"/>
            <a:ext cx="8318754" cy="212598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ja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1枚→2枚で翌月継続率は+25pt、3ヶ月継続率は+18pt上昇。3枚目は3ヶ月継続に+9pt、4枚目以降は上積みなし。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ja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「初回時点で複数枚（A）」と「初回1枚→初月内追加（B）」の継続率はほぼ同じ（3ヶ月とも50%）。差は「2枚目があるか」で決まる。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ja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単純比較の+28ptは過大。活動量の多い店舗が雛形を追加する（選択）、追加雛形が翌月に初使用（逆因果）を除くと、因果効果は翌月+10〜15pt・3ヶ月+8〜16ptが現実的。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ja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職種では「軽作業」が母数・上昇幅ともに最有望（統制後 翌月+20pt、3ヶ月+22pt）。飲食は母数最大だが効果は最小。オフィスワークは3ヶ月に効かない。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ja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推奨：初回募集設定時に2枚目を標準手順化 ＋ 初回募集後7日以内に1枚のみの店舗へアラート。プロセスKPIは「初回募集後14日以内の2雛形化率」（現状約20%→目標40%）。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411480" y="24003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データと定義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11480" y="44577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ja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分析の前提：店舗単位・暦月ベースの継続判定。雛形は「募集に使われたもの」のみ観測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411480" y="483489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lang="ja" sz="7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雛形追加と継続率分析 | 2026-09-11 | SMBオンボーディング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" name="Google Shape;89;p17"/>
          <p:cNvGraphicFramePr/>
          <p:nvPr/>
        </p:nvGraphicFramePr>
        <p:xfrm>
          <a:off x="411480" y="1131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{BF8DCE0D-C110-41B6-AD72-EE73AA2D9250}</a:tableStyleId>
              </a:tblPr>
              <a:tblGrid>
                <a:gridCol w="1783075"/>
                <a:gridCol w="65356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ja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項目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ja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定義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対象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初回募集日が2026/1/1〜8/31の店舗 17,005 → 初回募集日より前に仕事開始日を持つ644店舗（既存・再開疑い）を除外 → 16,361店舗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翌月継続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初回募集月(M)の翌暦月(M+1)に仕事開始日がある募集が1件以上。判定対象は1〜7月コホート（14,250店舗）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3ヶ月継続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M+3に仕事開始日がある募集が1件以上（間の月は問わない）。判定対象は1〜5月コホート（10,007店舗）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初回時点で複数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初回募集日までに作成された使用雛形が2枚以上（2,189店舗・13.4%）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初回1枚→初月内追加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初回時点1枚、初回募集日より後〜同月末に作成した使用雛形が1枚以上（990店舗・6.1%）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 初回1枚のみ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初回時点1枚、初月内の追加なし（13,182店舗・80.6%）。翌月以降の追加は「初月末時点で不明」として含む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職種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店舗の初回募集に使った雛形の職種カテゴリー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観測の限界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作成したが未使用の雛形はデータに存在しない。「雛形数」は実質「使用雛形数」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411480" y="24003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タイミング別の継続率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411480" y="44577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ja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Q1・Q2：雛形が2枚あれば継続率は大きく上がる。「最初から複数」と「初月内に追加」の差は小さい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411480" y="483489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lang="ja" sz="7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雛形追加と継続率分析 | 2026-09-11 | SMBオンボーディング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411480" y="109728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ja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翌月継続率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37310"/>
            <a:ext cx="4114800" cy="26746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4732020" y="109728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lang="ja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3ヶ月継続率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020" y="1337310"/>
            <a:ext cx="3977640" cy="26746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411480" y="4080510"/>
            <a:ext cx="831875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lang="ja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翌月：C 51.0% ／ A 75.2% ／ B 81.6%（n = 11,437 / 1,954 / 859）。3ヶ月：C 29.3% ／ A 50.3% ／ B 49.8%。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lang="ja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翌月継続した店舗に限ると3ヶ月継続率は A 59.5% ＞ B 53.4% ＞ C 45.9%。定着まで見ると早い方がやや有利だが、序列は1〜7月の全コホートで一貫。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411480" y="24003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因果の検証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411480" y="44577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ja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単純比較は過大。選択バイアスと逆因果を除いても、翌月+15pt・3ヶ月+16ptの差は残る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411480" y="483489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lang="ja" sz="7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雛形追加と継続率分析 | 2026-09-11 | SMBオンボーディング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411480" y="1097280"/>
            <a:ext cx="42519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ja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初月の活動量（仕事開始日ユニーク数）を揃えて比較 ― 翌月継続率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37310"/>
            <a:ext cx="425196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4800600" y="1097280"/>
            <a:ext cx="39090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ja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同 ― 3ヶ月継続率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337310"/>
            <a:ext cx="390906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411480" y="3737610"/>
            <a:ext cx="8318754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選択バイアス：雛形を追加する店舗は元々活動量が多い。活動量を揃えると差は 翌月 +15pt（4日以上）〜+20pt（2-3日）、3ヶ月 +16pt（4日以上）〜+8pt（2-3日）に縮む。それでも明確な差。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逆因果：初月内に追加した雛形を翌月に初使用した店舗（n=242）の翌月継続率は95.9%＝追加が継続そのもの。当月内に実使用した店舗（n=617）でもC比 翌月+25pt・3ヶ月+22pt。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「1日のみ・追加あり」(n=70)の91%は逆因果の塊なので読まない。因果効果の現実的な見立ては 翌月+10〜15pt、3ヶ月+8〜16pt。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411480" y="24003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雛形数別の継続率（初月末時点）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411480" y="44577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ja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何枚作るべきか：2枚目で最大のジャンプ、3枚目は3ヶ月継続に効く、4枚目以降は上積みなし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411480" y="483489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lang="ja" sz="7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雛形追加と継続率分析 | 2026-09-11 | SMBオンボーディング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31570"/>
            <a:ext cx="5212080" cy="31546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20"/>
          <p:cNvGraphicFramePr/>
          <p:nvPr/>
        </p:nvGraphicFramePr>
        <p:xfrm>
          <a:off x="5692140" y="1165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{BF8DCE0D-C110-41B6-AD72-EE73AA2D9250}</a:tableStyleId>
              </a:tblPr>
              <a:tblGrid>
                <a:gridCol w="445750"/>
                <a:gridCol w="548625"/>
                <a:gridCol w="514350"/>
                <a:gridCol w="514350"/>
                <a:gridCol w="514350"/>
                <a:gridCol w="514350"/>
              </a:tblGrid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枚数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翌月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増分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3ヶ月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増分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1枚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11,437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51.0%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29.3%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2枚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2,033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76.2%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+25.2pt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47.5%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+18.2pt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3枚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455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77.4%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+1.2pt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56.3%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+8.8pt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4枚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161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83.9%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+6.5pt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57.4%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+1.1pt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5+枚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164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81.7%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-2.1pt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58.4%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+1.0pt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20"/>
          <p:cNvSpPr txBox="1"/>
          <p:nvPr/>
        </p:nvSpPr>
        <p:spPr>
          <a:xfrm>
            <a:off x="5692140" y="2948940"/>
            <a:ext cx="305181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推奨基準は「初月内に2枚」。3枚目は3ヶ月継続率に+9pt効くが翌月には効かないため、翌月継続が確認できた店舗への2段目の提案とする。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4枚以上は母数が小さく(n=161/164)、上積みも見えない。枚数を積むことより、2枚目・3枚目を確実に作らせることに集中する。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追加雛形が初回と同一職種でも効果は同じ（翌月82% vs 79%）。別業務・別時間帯・別曜日の2枚目で十分。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411480" y="4526280"/>
            <a:ext cx="83187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Calibri"/>
              <a:buNone/>
            </a:pPr>
            <a:r>
              <a:rPr lang="ja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※ 初月末時点の「使用雛形数」。グループ内訳（A/B別）はExcel「04_件数別」参照。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/>
        </p:nvSpPr>
        <p:spPr>
          <a:xfrm>
            <a:off x="411480" y="24003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職種別の効果（活動量統制後：初月4日以上稼働・初回1枚スタート店舗）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411480" y="44577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ja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Q3 職種別：軽作業は母数・上昇幅とも最有望。飲食は母数最大だが上昇幅は最小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411480" y="483489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lang="ja" sz="7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雛形追加と継続率分析 | 2026-09-11 | SMBオンボーディング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31570"/>
            <a:ext cx="4183380" cy="31546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21"/>
          <p:cNvGraphicFramePr/>
          <p:nvPr/>
        </p:nvGraphicFramePr>
        <p:xfrm>
          <a:off x="4732020" y="1131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{BF8DCE0D-C110-41B6-AD72-EE73AA2D9250}</a:tableStyleId>
              </a:tblPr>
              <a:tblGrid>
                <a:gridCol w="1165850"/>
                <a:gridCol w="445750"/>
                <a:gridCol w="445750"/>
                <a:gridCol w="514350"/>
                <a:gridCol w="514350"/>
                <a:gridCol w="925825"/>
              </a:tblGrid>
              <a:tr h="20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職種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追加なし n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追加あり n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翌月リフト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3ヶ月リフト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判定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飲食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1,315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166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+9.9pt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+5.9pt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効果小/母数大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軽作業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835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+19.7pt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+21.9pt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8C"/>
                        </a:buClr>
                        <a:buSzPts val="700"/>
                        <a:buFont typeface="Calibri"/>
                        <a:buNone/>
                      </a:pPr>
                      <a:r>
                        <a:rPr b="1" lang="ja" sz="700" u="none" cap="none" strike="noStrike">
                          <a:solidFill>
                            <a:srgbClr val="8C8C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◎ 最優先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専門職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419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+12.9pt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+29.2pt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3ヶ月に強い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イベント・キャンペーン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+24.8pt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+35.2pt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差大/n小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オフィスワーク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+17.2pt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+4.6pt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△ 3ヶ月効かず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販売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+18.1pt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+16.5pt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差中/n小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接客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142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+31.0pt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+32.9pt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差大/n小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配達・運転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+18.6pt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+32.8pt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700"/>
                        <a:buFont typeface="Calibri"/>
                        <a:buNone/>
                      </a:pPr>
                      <a:r>
                        <a:rPr lang="ja" sz="7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差大/n小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21"/>
          <p:cNvSpPr txBox="1"/>
          <p:nvPr/>
        </p:nvSpPr>
        <p:spPr>
          <a:xfrm>
            <a:off x="4732020" y="3669030"/>
            <a:ext cx="401193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Char char="•"/>
            </a:pPr>
            <a:r>
              <a:rPr lang="ja" sz="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軽作業：C群の翌月継続率44%と最も低く、店舗数4,891（全体の30%）。統制後も+20pt/+22ptで、n=180/103と評価に耐える。改善余地×母数で最優先。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Char char="•"/>
            </a:pPr>
            <a:r>
              <a:rPr lang="ja" sz="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イベント・接客・配達・専門職：+13〜31ptと大きいが追加あり n&lt;50。方向は揃っており「効く見込み」として2番手で実行、効果はKPIで再検証。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Char char="•"/>
            </a:pPr>
            <a:r>
              <a:rPr lang="ja" sz="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飲食：ベースが高く（統制後74%）上昇幅は+10pt/+6pt。オフィスワークは翌月+17ptだが3ヶ月+5ptで定着に繋がっていない。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411480" y="4526280"/>
            <a:ext cx="83187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Calibri"/>
              <a:buNone/>
            </a:pPr>
            <a:r>
              <a:rPr lang="ja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※ 単純比較（統制前）の職種別リフトはExcel「05_Q3職種別」上段。エンタメは n=42 のため除外。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/>
        </p:nvSpPr>
        <p:spPr>
          <a:xfrm>
            <a:off x="411480" y="24003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As-Is / Gap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411480" y="44577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ja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現状のギャップ：新規店舗の80%が「雛形1枚」のまま初月を終えている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411480" y="483489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lang="ja" sz="7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雛形追加と継続率分析 | 2026-09-11 | SMBオンボーディング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65860"/>
            <a:ext cx="356616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/>
          <p:nvPr/>
        </p:nvSpPr>
        <p:spPr>
          <a:xfrm>
            <a:off x="4320540" y="1200150"/>
            <a:ext cx="2125980" cy="994410"/>
          </a:xfrm>
          <a:prstGeom prst="roundRect">
            <a:avLst>
              <a:gd fmla="val 5517" name="adj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4423410" y="1282446"/>
            <a:ext cx="1920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Calibri"/>
              <a:buNone/>
            </a:pPr>
            <a:r>
              <a:rPr b="1" lang="ja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≈1,770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4423410" y="1783080"/>
            <a:ext cx="19202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Calibri"/>
              <a:buNone/>
            </a:pPr>
            <a:r>
              <a:rPr lang="ja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月あたりの1枚スタート新規店舗数（1〜8月平均）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6583680" y="1200150"/>
            <a:ext cx="2125980" cy="994410"/>
          </a:xfrm>
          <a:prstGeom prst="roundRect">
            <a:avLst>
              <a:gd fmla="val 5517" name="adj"/>
            </a:avLst>
          </a:prstGeom>
          <a:solidFill>
            <a:srgbClr val="FFF6D9"/>
          </a:solidFill>
          <a:ln cap="flat" cmpd="sng" w="12700">
            <a:solidFill>
              <a:srgbClr val="FFF6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6686550" y="1282446"/>
            <a:ext cx="1920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Calibri"/>
              <a:buNone/>
            </a:pPr>
            <a:r>
              <a:rPr b="1" lang="ja" sz="2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7.0%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6686550" y="1783080"/>
            <a:ext cx="19202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Calibri"/>
              <a:buNone/>
            </a:pPr>
            <a:r>
              <a:rPr lang="ja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そのうち初月内に2枚目を作る割合（990 / 14,172）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4320540" y="2366010"/>
            <a:ext cx="43891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lang="ja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「2枚目を作らせる」行動は、現状ほぼ顧客の自発に任されている。初回募集設定の支援導線に組み込まれていないため、8割が1枚のまま。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lang="ja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Aが13%、Bが6%。A/Bの継続率がほぼ同じなら、初回募集の設定支援の時点で2枚目まで作らせる方が工数効率は高い（架電1回で完了）。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lang="ja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Cのうち翌月継続した店舗の3ヶ月継続率は46%、Aは59%。1枚のまま「たまたま続いた」店舗は定着しにくい。翌月継続後のフォロー対象でもある。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/>
        </p:nvSpPr>
        <p:spPr>
          <a:xfrm>
            <a:off x="411480" y="24003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To-Be / How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411480" y="44577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ja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推奨アクション：初回設定で2枚目を標準化し、7日以内の未作成店舗にアラート。KPIは「14日以内2雛形化率」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411480" y="483489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lang="ja" sz="7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雛形追加と継続率分析 | 2026-09-11 | SMBオンボーディング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411480" y="1131570"/>
            <a:ext cx="2674620" cy="2743200"/>
          </a:xfrm>
          <a:prstGeom prst="roundRect">
            <a:avLst>
              <a:gd fmla="val 2051" name="adj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548640" y="1268730"/>
            <a:ext cx="377190" cy="377190"/>
          </a:xfrm>
          <a:prstGeom prst="ellipse">
            <a:avLst/>
          </a:prstGeom>
          <a:solidFill>
            <a:srgbClr val="FFD100"/>
          </a:solidFill>
          <a:ln cap="flat" cmpd="sng" w="12700">
            <a:solidFill>
              <a:srgbClr val="FFD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548640" y="1268730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ja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1028700" y="1234440"/>
            <a:ext cx="19545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ja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初回募集設定時に「2枚目」を標準手順化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514350" y="1783080"/>
            <a:ext cx="24688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対象：初回募集の設定支援を行う全新規店舗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内容：1枚目作成直後に「別時間帯／別曜日／別業務」の2枚目を同席で作成。トークは「1枚だと空いた日に募集できないので、もう1パターン作っておきましょう」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担当：オンボーディング（設定支援担当）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工数：+5分/店舗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優先職種：軽作業 → 接客・イベント・配達・専門職 → 飲食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3223260" y="1131570"/>
            <a:ext cx="2674620" cy="2743200"/>
          </a:xfrm>
          <a:prstGeom prst="roundRect">
            <a:avLst>
              <a:gd fmla="val 2051" name="adj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3360420" y="1268730"/>
            <a:ext cx="377190" cy="377190"/>
          </a:xfrm>
          <a:prstGeom prst="ellipse">
            <a:avLst/>
          </a:prstGeom>
          <a:solidFill>
            <a:srgbClr val="FFD100"/>
          </a:solidFill>
          <a:ln cap="flat" cmpd="sng" w="12700">
            <a:solidFill>
              <a:srgbClr val="FFD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3360420" y="1268730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ja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3840480" y="1234440"/>
            <a:ext cx="19545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ja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初回募集後7日時点で1枚のみの店舗にアラート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3326130" y="1783080"/>
            <a:ext cx="24688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対象：初回募集から7日経過、使用雛形1枚、当月中に仕事開始予定あり（活動している店舗）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内容：自動抽出→架電 or 自動メッセージ（Tech Touch）で2枚目作成を提案。作成手順のショート動画リンク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担当：Ops化（リスト自動抽出）＋メンバー架電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記録：提案有無／作成有無／作成しない理由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6035040" y="1131570"/>
            <a:ext cx="2674620" cy="2743200"/>
          </a:xfrm>
          <a:prstGeom prst="roundRect">
            <a:avLst>
              <a:gd fmla="val 2051" name="adj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6172200" y="1268730"/>
            <a:ext cx="377190" cy="377190"/>
          </a:xfrm>
          <a:prstGeom prst="ellipse">
            <a:avLst/>
          </a:prstGeom>
          <a:solidFill>
            <a:srgbClr val="FFD100"/>
          </a:solidFill>
          <a:ln cap="flat" cmpd="sng" w="12700">
            <a:solidFill>
              <a:srgbClr val="FFD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6172200" y="1268730"/>
            <a:ext cx="3771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ja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6652260" y="1234440"/>
            <a:ext cx="19545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ja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翌月継続店舗への「3枚目」提案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6137910" y="1783080"/>
            <a:ext cx="24688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対象：翌月に仕事開始日が確定した2枚保有店舗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内容：3ヶ月継続率+9ptの根拠で、別業務・別拠点の3枚目を提案（利用拠点・掲載数拡大と兼ねる）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担当：継続フォロー担当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判断：4枚目以降は提案しない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411480" y="3977640"/>
            <a:ext cx="8318754" cy="754380"/>
          </a:xfrm>
          <a:prstGeom prst="roundRect">
            <a:avLst>
              <a:gd fmla="val 7273" name="adj"/>
            </a:avLst>
          </a:prstGeom>
          <a:solidFill>
            <a:srgbClr val="FFF6D9"/>
          </a:solidFill>
          <a:ln cap="flat" cmpd="sng" w="12700">
            <a:solidFill>
              <a:srgbClr val="FFF6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548640" y="4011930"/>
            <a:ext cx="804443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プロセスKPI：</a:t>
            </a:r>
            <a:r>
              <a:rPr lang="ja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「初回募集後14日以内の2雛形以上化率」 現状≈20%（A 13% + B 7%） → 目標40%。  </a:t>
            </a:r>
            <a:r>
              <a:rPr b="1" lang="ja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結果KPI：</a:t>
            </a:r>
            <a:r>
              <a:rPr lang="ja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コホート翌月継続率・3ヶ月継続率（暦月効果の歪みが小さい3ヶ月を主指標）。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/>
        </p:nvSpPr>
        <p:spPr>
          <a:xfrm>
            <a:off x="411480" y="24003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インパクト試算 / 検証設計 / 意思決定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411480" y="44577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ja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想定インパクトと判断事項：月+40店舗の翌月継続。単独では中規模だが、設定フローに乗せれば追加工数はほぼゼロ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 txBox="1"/>
          <p:nvPr/>
        </p:nvSpPr>
        <p:spPr>
          <a:xfrm>
            <a:off x="411480" y="483489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lang="ja" sz="7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雛形追加と継続率分析 | 2026-09-11 | SMBオンボーディング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24"/>
          <p:cNvGraphicFramePr/>
          <p:nvPr/>
        </p:nvGraphicFramePr>
        <p:xfrm>
          <a:off x="411480" y="1131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{BF8DCE0D-C110-41B6-AD72-EE73AA2D9250}</a:tableStyleId>
              </a:tblPr>
              <a:tblGrid>
                <a:gridCol w="1577325"/>
                <a:gridCol w="1714500"/>
                <a:gridCol w="164590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前提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値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根拠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月あたり1枚スタート店舗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≈1,770店舗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1〜8月コホート平均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2雛形化率の引き上げ幅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+20pt（≈350店舗/月）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20%→40%。②アラートの反応率は要検証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因果効果（保守的）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翌月+12pt / 3ヶ月+10pt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活動量統制後の差の下限寄り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追加継続店舗数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翌月 +約40店舗/月、3ヶ月 +約35店舗/月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 × 12% ／ 350 × 10%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コホート継続率への寄与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翌月継続率 約+2pt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 / 1,770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1150" marB="41150" marR="41150" marL="4115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24"/>
          <p:cNvSpPr txBox="1"/>
          <p:nvPr/>
        </p:nvSpPr>
        <p:spPr>
          <a:xfrm>
            <a:off x="5554980" y="1131570"/>
            <a:ext cx="31546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lang="ja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検証設計（1ヶ月で判定可能）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5554980" y="1405890"/>
            <a:ext cx="315468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5" lIns="475" spcFirstLastPara="1" rIns="475" wrap="square" tIns="4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初回募集後7日・1枚のみ・当月活動ありの店舗を、介入（②アラート＋架電）／非介入にランダム割付。各600店舗以上を1ヶ月で確保可能。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判定：介入群の2雛形化率が+15pt未満→トーク／導線を変更。継続率差が+5pt未満→中止。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Calibri"/>
              <a:buChar char="•"/>
            </a:pPr>
            <a:r>
              <a:rPr lang="ja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①は全新規に適用し、月次で「14日以内2雛形化率」と職種別リフトをモニタリング。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411480" y="3154680"/>
            <a:ext cx="8318754" cy="1577340"/>
          </a:xfrm>
          <a:prstGeom prst="roundRect">
            <a:avLst>
              <a:gd fmla="val 3478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582930" y="322326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Calibri"/>
              <a:buNone/>
            </a:pPr>
            <a:r>
              <a:rPr b="1" lang="ja" sz="11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判断してほしいこと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582930" y="3497580"/>
            <a:ext cx="7975854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ja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初回募集の設定支援手順に「2枚目雛形の同席作成」を標準として組み込むこと（今月から）。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ja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「初回募集後14日以内の2雛形化率」をオンボーディングのプロセスKPIとして採用すること（目標40%）。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ja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7日アラートのランダム化検証を10月コホートで実施し、11月末に継続／変更／中止を判断すること。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リスク：</a:t>
            </a:r>
            <a:r>
              <a:rPr lang="ja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観測は「使用雛形」のみで、未使用雛形の効果は不明。因果効果は統制後の観察差に基づく推定であり、検証結果で上書きする。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/>
        </p:nvSpPr>
        <p:spPr>
          <a:xfrm>
            <a:off x="411480" y="24003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1" lang="ja" sz="9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411480" y="44577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lang="ja" sz="2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補足：職種別の単純比較（統制前）― 全職種でB≧A＞Cの序列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411480" y="4834890"/>
            <a:ext cx="5486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700"/>
              <a:buFont typeface="Calibri"/>
              <a:buNone/>
            </a:pPr>
            <a:r>
              <a:rPr lang="ja" sz="7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雛形追加と継続率分析 | 2026-09-11 | SMBオンボーディング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25"/>
          <p:cNvGraphicFramePr/>
          <p:nvPr/>
        </p:nvGraphicFramePr>
        <p:xfrm>
          <a:off x="411480" y="1165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{BF8DCE0D-C110-41B6-AD72-EE73AA2D9250}</a:tableStyleId>
              </a:tblPr>
              <a:tblGrid>
                <a:gridCol w="1371600"/>
                <a:gridCol w="6172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843525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職種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店舗数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 翌月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翌月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翌月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B−C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 3ヶ月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3ヶ月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3ヶ月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B−C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n / A 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飲食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6,042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55.8%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83.3%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80.7%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+27.5pt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50.6%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56.8%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+17.6pt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245 / 602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軽作業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4,891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44.3%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77.1%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71.1%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+32.8pt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26.8%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47.6%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45.4%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+20.8pt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315 / 574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専門職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1,444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66.3%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86.9%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+23.7pt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34.0%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65.9%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64.1%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+31.9pt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 / 222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イベント・キャンペーン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1,068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44.4%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86.5%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59.1%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+42.2pt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23.4%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55.3%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33.1%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+31.9pt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 / 164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オフィスワーク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43.2%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78.8%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71.7%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+35.6pt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23.8%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38.0%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41.1%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+14.2pt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 / 145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販売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42.6%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77.2%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69.6%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+34.6pt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22.8%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38.5%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46.9%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+15.6pt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 / 79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接客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52.8%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94.7%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82.4%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+42.0pt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26.8%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55.2%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50.0%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+28.4pt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 / 91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配達・運転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51.7%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87.0%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67.6%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+35.3pt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32.4%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68.8%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54.3%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+36.4pt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 / 71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DED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5"/>
          <p:cNvSpPr txBox="1"/>
          <p:nvPr/>
        </p:nvSpPr>
        <p:spPr>
          <a:xfrm>
            <a:off x="411480" y="3909060"/>
            <a:ext cx="83187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Calibri"/>
              <a:buNone/>
            </a:pPr>
            <a:r>
              <a:rPr lang="ja" sz="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※ 統制前の差は選択バイアス・逆因果を含むため上振れ。判断は前ページ（統制後）に基づく。n は翌月判定対象店舗数。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[1789105824189]">
  <a:themeElements>
    <a:clrScheme name="Office">
      <a:dk1>
        <a:srgbClr val="1A1A1A"/>
      </a:dk1>
      <a:lt1>
        <a:srgbClr val="FFFFFF"/>
      </a:lt1>
      <a:dk2>
        <a:srgbClr val="434343"/>
      </a:dk2>
      <a:lt2>
        <a:srgbClr val="F5F5F5"/>
      </a:lt2>
      <a:accent1>
        <a:srgbClr val="FFD100"/>
      </a:accent1>
      <a:accent2>
        <a:srgbClr val="1A1A1A"/>
      </a:accent2>
      <a:accent3>
        <a:srgbClr val="8C8C8C"/>
      </a:accent3>
      <a:accent4>
        <a:srgbClr val="EDEDED"/>
      </a:accent4>
      <a:accent5>
        <a:srgbClr val="FFF6D9"/>
      </a:accent5>
      <a:accent6>
        <a:srgbClr val="59595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
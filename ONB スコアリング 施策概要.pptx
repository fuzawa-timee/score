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 id="2147483663" r:id="rId6"/>
    <p:sldMasterId id="2147483664" r:id="rId7"/>
    <p:sldMasterId id="2147483665"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Lst>
  <p:sldSz cy="5143500" cx="9144000"/>
  <p:notesSz cx="6858000" cy="9144000"/>
  <p:embeddedFontLst>
    <p:embeddedFont>
      <p:font typeface="M PLUS 1p"/>
      <p:regular r:id="rId25"/>
      <p:bold r:id="rId26"/>
    </p:embeddedFont>
    <p:embeddedFont>
      <p:font typeface="Noto Sans JP"/>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D1902DF-5F7D-472D-8D0B-F0FF43A86CE1}">
  <a:tblStyle styleId="{4D1902DF-5F7D-472D-8D0B-F0FF43A86CE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26" Type="http://schemas.openxmlformats.org/officeDocument/2006/relationships/font" Target="fonts/MPLUS1p-bold.fntdata"/><Relationship Id="rId25" Type="http://schemas.openxmlformats.org/officeDocument/2006/relationships/font" Target="fonts/MPLUS1p-regular.fntdata"/><Relationship Id="rId28" Type="http://schemas.openxmlformats.org/officeDocument/2006/relationships/font" Target="fonts/NotoSansJP-bold.fntdata"/><Relationship Id="rId27" Type="http://schemas.openxmlformats.org/officeDocument/2006/relationships/font" Target="fonts/NotoSansJP-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11" Type="http://schemas.openxmlformats.org/officeDocument/2006/relationships/slide" Target="slides/slide2.xml"/><Relationship Id="rId10" Type="http://schemas.openxmlformats.org/officeDocument/2006/relationships/slide" Target="slides/slide1.xml"/><Relationship Id="rId13" Type="http://schemas.openxmlformats.org/officeDocument/2006/relationships/slide" Target="slides/slide4.xml"/><Relationship Id="rId12" Type="http://schemas.openxmlformats.org/officeDocument/2006/relationships/slide" Target="slides/slide3.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a3f614058_3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 name="Google Shape;58;g3fa3f614058_3_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9" name="Google Shape;59;g3fa3f614058_3_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ja"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fa3f614058_3_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 name="Google Shape;68;g3fa3f614058_3_1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9" name="Google Shape;69;g3fa3f614058_3_1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ja"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a3f614058_3_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g3fa3f614058_3_41: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99" name="Google Shape;99;g3fa3f614058_3_41: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ja"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a5389ac8f_1_6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g3fa5389ac8f_1_6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g3fa5389ac8f_1_6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a3f614058_3_6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g3fa3f614058_3_6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81" name="Google Shape;181;g3fa3f614058_3_6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ja"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fa3f614058_3_1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g3fa3f614058_3_116: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36" name="Google Shape;236;g3fa3f614058_3_116: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ja"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fa3f614058_8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g3fa3f614058_8_0: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62" name="Google Shape;262;g3fa3f614058_8_0: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ja"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fa3f614058_3_16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g3fa3f614058_3_161: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88" name="Google Shape;288;g3fa3f614058_3_161: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ja"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fa3f614058_3_2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g3fa3f614058_3_217: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45" name="Google Shape;345;g3fa3f614058_3_217: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ja"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fa3f614058_3_26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1" name="Google Shape;391;g3fa3f614058_3_262: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92" name="Google Shape;392;g3fa3f614058_3_262: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ja"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fa3f614058_3_3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g3fa3f614058_3_319: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49" name="Google Shape;449;g3fa3f614058_3_319: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ja"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fb57745061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2" name="Google Shape;482;g3fb57745061_0_0:notes"/>
          <p:cNvSpPr txBox="1"/>
          <p:nvPr>
            <p:ph idx="1" type="body"/>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83" name="Google Shape;483;g3fb57745061_0_0:notes"/>
          <p:cNvSpPr txBox="1"/>
          <p:nvPr>
            <p:ph idx="12" type="sldNum"/>
          </p:nvPr>
        </p:nvSpPr>
        <p:spPr>
          <a:xfrm>
            <a:off x="0" y="0"/>
            <a:ext cx="39999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ja"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409e2773c3a_1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g409e2773c3a_1_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 sz="1200"/>
              <a:t>出典：添付「ONB スコアリング 施策概要 (2)(1).pdf」p.3、5、8〜10、および依頼文。現行EはDM対象のため「放置」ではなく「個別介入なし」と記載。ヨミ実施率43%、アポ取得率1桁%、9月数値は依頼文に基づく。9月は集計時点・分母の詳細未提示であり、提示値として扱う。9月A96.36%〜E28.47%、D Win81%、E Win38%、B/C上振れ。ランク間差からアクションの因果効果は断定しない。添付8月スライドは母数注記・読み解きに不整合があるため、その母数と差の説明を転載していない。</a:t>
            </a:r>
            <a:endParaRPr/>
          </a:p>
        </p:txBody>
      </p:sp>
      <p:sp>
        <p:nvSpPr>
          <p:cNvPr id="492" name="Google Shape;492;g409e2773c3a_1_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409e2773c3a_1_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3" name="Google Shape;503;g409e2773c3a_1_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 sz="1200"/>
              <a:t>出典：依頼文 To-Be 1〜5。ここでの全顧客はONBの対象顧客を指す。星の一覧・卒業条件は未確定。営業ヨミは主観情報であり、入力率改善だけでは十分でない。ヨミ付け実施率、ヨミ別実績継続率、担当者別ヨミ構成、ヨミと実績の乖離を管理する。標準アクションは状態、営業の行動、顧客行動の完了条件、不動時の次の行動、テックタッチで代替できる範囲をセットにする。計画掲載の支援・再提案は具体化した提案例。対面商談は必須前提から標準アクションの選択肢への再設計を提案。ノベルティや資料郵送は送付オペレーションであり自動化済みとは扱わない。</a:t>
            </a:r>
            <a:endParaRPr/>
          </a:p>
        </p:txBody>
      </p:sp>
      <p:sp>
        <p:nvSpPr>
          <p:cNvPr id="504" name="Google Shape;504;g409e2773c3a_1_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409e2773c3a_1_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5" name="Google Shape;515;g409e2773c3a_1_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ja" sz="1200"/>
              <a:t>出典：依頼文「10月PoCで検証すること」「上位レイヤーで見る指標」「判断してほしいこと」「次のアクション」。7検証項目は①各星と継続率②達成数と継続率③未達から標準アクションを決められるか④期限内実行⑤顧客行動変化⑥卒業達成数⑦必須項目。候補分類は卒業条件候補・推奨アクション・診断情報・リスクアラート。現行TGT/ACT/GAP/Win%フォーマットを流用。10月の正式FCTはヨミベース、星取ベースは参考。過去TGTとの比較でも交絡・選択バイアスを除けず、因果効果の立証にはならないため留意事項を補足。11月中旬以降の評価は途中評価として、11月末確定値でも再確認する提案。6名の稼働制約を踏まえ持ち越し許容。</a:t>
            </a:r>
            <a:endParaRPr/>
          </a:p>
        </p:txBody>
      </p:sp>
      <p:sp>
        <p:nvSpPr>
          <p:cNvPr id="516" name="Google Shape;516;g409e2773c3a_1_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3" name="Shape 53"/>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5" name="Shape 5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1.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 name="Shape 54"/>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100"/>
        </a:solidFill>
      </p:bgPr>
    </p:bg>
    <p:spTree>
      <p:nvGrpSpPr>
        <p:cNvPr id="60" name="Shape 60"/>
        <p:cNvGrpSpPr/>
        <p:nvPr/>
      </p:nvGrpSpPr>
      <p:grpSpPr>
        <a:xfrm>
          <a:off x="0" y="0"/>
          <a:ext cx="0" cy="0"/>
          <a:chOff x="0" y="0"/>
          <a:chExt cx="0" cy="0"/>
        </a:xfrm>
      </p:grpSpPr>
      <p:sp>
        <p:nvSpPr>
          <p:cNvPr id="61" name="Google Shape;61;p19"/>
          <p:cNvSpPr txBox="1"/>
          <p:nvPr/>
        </p:nvSpPr>
        <p:spPr>
          <a:xfrm>
            <a:off x="365760" y="310896"/>
            <a:ext cx="1828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4000"/>
              <a:buFont typeface="Meiryo"/>
              <a:buNone/>
            </a:pPr>
            <a:r>
              <a:rPr b="1" i="0" lang="ja" sz="4000" u="none" cap="none" strike="noStrike">
                <a:solidFill>
                  <a:srgbClr val="1A1A1A"/>
                </a:solidFill>
                <a:latin typeface="Meiryo"/>
                <a:ea typeface="Meiryo"/>
                <a:cs typeface="Meiryo"/>
                <a:sym typeface="Meiryo"/>
              </a:rPr>
              <a:t>Timee</a:t>
            </a:r>
            <a:endParaRPr b="0" i="0" sz="4000" u="none" cap="none" strike="noStrike">
              <a:solidFill>
                <a:schemeClr val="dk1"/>
              </a:solidFill>
              <a:latin typeface="Calibri"/>
              <a:ea typeface="Calibri"/>
              <a:cs typeface="Calibri"/>
              <a:sym typeface="Calibri"/>
            </a:endParaRPr>
          </a:p>
        </p:txBody>
      </p:sp>
      <p:sp>
        <p:nvSpPr>
          <p:cNvPr id="62" name="Google Shape;62;p19"/>
          <p:cNvSpPr txBox="1"/>
          <p:nvPr/>
        </p:nvSpPr>
        <p:spPr>
          <a:xfrm>
            <a:off x="365760" y="1371600"/>
            <a:ext cx="822960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4800"/>
              <a:buFont typeface="Meiryo"/>
              <a:buNone/>
            </a:pPr>
            <a:r>
              <a:rPr b="1" i="0" lang="ja" sz="3500" u="none" cap="none" strike="noStrike">
                <a:solidFill>
                  <a:srgbClr val="1A1A1A"/>
                </a:solidFill>
                <a:latin typeface="M PLUS 1p"/>
                <a:ea typeface="M PLUS 1p"/>
                <a:cs typeface="M PLUS 1p"/>
                <a:sym typeface="M PLUS 1p"/>
              </a:rPr>
              <a:t>ONB スコアリング</a:t>
            </a:r>
            <a:endParaRPr i="0" sz="3500" u="none" cap="none" strike="noStrike">
              <a:solidFill>
                <a:schemeClr val="dk1"/>
              </a:solidFill>
              <a:latin typeface="M PLUS 1p"/>
              <a:ea typeface="M PLUS 1p"/>
              <a:cs typeface="M PLUS 1p"/>
              <a:sym typeface="M PLUS 1p"/>
            </a:endParaRPr>
          </a:p>
          <a:p>
            <a:pPr indent="0" lvl="0" marL="0" marR="0" rtl="0" algn="l">
              <a:spcBef>
                <a:spcPts val="0"/>
              </a:spcBef>
              <a:spcAft>
                <a:spcPts val="0"/>
              </a:spcAft>
              <a:buClr>
                <a:srgbClr val="1A1A1A"/>
              </a:buClr>
              <a:buSzPts val="4800"/>
              <a:buFont typeface="Meiryo"/>
              <a:buNone/>
            </a:pPr>
            <a:r>
              <a:rPr b="1" i="0" lang="ja" sz="3500" u="none" cap="none" strike="noStrike">
                <a:solidFill>
                  <a:srgbClr val="1A1A1A"/>
                </a:solidFill>
                <a:latin typeface="M PLUS 1p"/>
                <a:ea typeface="M PLUS 1p"/>
                <a:cs typeface="M PLUS 1p"/>
                <a:sym typeface="M PLUS 1p"/>
              </a:rPr>
              <a:t>施策概要</a:t>
            </a:r>
            <a:endParaRPr i="0" sz="3500" u="none" cap="none" strike="noStrike">
              <a:solidFill>
                <a:schemeClr val="dk1"/>
              </a:solidFill>
              <a:latin typeface="M PLUS 1p"/>
              <a:ea typeface="M PLUS 1p"/>
              <a:cs typeface="M PLUS 1p"/>
              <a:sym typeface="M PLUS 1p"/>
            </a:endParaRPr>
          </a:p>
        </p:txBody>
      </p:sp>
      <p:sp>
        <p:nvSpPr>
          <p:cNvPr id="63" name="Google Shape;63;p19"/>
          <p:cNvSpPr/>
          <p:nvPr/>
        </p:nvSpPr>
        <p:spPr>
          <a:xfrm>
            <a:off x="365760" y="3383280"/>
            <a:ext cx="1097280" cy="54864"/>
          </a:xfrm>
          <a:prstGeom prst="rect">
            <a:avLst/>
          </a:prstGeom>
          <a:solidFill>
            <a:srgbClr val="1A1A1A"/>
          </a:solidFill>
          <a:ln cap="flat" cmpd="sng" w="12700">
            <a:solidFill>
              <a:srgbClr val="1A1A1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64" name="Google Shape;64;p19"/>
          <p:cNvSpPr txBox="1"/>
          <p:nvPr/>
        </p:nvSpPr>
        <p:spPr>
          <a:xfrm>
            <a:off x="365760" y="3611880"/>
            <a:ext cx="841248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700"/>
              <a:buFont typeface="Meiryo"/>
              <a:buNone/>
            </a:pPr>
            <a:r>
              <a:rPr b="1" lang="ja" sz="1700">
                <a:solidFill>
                  <a:srgbClr val="1A1A1A"/>
                </a:solidFill>
                <a:latin typeface="M PLUS 1p"/>
                <a:ea typeface="M PLUS 1p"/>
                <a:cs typeface="M PLUS 1p"/>
                <a:sym typeface="M PLUS 1p"/>
              </a:rPr>
              <a:t>継続リスクに応じてアプローチの優先順位・介入強度・アクションを変える</a:t>
            </a:r>
            <a:endParaRPr sz="1700">
              <a:solidFill>
                <a:schemeClr val="dk1"/>
              </a:solidFill>
              <a:latin typeface="M PLUS 1p"/>
              <a:ea typeface="M PLUS 1p"/>
              <a:cs typeface="M PLUS 1p"/>
              <a:sym typeface="M PLUS 1p"/>
            </a:endParaRPr>
          </a:p>
        </p:txBody>
      </p:sp>
      <p:sp>
        <p:nvSpPr>
          <p:cNvPr id="65" name="Google Shape;65;p19"/>
          <p:cNvSpPr txBox="1"/>
          <p:nvPr/>
        </p:nvSpPr>
        <p:spPr>
          <a:xfrm>
            <a:off x="365760" y="4297680"/>
            <a:ext cx="84124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100"/>
              <a:buFont typeface="Meiryo"/>
              <a:buNone/>
            </a:pPr>
            <a:r>
              <a:rPr lang="ja" sz="1100">
                <a:solidFill>
                  <a:srgbClr val="1A1A1A"/>
                </a:solidFill>
                <a:latin typeface="M PLUS 1p"/>
                <a:ea typeface="M PLUS 1p"/>
                <a:cs typeface="M PLUS 1p"/>
                <a:sym typeface="M PLUS 1p"/>
              </a:rPr>
              <a:t>インキュベーション事業部　2026.9</a:t>
            </a:r>
            <a:endParaRPr sz="1100">
              <a:solidFill>
                <a:schemeClr val="dk1"/>
              </a:solidFill>
              <a:latin typeface="M PLUS 1p"/>
              <a:ea typeface="M PLUS 1p"/>
              <a:cs typeface="M PLUS 1p"/>
              <a:sym typeface="M PLUS 1p"/>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20"/>
          <p:cNvSpPr txBox="1"/>
          <p:nvPr/>
        </p:nvSpPr>
        <p:spPr>
          <a:xfrm>
            <a:off x="365760" y="182880"/>
            <a:ext cx="75895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Meiryo"/>
              <a:buNone/>
            </a:pPr>
            <a:r>
              <a:rPr b="1" lang="ja" sz="2000">
                <a:solidFill>
                  <a:srgbClr val="1A1A1A"/>
                </a:solidFill>
                <a:latin typeface="M PLUS 1p"/>
                <a:ea typeface="M PLUS 1p"/>
                <a:cs typeface="M PLUS 1p"/>
                <a:sym typeface="M PLUS 1p"/>
              </a:rPr>
              <a:t>継続可能性で工数を配分し、翌月継続率を上げる</a:t>
            </a:r>
            <a:endParaRPr sz="2000">
              <a:solidFill>
                <a:schemeClr val="dk1"/>
              </a:solidFill>
              <a:latin typeface="M PLUS 1p"/>
              <a:ea typeface="M PLUS 1p"/>
              <a:cs typeface="M PLUS 1p"/>
              <a:sym typeface="M PLUS 1p"/>
            </a:endParaRPr>
          </a:p>
        </p:txBody>
      </p:sp>
      <p:sp>
        <p:nvSpPr>
          <p:cNvPr id="72" name="Google Shape;72;p20"/>
          <p:cNvSpPr txBox="1"/>
          <p:nvPr/>
        </p:nvSpPr>
        <p:spPr>
          <a:xfrm>
            <a:off x="8046720" y="164592"/>
            <a:ext cx="7315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A1A1A"/>
              </a:buClr>
              <a:buSzPts val="1400"/>
              <a:buFont typeface="Meiryo"/>
              <a:buNone/>
            </a:pPr>
            <a:r>
              <a:rPr b="1" lang="ja" sz="1400">
                <a:solidFill>
                  <a:srgbClr val="1A1A1A"/>
                </a:solidFill>
                <a:latin typeface="Meiryo"/>
                <a:ea typeface="Meiryo"/>
                <a:cs typeface="Meiryo"/>
                <a:sym typeface="Meiryo"/>
              </a:rPr>
              <a:t>Timee</a:t>
            </a:r>
            <a:endParaRPr sz="1400">
              <a:solidFill>
                <a:schemeClr val="dk1"/>
              </a:solidFill>
              <a:latin typeface="Calibri"/>
              <a:ea typeface="Calibri"/>
              <a:cs typeface="Calibri"/>
              <a:sym typeface="Calibri"/>
            </a:endParaRPr>
          </a:p>
        </p:txBody>
      </p:sp>
      <p:sp>
        <p:nvSpPr>
          <p:cNvPr id="73" name="Google Shape;73;p20"/>
          <p:cNvSpPr/>
          <p:nvPr/>
        </p:nvSpPr>
        <p:spPr>
          <a:xfrm>
            <a:off x="365760" y="658368"/>
            <a:ext cx="8412480" cy="457200"/>
          </a:xfrm>
          <a:prstGeom prst="rect">
            <a:avLst/>
          </a:prstGeom>
          <a:solidFill>
            <a:srgbClr val="FFF6D9"/>
          </a:solidFill>
          <a:ln cap="flat" cmpd="sng" w="12700">
            <a:solidFill>
              <a:srgbClr val="FFF6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74" name="Google Shape;74;p20"/>
          <p:cNvSpPr txBox="1"/>
          <p:nvPr/>
        </p:nvSpPr>
        <p:spPr>
          <a:xfrm>
            <a:off x="502920" y="658368"/>
            <a:ext cx="8138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50"/>
              <a:buFont typeface="Meiryo"/>
              <a:buNone/>
            </a:pPr>
            <a:r>
              <a:rPr lang="ja" sz="1150">
                <a:solidFill>
                  <a:srgbClr val="1A1A1A"/>
                </a:solidFill>
                <a:latin typeface="M PLUS 1p"/>
                <a:ea typeface="M PLUS 1p"/>
                <a:cs typeface="M PLUS 1p"/>
                <a:sym typeface="M PLUS 1p"/>
              </a:rPr>
              <a:t>顧客の利用状況・ヨミ・接触状況をスコア化し、</a:t>
            </a:r>
            <a:r>
              <a:rPr b="1" lang="ja" sz="1150">
                <a:solidFill>
                  <a:srgbClr val="1D7FE8"/>
                </a:solidFill>
                <a:latin typeface="M PLUS 1p"/>
                <a:ea typeface="M PLUS 1p"/>
                <a:cs typeface="M PLUS 1p"/>
                <a:sym typeface="M PLUS 1p"/>
              </a:rPr>
              <a:t>継続リスクに応じてアプローチの優先順位・介入強度・具体アクションを変える運用を構築する</a:t>
            </a:r>
            <a:endParaRPr sz="1150">
              <a:solidFill>
                <a:schemeClr val="dk1"/>
              </a:solidFill>
              <a:latin typeface="M PLUS 1p"/>
              <a:ea typeface="M PLUS 1p"/>
              <a:cs typeface="M PLUS 1p"/>
              <a:sym typeface="M PLUS 1p"/>
            </a:endParaRPr>
          </a:p>
        </p:txBody>
      </p:sp>
      <p:sp>
        <p:nvSpPr>
          <p:cNvPr id="75" name="Google Shape;75;p20"/>
          <p:cNvSpPr txBox="1"/>
          <p:nvPr/>
        </p:nvSpPr>
        <p:spPr>
          <a:xfrm>
            <a:off x="5852160" y="4846320"/>
            <a:ext cx="2926080"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8C8C8C"/>
              </a:buClr>
              <a:buSzPts val="700"/>
              <a:buFont typeface="Meiryo"/>
              <a:buNone/>
            </a:pPr>
            <a:r>
              <a:rPr lang="ja" sz="700">
                <a:solidFill>
                  <a:srgbClr val="8C8C8C"/>
                </a:solidFill>
                <a:latin typeface="Meiryo"/>
                <a:ea typeface="Meiryo"/>
                <a:cs typeface="Meiryo"/>
                <a:sym typeface="Meiryo"/>
              </a:rPr>
              <a:t>Copyright © Timee All Rights Reserved</a:t>
            </a:r>
            <a:endParaRPr sz="700">
              <a:solidFill>
                <a:schemeClr val="dk1"/>
              </a:solidFill>
              <a:latin typeface="Calibri"/>
              <a:ea typeface="Calibri"/>
              <a:cs typeface="Calibri"/>
              <a:sym typeface="Calibri"/>
            </a:endParaRPr>
          </a:p>
        </p:txBody>
      </p:sp>
      <p:sp>
        <p:nvSpPr>
          <p:cNvPr id="76" name="Google Shape;76;p20"/>
          <p:cNvSpPr/>
          <p:nvPr/>
        </p:nvSpPr>
        <p:spPr>
          <a:xfrm>
            <a:off x="365760" y="1325880"/>
            <a:ext cx="2679192" cy="310896"/>
          </a:xfrm>
          <a:prstGeom prst="rect">
            <a:avLst/>
          </a:prstGeom>
          <a:solidFill>
            <a:srgbClr val="1A1A1A"/>
          </a:solidFill>
          <a:ln cap="flat" cmpd="sng" w="12700">
            <a:solidFill>
              <a:srgbClr val="1A1A1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77" name="Google Shape;77;p20"/>
          <p:cNvSpPr txBox="1"/>
          <p:nvPr/>
        </p:nvSpPr>
        <p:spPr>
          <a:xfrm>
            <a:off x="502920" y="1325880"/>
            <a:ext cx="240487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eiryo"/>
              <a:buNone/>
            </a:pPr>
            <a:r>
              <a:rPr b="1" lang="ja" sz="1200">
                <a:solidFill>
                  <a:srgbClr val="FFFFFF"/>
                </a:solidFill>
                <a:latin typeface="M PLUS 1p"/>
                <a:ea typeface="M PLUS 1p"/>
                <a:cs typeface="M PLUS 1p"/>
                <a:sym typeface="M PLUS 1p"/>
              </a:rPr>
              <a:t>背景・解決したい課題</a:t>
            </a:r>
            <a:endParaRPr sz="1200">
              <a:solidFill>
                <a:schemeClr val="dk1"/>
              </a:solidFill>
              <a:latin typeface="M PLUS 1p"/>
              <a:ea typeface="M PLUS 1p"/>
              <a:cs typeface="M PLUS 1p"/>
              <a:sym typeface="M PLUS 1p"/>
            </a:endParaRPr>
          </a:p>
        </p:txBody>
      </p:sp>
      <p:sp>
        <p:nvSpPr>
          <p:cNvPr id="78" name="Google Shape;78;p20"/>
          <p:cNvSpPr/>
          <p:nvPr/>
        </p:nvSpPr>
        <p:spPr>
          <a:xfrm>
            <a:off x="365760" y="1636776"/>
            <a:ext cx="2679192" cy="1325880"/>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79" name="Google Shape;79;p20"/>
          <p:cNvSpPr txBox="1"/>
          <p:nvPr/>
        </p:nvSpPr>
        <p:spPr>
          <a:xfrm>
            <a:off x="502920" y="1755648"/>
            <a:ext cx="2404872"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34343"/>
              </a:buClr>
              <a:buSzPts val="1050"/>
              <a:buFont typeface="Meiryo"/>
              <a:buNone/>
            </a:pPr>
            <a:r>
              <a:rPr lang="ja" sz="1050">
                <a:solidFill>
                  <a:srgbClr val="434343"/>
                </a:solidFill>
                <a:latin typeface="M PLUS 1p"/>
                <a:ea typeface="M PLUS 1p"/>
                <a:cs typeface="M PLUS 1p"/>
                <a:sym typeface="M PLUS 1p"/>
              </a:rPr>
              <a:t>現状は全顧客に対して一律にアプローチしており、継続可能性が高い顧客と離脱リスクが高い顧客に同じ工数を使っている。</a:t>
            </a:r>
            <a:endParaRPr sz="1050">
              <a:solidFill>
                <a:schemeClr val="dk1"/>
              </a:solidFill>
              <a:latin typeface="M PLUS 1p"/>
              <a:ea typeface="M PLUS 1p"/>
              <a:cs typeface="M PLUS 1p"/>
              <a:sym typeface="M PLUS 1p"/>
            </a:endParaRPr>
          </a:p>
        </p:txBody>
      </p:sp>
      <p:sp>
        <p:nvSpPr>
          <p:cNvPr id="80" name="Google Shape;80;p20"/>
          <p:cNvSpPr/>
          <p:nvPr/>
        </p:nvSpPr>
        <p:spPr>
          <a:xfrm>
            <a:off x="3227832" y="1325880"/>
            <a:ext cx="2679192" cy="310896"/>
          </a:xfrm>
          <a:prstGeom prst="rect">
            <a:avLst/>
          </a:prstGeom>
          <a:solidFill>
            <a:srgbClr val="1A1A1A"/>
          </a:solidFill>
          <a:ln cap="flat" cmpd="sng" w="12700">
            <a:solidFill>
              <a:srgbClr val="1A1A1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81" name="Google Shape;81;p20"/>
          <p:cNvSpPr txBox="1"/>
          <p:nvPr/>
        </p:nvSpPr>
        <p:spPr>
          <a:xfrm>
            <a:off x="3364992" y="1325880"/>
            <a:ext cx="240487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eiryo"/>
              <a:buNone/>
            </a:pPr>
            <a:r>
              <a:rPr b="1" lang="ja" sz="1200">
                <a:solidFill>
                  <a:srgbClr val="FFFFFF"/>
                </a:solidFill>
                <a:latin typeface="M PLUS 1p"/>
                <a:ea typeface="M PLUS 1p"/>
                <a:cs typeface="M PLUS 1p"/>
                <a:sym typeface="M PLUS 1p"/>
              </a:rPr>
              <a:t>目的・狙い</a:t>
            </a:r>
            <a:endParaRPr sz="1200">
              <a:solidFill>
                <a:schemeClr val="dk1"/>
              </a:solidFill>
              <a:latin typeface="M PLUS 1p"/>
              <a:ea typeface="M PLUS 1p"/>
              <a:cs typeface="M PLUS 1p"/>
              <a:sym typeface="M PLUS 1p"/>
            </a:endParaRPr>
          </a:p>
        </p:txBody>
      </p:sp>
      <p:sp>
        <p:nvSpPr>
          <p:cNvPr id="82" name="Google Shape;82;p20"/>
          <p:cNvSpPr/>
          <p:nvPr/>
        </p:nvSpPr>
        <p:spPr>
          <a:xfrm>
            <a:off x="3227832" y="1636776"/>
            <a:ext cx="2679192" cy="1325880"/>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83" name="Google Shape;83;p20"/>
          <p:cNvSpPr txBox="1"/>
          <p:nvPr/>
        </p:nvSpPr>
        <p:spPr>
          <a:xfrm>
            <a:off x="3364992" y="1755648"/>
            <a:ext cx="2404872"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34343"/>
              </a:buClr>
              <a:buSzPts val="1050"/>
              <a:buFont typeface="Meiryo"/>
              <a:buNone/>
            </a:pPr>
            <a:r>
              <a:rPr lang="ja" sz="1050">
                <a:solidFill>
                  <a:srgbClr val="434343"/>
                </a:solidFill>
                <a:latin typeface="M PLUS 1p"/>
                <a:ea typeface="M PLUS 1p"/>
                <a:cs typeface="M PLUS 1p"/>
                <a:sym typeface="M PLUS 1p"/>
              </a:rPr>
              <a:t>データから顧客状態を判定し、介入すべき顧客とアクションを明確にすることで、ONBリソースの最適化と翌月継続率の向上を目指す。</a:t>
            </a:r>
            <a:endParaRPr sz="1050">
              <a:solidFill>
                <a:schemeClr val="dk1"/>
              </a:solidFill>
              <a:latin typeface="M PLUS 1p"/>
              <a:ea typeface="M PLUS 1p"/>
              <a:cs typeface="M PLUS 1p"/>
              <a:sym typeface="M PLUS 1p"/>
            </a:endParaRPr>
          </a:p>
        </p:txBody>
      </p:sp>
      <p:sp>
        <p:nvSpPr>
          <p:cNvPr id="84" name="Google Shape;84;p20"/>
          <p:cNvSpPr/>
          <p:nvPr/>
        </p:nvSpPr>
        <p:spPr>
          <a:xfrm>
            <a:off x="6089904" y="1325880"/>
            <a:ext cx="2679192" cy="310896"/>
          </a:xfrm>
          <a:prstGeom prst="rect">
            <a:avLst/>
          </a:prstGeom>
          <a:solidFill>
            <a:srgbClr val="1A1A1A"/>
          </a:solidFill>
          <a:ln cap="flat" cmpd="sng" w="12700">
            <a:solidFill>
              <a:srgbClr val="1A1A1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85" name="Google Shape;85;p20"/>
          <p:cNvSpPr txBox="1"/>
          <p:nvPr/>
        </p:nvSpPr>
        <p:spPr>
          <a:xfrm>
            <a:off x="6227064" y="1325880"/>
            <a:ext cx="240487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eiryo"/>
              <a:buNone/>
            </a:pPr>
            <a:r>
              <a:rPr b="1" lang="ja" sz="1200">
                <a:solidFill>
                  <a:srgbClr val="FFFFFF"/>
                </a:solidFill>
                <a:latin typeface="M PLUS 1p"/>
                <a:ea typeface="M PLUS 1p"/>
                <a:cs typeface="M PLUS 1p"/>
                <a:sym typeface="M PLUS 1p"/>
              </a:rPr>
              <a:t>ゴール（定性）</a:t>
            </a:r>
            <a:endParaRPr sz="1200">
              <a:solidFill>
                <a:schemeClr val="dk1"/>
              </a:solidFill>
              <a:latin typeface="M PLUS 1p"/>
              <a:ea typeface="M PLUS 1p"/>
              <a:cs typeface="M PLUS 1p"/>
              <a:sym typeface="M PLUS 1p"/>
            </a:endParaRPr>
          </a:p>
        </p:txBody>
      </p:sp>
      <p:sp>
        <p:nvSpPr>
          <p:cNvPr id="86" name="Google Shape;86;p20"/>
          <p:cNvSpPr/>
          <p:nvPr/>
        </p:nvSpPr>
        <p:spPr>
          <a:xfrm>
            <a:off x="6089904" y="1636776"/>
            <a:ext cx="2679192" cy="1325880"/>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87" name="Google Shape;87;p20"/>
          <p:cNvSpPr txBox="1"/>
          <p:nvPr/>
        </p:nvSpPr>
        <p:spPr>
          <a:xfrm>
            <a:off x="6227064" y="1755648"/>
            <a:ext cx="2404872"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34343"/>
              </a:buClr>
              <a:buSzPts val="1050"/>
              <a:buFont typeface="Meiryo"/>
              <a:buNone/>
            </a:pPr>
            <a:r>
              <a:rPr lang="ja" sz="1050">
                <a:solidFill>
                  <a:srgbClr val="434343"/>
                </a:solidFill>
                <a:latin typeface="M PLUS 1p"/>
                <a:ea typeface="M PLUS 1p"/>
                <a:cs typeface="M PLUS 1p"/>
                <a:sym typeface="M PLUS 1p"/>
              </a:rPr>
              <a:t>翌月継続に影響する有効なスコア項目・判定基準をデータで検証・特定し、顧客状態に応じて介入対象・優先順位・アクションを変えられる状態をつくる。</a:t>
            </a:r>
            <a:endParaRPr sz="1050">
              <a:solidFill>
                <a:schemeClr val="dk1"/>
              </a:solidFill>
              <a:latin typeface="M PLUS 1p"/>
              <a:ea typeface="M PLUS 1p"/>
              <a:cs typeface="M PLUS 1p"/>
              <a:sym typeface="M PLUS 1p"/>
            </a:endParaRPr>
          </a:p>
        </p:txBody>
      </p:sp>
      <p:sp>
        <p:nvSpPr>
          <p:cNvPr id="88" name="Google Shape;88;p20"/>
          <p:cNvSpPr/>
          <p:nvPr/>
        </p:nvSpPr>
        <p:spPr>
          <a:xfrm>
            <a:off x="365760" y="3200400"/>
            <a:ext cx="4114800" cy="1143000"/>
          </a:xfrm>
          <a:prstGeom prst="rect">
            <a:avLst/>
          </a:prstGeom>
          <a:solidFill>
            <a:srgbClr val="FFF6D9"/>
          </a:solidFill>
          <a:ln cap="flat" cmpd="sng" w="12700">
            <a:solidFill>
              <a:srgbClr val="FFF6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89" name="Google Shape;89;p20"/>
          <p:cNvSpPr/>
          <p:nvPr/>
        </p:nvSpPr>
        <p:spPr>
          <a:xfrm>
            <a:off x="365760" y="3200400"/>
            <a:ext cx="54864" cy="1143000"/>
          </a:xfrm>
          <a:prstGeom prst="rect">
            <a:avLst/>
          </a:prstGeom>
          <a:solidFill>
            <a:srgbClr val="FFD100"/>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90" name="Google Shape;90;p20"/>
          <p:cNvSpPr txBox="1"/>
          <p:nvPr/>
        </p:nvSpPr>
        <p:spPr>
          <a:xfrm>
            <a:off x="594360" y="3291840"/>
            <a:ext cx="3749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200"/>
              <a:buFont typeface="Meiryo"/>
              <a:buNone/>
            </a:pPr>
            <a:r>
              <a:rPr b="1" lang="ja" sz="1200">
                <a:solidFill>
                  <a:srgbClr val="1A1A1A"/>
                </a:solidFill>
                <a:latin typeface="M PLUS 1p"/>
                <a:ea typeface="M PLUS 1p"/>
                <a:cs typeface="M PLUS 1p"/>
                <a:sym typeface="M PLUS 1p"/>
              </a:rPr>
              <a:t>仮説</a:t>
            </a:r>
            <a:endParaRPr sz="1200">
              <a:solidFill>
                <a:schemeClr val="dk1"/>
              </a:solidFill>
              <a:latin typeface="M PLUS 1p"/>
              <a:ea typeface="M PLUS 1p"/>
              <a:cs typeface="M PLUS 1p"/>
              <a:sym typeface="M PLUS 1p"/>
            </a:endParaRPr>
          </a:p>
        </p:txBody>
      </p:sp>
      <p:sp>
        <p:nvSpPr>
          <p:cNvPr id="91" name="Google Shape;91;p20"/>
          <p:cNvSpPr txBox="1"/>
          <p:nvPr/>
        </p:nvSpPr>
        <p:spPr>
          <a:xfrm>
            <a:off x="594360" y="3547872"/>
            <a:ext cx="37490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34343"/>
              </a:buClr>
              <a:buSzPts val="1050"/>
              <a:buFont typeface="Meiryo"/>
              <a:buNone/>
            </a:pPr>
            <a:r>
              <a:rPr lang="ja" sz="1050">
                <a:solidFill>
                  <a:srgbClr val="434343"/>
                </a:solidFill>
                <a:latin typeface="M PLUS 1p"/>
                <a:ea typeface="M PLUS 1p"/>
                <a:cs typeface="M PLUS 1p"/>
                <a:sym typeface="M PLUS 1p"/>
              </a:rPr>
              <a:t>翌月継続に関係する「掲載行動・ヨミ・接触状況」をスコア化し、状態に応じて介入を変えることで、一律アプローチより効率的に翌月継続率を高められる。</a:t>
            </a:r>
            <a:endParaRPr sz="1050">
              <a:solidFill>
                <a:schemeClr val="dk1"/>
              </a:solidFill>
              <a:latin typeface="M PLUS 1p"/>
              <a:ea typeface="M PLUS 1p"/>
              <a:cs typeface="M PLUS 1p"/>
              <a:sym typeface="M PLUS 1p"/>
            </a:endParaRPr>
          </a:p>
        </p:txBody>
      </p:sp>
      <p:sp>
        <p:nvSpPr>
          <p:cNvPr id="92" name="Google Shape;92;p20"/>
          <p:cNvSpPr/>
          <p:nvPr/>
        </p:nvSpPr>
        <p:spPr>
          <a:xfrm>
            <a:off x="4663440" y="3200400"/>
            <a:ext cx="4114800" cy="1143000"/>
          </a:xfrm>
          <a:prstGeom prst="rect">
            <a:avLst/>
          </a:prstGeom>
          <a:solidFill>
            <a:srgbClr val="FFF6D9"/>
          </a:solidFill>
          <a:ln cap="flat" cmpd="sng" w="12700">
            <a:solidFill>
              <a:srgbClr val="FFF6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93" name="Google Shape;93;p20"/>
          <p:cNvSpPr/>
          <p:nvPr/>
        </p:nvSpPr>
        <p:spPr>
          <a:xfrm>
            <a:off x="4663440" y="3200400"/>
            <a:ext cx="54864" cy="1143000"/>
          </a:xfrm>
          <a:prstGeom prst="rect">
            <a:avLst/>
          </a:prstGeom>
          <a:solidFill>
            <a:srgbClr val="FFD100"/>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94" name="Google Shape;94;p20"/>
          <p:cNvSpPr txBox="1"/>
          <p:nvPr/>
        </p:nvSpPr>
        <p:spPr>
          <a:xfrm>
            <a:off x="4892040" y="3291840"/>
            <a:ext cx="37490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200"/>
              <a:buFont typeface="Meiryo"/>
              <a:buNone/>
            </a:pPr>
            <a:r>
              <a:rPr b="1" lang="ja" sz="1200">
                <a:solidFill>
                  <a:srgbClr val="1A1A1A"/>
                </a:solidFill>
                <a:latin typeface="M PLUS 1p"/>
                <a:ea typeface="M PLUS 1p"/>
                <a:cs typeface="M PLUS 1p"/>
                <a:sym typeface="M PLUS 1p"/>
              </a:rPr>
              <a:t>やめること</a:t>
            </a:r>
            <a:endParaRPr sz="1200">
              <a:solidFill>
                <a:schemeClr val="dk1"/>
              </a:solidFill>
              <a:latin typeface="M PLUS 1p"/>
              <a:ea typeface="M PLUS 1p"/>
              <a:cs typeface="M PLUS 1p"/>
              <a:sym typeface="M PLUS 1p"/>
            </a:endParaRPr>
          </a:p>
        </p:txBody>
      </p:sp>
      <p:sp>
        <p:nvSpPr>
          <p:cNvPr id="95" name="Google Shape;95;p20"/>
          <p:cNvSpPr txBox="1"/>
          <p:nvPr/>
        </p:nvSpPr>
        <p:spPr>
          <a:xfrm>
            <a:off x="4892040" y="3547872"/>
            <a:ext cx="37490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34343"/>
              </a:buClr>
              <a:buSzPts val="1050"/>
              <a:buFont typeface="Meiryo"/>
              <a:buNone/>
            </a:pPr>
            <a:r>
              <a:rPr lang="ja" sz="1050">
                <a:solidFill>
                  <a:srgbClr val="434343"/>
                </a:solidFill>
                <a:latin typeface="M PLUS 1p"/>
                <a:ea typeface="M PLUS 1p"/>
                <a:cs typeface="M PLUS 1p"/>
                <a:sym typeface="M PLUS 1p"/>
              </a:rPr>
              <a:t>既存のA・Bヨミのような「放っておいても継続する可能性が極めて高い顧客」への営業架電をやめ、浮いた工数をアクションしないと継続しない顧客へ回す。</a:t>
            </a:r>
            <a:endParaRPr sz="1050">
              <a:solidFill>
                <a:schemeClr val="dk1"/>
              </a:solidFill>
              <a:latin typeface="M PLUS 1p"/>
              <a:ea typeface="M PLUS 1p"/>
              <a:cs typeface="M PLUS 1p"/>
              <a:sym typeface="M PLUS 1p"/>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p21"/>
          <p:cNvSpPr txBox="1"/>
          <p:nvPr/>
        </p:nvSpPr>
        <p:spPr>
          <a:xfrm>
            <a:off x="365760" y="182880"/>
            <a:ext cx="75895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Meiryo"/>
              <a:buNone/>
            </a:pPr>
            <a:r>
              <a:rPr b="1" lang="ja" sz="2000">
                <a:solidFill>
                  <a:srgbClr val="1A1A1A"/>
                </a:solidFill>
                <a:latin typeface="M PLUS 1p"/>
                <a:ea typeface="M PLUS 1p"/>
                <a:cs typeface="M PLUS 1p"/>
                <a:sym typeface="M PLUS 1p"/>
              </a:rPr>
              <a:t>対象は「当月新規」と「翌月未継続」の2グループ</a:t>
            </a:r>
            <a:endParaRPr sz="2000">
              <a:solidFill>
                <a:schemeClr val="dk1"/>
              </a:solidFill>
              <a:latin typeface="M PLUS 1p"/>
              <a:ea typeface="M PLUS 1p"/>
              <a:cs typeface="M PLUS 1p"/>
              <a:sym typeface="M PLUS 1p"/>
            </a:endParaRPr>
          </a:p>
        </p:txBody>
      </p:sp>
      <p:sp>
        <p:nvSpPr>
          <p:cNvPr id="102" name="Google Shape;102;p21"/>
          <p:cNvSpPr txBox="1"/>
          <p:nvPr/>
        </p:nvSpPr>
        <p:spPr>
          <a:xfrm>
            <a:off x="8046720" y="164592"/>
            <a:ext cx="7315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A1A1A"/>
              </a:buClr>
              <a:buSzPts val="1400"/>
              <a:buFont typeface="Meiryo"/>
              <a:buNone/>
            </a:pPr>
            <a:r>
              <a:rPr b="1" lang="ja" sz="1400">
                <a:solidFill>
                  <a:srgbClr val="1A1A1A"/>
                </a:solidFill>
                <a:latin typeface="Meiryo"/>
                <a:ea typeface="Meiryo"/>
                <a:cs typeface="Meiryo"/>
                <a:sym typeface="Meiryo"/>
              </a:rPr>
              <a:t>Timee</a:t>
            </a:r>
            <a:endParaRPr sz="1400">
              <a:solidFill>
                <a:schemeClr val="dk1"/>
              </a:solidFill>
              <a:latin typeface="Calibri"/>
              <a:ea typeface="Calibri"/>
              <a:cs typeface="Calibri"/>
              <a:sym typeface="Calibri"/>
            </a:endParaRPr>
          </a:p>
        </p:txBody>
      </p:sp>
      <p:sp>
        <p:nvSpPr>
          <p:cNvPr id="103" name="Google Shape;103;p21"/>
          <p:cNvSpPr/>
          <p:nvPr/>
        </p:nvSpPr>
        <p:spPr>
          <a:xfrm>
            <a:off x="365760" y="658368"/>
            <a:ext cx="8412480" cy="457200"/>
          </a:xfrm>
          <a:prstGeom prst="rect">
            <a:avLst/>
          </a:prstGeom>
          <a:solidFill>
            <a:srgbClr val="FFF6D9"/>
          </a:solidFill>
          <a:ln cap="flat" cmpd="sng" w="12700">
            <a:solidFill>
              <a:srgbClr val="FFF6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104" name="Google Shape;104;p21"/>
          <p:cNvSpPr txBox="1"/>
          <p:nvPr/>
        </p:nvSpPr>
        <p:spPr>
          <a:xfrm>
            <a:off x="502920" y="658368"/>
            <a:ext cx="8138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50"/>
              <a:buFont typeface="Meiryo"/>
              <a:buNone/>
            </a:pPr>
            <a:r>
              <a:rPr lang="ja" sz="1150">
                <a:solidFill>
                  <a:srgbClr val="1A1A1A"/>
                </a:solidFill>
                <a:latin typeface="M PLUS 1p"/>
                <a:ea typeface="M PLUS 1p"/>
                <a:cs typeface="M PLUS 1p"/>
                <a:sym typeface="M PLUS 1p"/>
              </a:rPr>
              <a:t>対象は当月新規および翌月未継続顧客。</a:t>
            </a:r>
            <a:r>
              <a:rPr b="1" lang="ja" sz="1150">
                <a:solidFill>
                  <a:srgbClr val="1D7FE8"/>
                </a:solidFill>
                <a:latin typeface="M PLUS 1p"/>
                <a:ea typeface="M PLUS 1p"/>
                <a:cs typeface="M PLUS 1p"/>
                <a:sym typeface="M PLUS 1p"/>
              </a:rPr>
              <a:t>翌月に継続した顧客は「卒業」とし、転換スコアの対象外とする</a:t>
            </a:r>
            <a:endParaRPr sz="1150">
              <a:solidFill>
                <a:schemeClr val="dk1"/>
              </a:solidFill>
              <a:latin typeface="M PLUS 1p"/>
              <a:ea typeface="M PLUS 1p"/>
              <a:cs typeface="M PLUS 1p"/>
              <a:sym typeface="M PLUS 1p"/>
            </a:endParaRPr>
          </a:p>
        </p:txBody>
      </p:sp>
      <p:sp>
        <p:nvSpPr>
          <p:cNvPr id="105" name="Google Shape;105;p21"/>
          <p:cNvSpPr txBox="1"/>
          <p:nvPr/>
        </p:nvSpPr>
        <p:spPr>
          <a:xfrm>
            <a:off x="5852160" y="4846320"/>
            <a:ext cx="2926080"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8C8C8C"/>
              </a:buClr>
              <a:buSzPts val="700"/>
              <a:buFont typeface="Meiryo"/>
              <a:buNone/>
            </a:pPr>
            <a:r>
              <a:rPr lang="ja" sz="700">
                <a:solidFill>
                  <a:srgbClr val="8C8C8C"/>
                </a:solidFill>
                <a:latin typeface="Meiryo"/>
                <a:ea typeface="Meiryo"/>
                <a:cs typeface="Meiryo"/>
                <a:sym typeface="Meiryo"/>
              </a:rPr>
              <a:t>Copyright © Timee All Rights Reserved</a:t>
            </a:r>
            <a:endParaRPr sz="700">
              <a:solidFill>
                <a:schemeClr val="dk1"/>
              </a:solidFill>
              <a:latin typeface="Calibri"/>
              <a:ea typeface="Calibri"/>
              <a:cs typeface="Calibri"/>
              <a:sym typeface="Calibri"/>
            </a:endParaRPr>
          </a:p>
        </p:txBody>
      </p:sp>
      <p:sp>
        <p:nvSpPr>
          <p:cNvPr id="106" name="Google Shape;106;p21"/>
          <p:cNvSpPr/>
          <p:nvPr/>
        </p:nvSpPr>
        <p:spPr>
          <a:xfrm>
            <a:off x="365760" y="1371600"/>
            <a:ext cx="4114800" cy="2331720"/>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107" name="Google Shape;107;p21"/>
          <p:cNvSpPr/>
          <p:nvPr/>
        </p:nvSpPr>
        <p:spPr>
          <a:xfrm>
            <a:off x="365760" y="1371600"/>
            <a:ext cx="4114800" cy="566928"/>
          </a:xfrm>
          <a:prstGeom prst="rect">
            <a:avLst/>
          </a:prstGeom>
          <a:solidFill>
            <a:srgbClr val="1A1A1A"/>
          </a:solidFill>
          <a:ln cap="flat" cmpd="sng" w="12700">
            <a:solidFill>
              <a:srgbClr val="1A1A1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108" name="Google Shape;108;p21"/>
          <p:cNvSpPr txBox="1"/>
          <p:nvPr/>
        </p:nvSpPr>
        <p:spPr>
          <a:xfrm>
            <a:off x="548640" y="1371600"/>
            <a:ext cx="3749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100"/>
              </a:buClr>
              <a:buSzPts val="1800"/>
              <a:buFont typeface="Meiryo"/>
              <a:buNone/>
            </a:pPr>
            <a:r>
              <a:rPr b="1" lang="ja" sz="1800">
                <a:solidFill>
                  <a:srgbClr val="FFD100"/>
                </a:solidFill>
                <a:latin typeface="M PLUS 1p"/>
                <a:ea typeface="M PLUS 1p"/>
                <a:cs typeface="M PLUS 1p"/>
                <a:sym typeface="M PLUS 1p"/>
              </a:rPr>
              <a:t>当月新規</a:t>
            </a:r>
            <a:endParaRPr sz="1800">
              <a:solidFill>
                <a:schemeClr val="dk1"/>
              </a:solidFill>
              <a:latin typeface="M PLUS 1p"/>
              <a:ea typeface="M PLUS 1p"/>
              <a:cs typeface="M PLUS 1p"/>
              <a:sym typeface="M PLUS 1p"/>
            </a:endParaRPr>
          </a:p>
        </p:txBody>
      </p:sp>
      <p:sp>
        <p:nvSpPr>
          <p:cNvPr id="109" name="Google Shape;109;p21"/>
          <p:cNvSpPr txBox="1"/>
          <p:nvPr/>
        </p:nvSpPr>
        <p:spPr>
          <a:xfrm>
            <a:off x="548640" y="2057400"/>
            <a:ext cx="3749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200"/>
              <a:buFont typeface="Meiryo"/>
              <a:buNone/>
            </a:pPr>
            <a:r>
              <a:rPr b="1" lang="ja" sz="1200">
                <a:solidFill>
                  <a:srgbClr val="1A1A1A"/>
                </a:solidFill>
                <a:latin typeface="M PLUS 1p"/>
                <a:ea typeface="M PLUS 1p"/>
                <a:cs typeface="M PLUS 1p"/>
                <a:sym typeface="M PLUS 1p"/>
              </a:rPr>
              <a:t>その月に初めて掲載した顧客</a:t>
            </a:r>
            <a:endParaRPr sz="1200">
              <a:solidFill>
                <a:schemeClr val="dk1"/>
              </a:solidFill>
              <a:latin typeface="M PLUS 1p"/>
              <a:ea typeface="M PLUS 1p"/>
              <a:cs typeface="M PLUS 1p"/>
              <a:sym typeface="M PLUS 1p"/>
            </a:endParaRPr>
          </a:p>
        </p:txBody>
      </p:sp>
      <p:sp>
        <p:nvSpPr>
          <p:cNvPr id="110" name="Google Shape;110;p21"/>
          <p:cNvSpPr txBox="1"/>
          <p:nvPr/>
        </p:nvSpPr>
        <p:spPr>
          <a:xfrm>
            <a:off x="548640" y="2423160"/>
            <a:ext cx="3749040" cy="11887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434343"/>
              </a:buClr>
              <a:buSzPts val="1050"/>
              <a:buFont typeface="M PLUS 1p"/>
              <a:buChar char="•"/>
            </a:pPr>
            <a:r>
              <a:rPr lang="ja" sz="1050">
                <a:solidFill>
                  <a:srgbClr val="434343"/>
                </a:solidFill>
                <a:latin typeface="M PLUS 1p"/>
                <a:ea typeface="M PLUS 1p"/>
                <a:cs typeface="M PLUS 1p"/>
                <a:sym typeface="M PLUS 1p"/>
              </a:rPr>
              <a:t>初回掲載が発生した月に対象となる</a:t>
            </a:r>
            <a:endParaRPr sz="1050">
              <a:solidFill>
                <a:schemeClr val="dk1"/>
              </a:solidFill>
              <a:latin typeface="M PLUS 1p"/>
              <a:ea typeface="M PLUS 1p"/>
              <a:cs typeface="M PLUS 1p"/>
              <a:sym typeface="M PLUS 1p"/>
            </a:endParaRPr>
          </a:p>
          <a:p>
            <a:pPr indent="-342900" lvl="0" marL="342900" marR="0" rtl="0" algn="l">
              <a:spcBef>
                <a:spcPts val="600"/>
              </a:spcBef>
              <a:spcAft>
                <a:spcPts val="0"/>
              </a:spcAft>
              <a:buClr>
                <a:srgbClr val="434343"/>
              </a:buClr>
              <a:buSzPts val="1050"/>
              <a:buFont typeface="M PLUS 1p"/>
              <a:buChar char="•"/>
            </a:pPr>
            <a:r>
              <a:rPr lang="ja" sz="1050">
                <a:solidFill>
                  <a:srgbClr val="434343"/>
                </a:solidFill>
                <a:latin typeface="M PLUS 1p"/>
                <a:ea typeface="M PLUS 1p"/>
                <a:cs typeface="M PLUS 1p"/>
                <a:sym typeface="M PLUS 1p"/>
              </a:rPr>
              <a:t>当月の採点基準（5項目）でスコアを付ける</a:t>
            </a:r>
            <a:endParaRPr sz="1050">
              <a:solidFill>
                <a:schemeClr val="dk1"/>
              </a:solidFill>
              <a:latin typeface="M PLUS 1p"/>
              <a:ea typeface="M PLUS 1p"/>
              <a:cs typeface="M PLUS 1p"/>
              <a:sym typeface="M PLUS 1p"/>
            </a:endParaRPr>
          </a:p>
          <a:p>
            <a:pPr indent="-342900" lvl="0" marL="342900" marR="0" rtl="0" algn="l">
              <a:spcBef>
                <a:spcPts val="600"/>
              </a:spcBef>
              <a:spcAft>
                <a:spcPts val="0"/>
              </a:spcAft>
              <a:buClr>
                <a:srgbClr val="434343"/>
              </a:buClr>
              <a:buSzPts val="1050"/>
              <a:buFont typeface="M PLUS 1p"/>
              <a:buChar char="•"/>
            </a:pPr>
            <a:r>
              <a:rPr lang="ja" sz="1050">
                <a:solidFill>
                  <a:srgbClr val="434343"/>
                </a:solidFill>
                <a:latin typeface="M PLUS 1p"/>
                <a:ea typeface="M PLUS 1p"/>
                <a:cs typeface="M PLUS 1p"/>
                <a:sym typeface="M PLUS 1p"/>
              </a:rPr>
              <a:t>当月中に営業・テック施策を実施する</a:t>
            </a:r>
            <a:endParaRPr sz="1050">
              <a:solidFill>
                <a:schemeClr val="dk1"/>
              </a:solidFill>
              <a:latin typeface="M PLUS 1p"/>
              <a:ea typeface="M PLUS 1p"/>
              <a:cs typeface="M PLUS 1p"/>
              <a:sym typeface="M PLUS 1p"/>
            </a:endParaRPr>
          </a:p>
        </p:txBody>
      </p:sp>
      <p:sp>
        <p:nvSpPr>
          <p:cNvPr id="111" name="Google Shape;111;p21"/>
          <p:cNvSpPr/>
          <p:nvPr/>
        </p:nvSpPr>
        <p:spPr>
          <a:xfrm>
            <a:off x="4663440" y="1371600"/>
            <a:ext cx="4114800" cy="2331720"/>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112" name="Google Shape;112;p21"/>
          <p:cNvSpPr/>
          <p:nvPr/>
        </p:nvSpPr>
        <p:spPr>
          <a:xfrm>
            <a:off x="4663440" y="1371600"/>
            <a:ext cx="4114800" cy="566928"/>
          </a:xfrm>
          <a:prstGeom prst="rect">
            <a:avLst/>
          </a:prstGeom>
          <a:solidFill>
            <a:srgbClr val="1A1A1A"/>
          </a:solidFill>
          <a:ln cap="flat" cmpd="sng" w="12700">
            <a:solidFill>
              <a:srgbClr val="1A1A1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113" name="Google Shape;113;p21"/>
          <p:cNvSpPr txBox="1"/>
          <p:nvPr/>
        </p:nvSpPr>
        <p:spPr>
          <a:xfrm>
            <a:off x="4846320" y="1371600"/>
            <a:ext cx="374904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D100"/>
              </a:buClr>
              <a:buSzPts val="1800"/>
              <a:buFont typeface="Meiryo"/>
              <a:buNone/>
            </a:pPr>
            <a:r>
              <a:rPr b="1" lang="ja" sz="1800">
                <a:solidFill>
                  <a:srgbClr val="FFD100"/>
                </a:solidFill>
                <a:latin typeface="M PLUS 1p"/>
                <a:ea typeface="M PLUS 1p"/>
                <a:cs typeface="M PLUS 1p"/>
                <a:sym typeface="M PLUS 1p"/>
              </a:rPr>
              <a:t>翌月未継続</a:t>
            </a:r>
            <a:endParaRPr sz="1800">
              <a:solidFill>
                <a:schemeClr val="dk1"/>
              </a:solidFill>
              <a:latin typeface="M PLUS 1p"/>
              <a:ea typeface="M PLUS 1p"/>
              <a:cs typeface="M PLUS 1p"/>
              <a:sym typeface="M PLUS 1p"/>
            </a:endParaRPr>
          </a:p>
        </p:txBody>
      </p:sp>
      <p:sp>
        <p:nvSpPr>
          <p:cNvPr id="114" name="Google Shape;114;p21"/>
          <p:cNvSpPr txBox="1"/>
          <p:nvPr/>
        </p:nvSpPr>
        <p:spPr>
          <a:xfrm>
            <a:off x="4846320" y="2057400"/>
            <a:ext cx="3749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200"/>
              <a:buFont typeface="Meiryo"/>
              <a:buNone/>
            </a:pPr>
            <a:r>
              <a:rPr b="1" lang="ja" sz="1200">
                <a:solidFill>
                  <a:srgbClr val="1A1A1A"/>
                </a:solidFill>
                <a:latin typeface="M PLUS 1p"/>
                <a:ea typeface="M PLUS 1p"/>
                <a:cs typeface="M PLUS 1p"/>
                <a:sym typeface="M PLUS 1p"/>
              </a:rPr>
              <a:t>前月に初回掲載し、翌月まだ掲載がない顧客</a:t>
            </a:r>
            <a:endParaRPr sz="1200">
              <a:solidFill>
                <a:schemeClr val="dk1"/>
              </a:solidFill>
              <a:latin typeface="M PLUS 1p"/>
              <a:ea typeface="M PLUS 1p"/>
              <a:cs typeface="M PLUS 1p"/>
              <a:sym typeface="M PLUS 1p"/>
            </a:endParaRPr>
          </a:p>
        </p:txBody>
      </p:sp>
      <p:sp>
        <p:nvSpPr>
          <p:cNvPr id="115" name="Google Shape;115;p21"/>
          <p:cNvSpPr txBox="1"/>
          <p:nvPr/>
        </p:nvSpPr>
        <p:spPr>
          <a:xfrm>
            <a:off x="4846320" y="2423160"/>
            <a:ext cx="3749040" cy="11887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434343"/>
              </a:buClr>
              <a:buSzPts val="1050"/>
              <a:buFont typeface="M PLUS 1p"/>
              <a:buChar char="•"/>
            </a:pPr>
            <a:r>
              <a:rPr lang="ja" sz="1050">
                <a:solidFill>
                  <a:srgbClr val="434343"/>
                </a:solidFill>
                <a:latin typeface="M PLUS 1p"/>
                <a:ea typeface="M PLUS 1p"/>
                <a:cs typeface="M PLUS 1p"/>
                <a:sym typeface="M PLUS 1p"/>
              </a:rPr>
              <a:t>初回掲載の翌月に対象となる</a:t>
            </a:r>
            <a:endParaRPr sz="1050">
              <a:solidFill>
                <a:schemeClr val="dk1"/>
              </a:solidFill>
              <a:latin typeface="M PLUS 1p"/>
              <a:ea typeface="M PLUS 1p"/>
              <a:cs typeface="M PLUS 1p"/>
              <a:sym typeface="M PLUS 1p"/>
            </a:endParaRPr>
          </a:p>
          <a:p>
            <a:pPr indent="-342900" lvl="0" marL="342900" marR="0" rtl="0" algn="l">
              <a:spcBef>
                <a:spcPts val="600"/>
              </a:spcBef>
              <a:spcAft>
                <a:spcPts val="0"/>
              </a:spcAft>
              <a:buClr>
                <a:srgbClr val="434343"/>
              </a:buClr>
              <a:buSzPts val="1050"/>
              <a:buFont typeface="M PLUS 1p"/>
              <a:buChar char="•"/>
            </a:pPr>
            <a:r>
              <a:rPr lang="ja" sz="1050">
                <a:solidFill>
                  <a:srgbClr val="434343"/>
                </a:solidFill>
                <a:latin typeface="M PLUS 1p"/>
                <a:ea typeface="M PLUS 1p"/>
                <a:cs typeface="M PLUS 1p"/>
                <a:sym typeface="M PLUS 1p"/>
              </a:rPr>
              <a:t>翌月の採点基準（5項目）でスコアを付ける</a:t>
            </a:r>
            <a:endParaRPr sz="1050">
              <a:solidFill>
                <a:schemeClr val="dk1"/>
              </a:solidFill>
              <a:latin typeface="M PLUS 1p"/>
              <a:ea typeface="M PLUS 1p"/>
              <a:cs typeface="M PLUS 1p"/>
              <a:sym typeface="M PLUS 1p"/>
            </a:endParaRPr>
          </a:p>
          <a:p>
            <a:pPr indent="-342900" lvl="0" marL="342900" marR="0" rtl="0" algn="l">
              <a:spcBef>
                <a:spcPts val="600"/>
              </a:spcBef>
              <a:spcAft>
                <a:spcPts val="0"/>
              </a:spcAft>
              <a:buClr>
                <a:srgbClr val="434343"/>
              </a:buClr>
              <a:buSzPts val="1050"/>
              <a:buFont typeface="M PLUS 1p"/>
              <a:buChar char="•"/>
            </a:pPr>
            <a:r>
              <a:rPr lang="ja" sz="1050">
                <a:solidFill>
                  <a:srgbClr val="434343"/>
                </a:solidFill>
                <a:latin typeface="M PLUS 1p"/>
                <a:ea typeface="M PLUS 1p"/>
                <a:cs typeface="M PLUS 1p"/>
                <a:sym typeface="M PLUS 1p"/>
              </a:rPr>
              <a:t>翌月17日時点で未継続の事業所を確認し、施策を実施する</a:t>
            </a:r>
            <a:endParaRPr sz="1050">
              <a:solidFill>
                <a:schemeClr val="dk1"/>
              </a:solidFill>
              <a:latin typeface="M PLUS 1p"/>
              <a:ea typeface="M PLUS 1p"/>
              <a:cs typeface="M PLUS 1p"/>
              <a:sym typeface="M PLUS 1p"/>
            </a:endParaRPr>
          </a:p>
        </p:txBody>
      </p:sp>
      <p:sp>
        <p:nvSpPr>
          <p:cNvPr id="116" name="Google Shape;116;p21"/>
          <p:cNvSpPr/>
          <p:nvPr/>
        </p:nvSpPr>
        <p:spPr>
          <a:xfrm>
            <a:off x="365760" y="3886200"/>
            <a:ext cx="8412480" cy="457200"/>
          </a:xfrm>
          <a:prstGeom prst="rect">
            <a:avLst/>
          </a:prstGeom>
          <a:solidFill>
            <a:srgbClr val="FFF6D9"/>
          </a:solidFill>
          <a:ln cap="flat" cmpd="sng" w="12700">
            <a:solidFill>
              <a:srgbClr val="FFF6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117" name="Google Shape;117;p21"/>
          <p:cNvSpPr txBox="1"/>
          <p:nvPr/>
        </p:nvSpPr>
        <p:spPr>
          <a:xfrm>
            <a:off x="502920" y="3886200"/>
            <a:ext cx="8138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7FE8"/>
              </a:buClr>
              <a:buSzPts val="1100"/>
              <a:buFont typeface="Meiryo"/>
              <a:buNone/>
            </a:pPr>
            <a:r>
              <a:rPr b="1" lang="ja" sz="1100">
                <a:solidFill>
                  <a:srgbClr val="1D7FE8"/>
                </a:solidFill>
                <a:latin typeface="M PLUS 1p"/>
                <a:ea typeface="M PLUS 1p"/>
                <a:cs typeface="M PLUS 1p"/>
                <a:sym typeface="M PLUS 1p"/>
              </a:rPr>
              <a:t>卒業：</a:t>
            </a:r>
            <a:r>
              <a:rPr lang="ja" sz="1100">
                <a:solidFill>
                  <a:srgbClr val="1A1A1A"/>
                </a:solidFill>
                <a:latin typeface="M PLUS 1p"/>
                <a:ea typeface="M PLUS 1p"/>
                <a:cs typeface="M PLUS 1p"/>
                <a:sym typeface="M PLUS 1p"/>
              </a:rPr>
              <a:t>翌月に1件以上の掲載が発生した顧客は転換スコアの対象外とし、以降のアプローチから外す</a:t>
            </a:r>
            <a:endParaRPr sz="1100">
              <a:solidFill>
                <a:schemeClr val="dk1"/>
              </a:solidFill>
              <a:latin typeface="M PLUS 1p"/>
              <a:ea typeface="M PLUS 1p"/>
              <a:cs typeface="M PLUS 1p"/>
              <a:sym typeface="M PLUS 1p"/>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 name="Shape 122"/>
        <p:cNvGrpSpPr/>
        <p:nvPr/>
      </p:nvGrpSpPr>
      <p:grpSpPr>
        <a:xfrm>
          <a:off x="0" y="0"/>
          <a:ext cx="0" cy="0"/>
          <a:chOff x="0" y="0"/>
          <a:chExt cx="0" cy="0"/>
        </a:xfrm>
      </p:grpSpPr>
      <p:sp>
        <p:nvSpPr>
          <p:cNvPr id="123" name="Google Shape;123;p22"/>
          <p:cNvSpPr txBox="1"/>
          <p:nvPr/>
        </p:nvSpPr>
        <p:spPr>
          <a:xfrm>
            <a:off x="365760" y="182880"/>
            <a:ext cx="75895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Meiryo"/>
              <a:buNone/>
            </a:pPr>
            <a:r>
              <a:rPr b="1" i="0" lang="ja" sz="2000" u="none" cap="none" strike="noStrike">
                <a:solidFill>
                  <a:srgbClr val="1A1A1A"/>
                </a:solidFill>
                <a:latin typeface="M PLUS 1p"/>
                <a:ea typeface="M PLUS 1p"/>
                <a:cs typeface="M PLUS 1p"/>
                <a:sym typeface="M PLUS 1p"/>
              </a:rPr>
              <a:t>スコア項目は、過去分析と仮説をAIで定量検証して絞り込んだ</a:t>
            </a:r>
            <a:endParaRPr i="0" sz="2000" u="none" cap="none" strike="noStrike">
              <a:solidFill>
                <a:schemeClr val="dk1"/>
              </a:solidFill>
              <a:latin typeface="M PLUS 1p"/>
              <a:ea typeface="M PLUS 1p"/>
              <a:cs typeface="M PLUS 1p"/>
              <a:sym typeface="M PLUS 1p"/>
            </a:endParaRPr>
          </a:p>
        </p:txBody>
      </p:sp>
      <p:sp>
        <p:nvSpPr>
          <p:cNvPr id="124" name="Google Shape;124;p22"/>
          <p:cNvSpPr txBox="1"/>
          <p:nvPr/>
        </p:nvSpPr>
        <p:spPr>
          <a:xfrm>
            <a:off x="8046720" y="164592"/>
            <a:ext cx="7315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A1A1A"/>
              </a:buClr>
              <a:buSzPts val="1400"/>
              <a:buFont typeface="Meiryo"/>
              <a:buNone/>
            </a:pPr>
            <a:r>
              <a:rPr b="1" i="0" lang="ja" sz="1400" u="none" cap="none" strike="noStrike">
                <a:solidFill>
                  <a:srgbClr val="1A1A1A"/>
                </a:solidFill>
                <a:latin typeface="M PLUS 1p"/>
                <a:ea typeface="M PLUS 1p"/>
                <a:cs typeface="M PLUS 1p"/>
                <a:sym typeface="M PLUS 1p"/>
              </a:rPr>
              <a:t>Timee</a:t>
            </a:r>
            <a:endParaRPr i="0" sz="1400" u="none" cap="none" strike="noStrike">
              <a:solidFill>
                <a:schemeClr val="dk1"/>
              </a:solidFill>
              <a:latin typeface="M PLUS 1p"/>
              <a:ea typeface="M PLUS 1p"/>
              <a:cs typeface="M PLUS 1p"/>
              <a:sym typeface="M PLUS 1p"/>
            </a:endParaRPr>
          </a:p>
        </p:txBody>
      </p:sp>
      <p:sp>
        <p:nvSpPr>
          <p:cNvPr id="125" name="Google Shape;125;p22"/>
          <p:cNvSpPr/>
          <p:nvPr/>
        </p:nvSpPr>
        <p:spPr>
          <a:xfrm>
            <a:off x="365760" y="658368"/>
            <a:ext cx="8412480" cy="457200"/>
          </a:xfrm>
          <a:prstGeom prst="rect">
            <a:avLst/>
          </a:prstGeom>
          <a:solidFill>
            <a:srgbClr val="FFF6D9"/>
          </a:solidFill>
          <a:ln cap="flat" cmpd="sng" w="12700">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26" name="Google Shape;126;p22"/>
          <p:cNvSpPr txBox="1"/>
          <p:nvPr/>
        </p:nvSpPr>
        <p:spPr>
          <a:xfrm>
            <a:off x="502920" y="658368"/>
            <a:ext cx="8138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50"/>
              <a:buFont typeface="Meiryo"/>
              <a:buNone/>
            </a:pPr>
            <a:r>
              <a:rPr i="0" lang="ja" sz="1150" u="none" cap="none" strike="noStrike">
                <a:solidFill>
                  <a:srgbClr val="1A1A1A"/>
                </a:solidFill>
                <a:latin typeface="M PLUS 1p"/>
                <a:ea typeface="M PLUS 1p"/>
                <a:cs typeface="M PLUS 1p"/>
                <a:sym typeface="M PLUS 1p"/>
              </a:rPr>
              <a:t>思いつきで項目を決めたのではない。</a:t>
            </a:r>
            <a:endParaRPr i="0" sz="1150" u="none" cap="none" strike="noStrike">
              <a:solidFill>
                <a:srgbClr val="1A1A1A"/>
              </a:solidFill>
              <a:latin typeface="M PLUS 1p"/>
              <a:ea typeface="M PLUS 1p"/>
              <a:cs typeface="M PLUS 1p"/>
              <a:sym typeface="M PLUS 1p"/>
            </a:endParaRPr>
          </a:p>
          <a:p>
            <a:pPr indent="0" lvl="0" marL="0" marR="0" rtl="0" algn="l">
              <a:spcBef>
                <a:spcPts val="0"/>
              </a:spcBef>
              <a:spcAft>
                <a:spcPts val="0"/>
              </a:spcAft>
              <a:buClr>
                <a:srgbClr val="1A1A1A"/>
              </a:buClr>
              <a:buSzPts val="1150"/>
              <a:buFont typeface="Meiryo"/>
              <a:buNone/>
            </a:pPr>
            <a:r>
              <a:rPr b="1" i="0" lang="ja" sz="1150" u="none" cap="none" strike="noStrike">
                <a:solidFill>
                  <a:srgbClr val="1D7FE8"/>
                </a:solidFill>
                <a:latin typeface="M PLUS 1p"/>
                <a:ea typeface="M PLUS 1p"/>
                <a:cs typeface="M PLUS 1p"/>
                <a:sym typeface="M PLUS 1p"/>
              </a:rPr>
              <a:t>過去のDA分析と自身の仮説をAIに読み込ませて定量分析し、現場で使える変数だけを残した</a:t>
            </a:r>
            <a:endParaRPr i="0" sz="1150" u="none" cap="none" strike="noStrike">
              <a:solidFill>
                <a:schemeClr val="dk1"/>
              </a:solidFill>
              <a:latin typeface="M PLUS 1p"/>
              <a:ea typeface="M PLUS 1p"/>
              <a:cs typeface="M PLUS 1p"/>
              <a:sym typeface="M PLUS 1p"/>
            </a:endParaRPr>
          </a:p>
        </p:txBody>
      </p:sp>
      <p:sp>
        <p:nvSpPr>
          <p:cNvPr id="127" name="Google Shape;127;p22"/>
          <p:cNvSpPr txBox="1"/>
          <p:nvPr/>
        </p:nvSpPr>
        <p:spPr>
          <a:xfrm>
            <a:off x="5852160" y="4846320"/>
            <a:ext cx="2926080"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8C8C8C"/>
              </a:buClr>
              <a:buSzPts val="700"/>
              <a:buFont typeface="Meiryo"/>
              <a:buNone/>
            </a:pPr>
            <a:r>
              <a:rPr b="0" i="0" lang="ja" sz="700" u="none" cap="none" strike="noStrike">
                <a:solidFill>
                  <a:srgbClr val="8C8C8C"/>
                </a:solidFill>
                <a:latin typeface="Meiryo"/>
                <a:ea typeface="Meiryo"/>
                <a:cs typeface="Meiryo"/>
                <a:sym typeface="Meiryo"/>
              </a:rPr>
              <a:t>Copyright © Timee All Rights Reserved</a:t>
            </a:r>
            <a:endParaRPr b="0" i="0" sz="700" u="none" cap="none" strike="noStrike">
              <a:solidFill>
                <a:schemeClr val="dk1"/>
              </a:solidFill>
              <a:latin typeface="Calibri"/>
              <a:ea typeface="Calibri"/>
              <a:cs typeface="Calibri"/>
              <a:sym typeface="Calibri"/>
            </a:endParaRPr>
          </a:p>
        </p:txBody>
      </p:sp>
      <p:sp>
        <p:nvSpPr>
          <p:cNvPr id="128" name="Google Shape;128;p22"/>
          <p:cNvSpPr/>
          <p:nvPr/>
        </p:nvSpPr>
        <p:spPr>
          <a:xfrm>
            <a:off x="365760" y="1325880"/>
            <a:ext cx="1298448" cy="173736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29" name="Google Shape;129;p22"/>
          <p:cNvSpPr/>
          <p:nvPr/>
        </p:nvSpPr>
        <p:spPr>
          <a:xfrm>
            <a:off x="365760" y="1325880"/>
            <a:ext cx="1298448" cy="237744"/>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30" name="Google Shape;130;p22"/>
          <p:cNvSpPr txBox="1"/>
          <p:nvPr/>
        </p:nvSpPr>
        <p:spPr>
          <a:xfrm>
            <a:off x="365760" y="1325880"/>
            <a:ext cx="129844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100"/>
              </a:buClr>
              <a:buSzPts val="800"/>
              <a:buFont typeface="Meiryo"/>
              <a:buNone/>
            </a:pPr>
            <a:r>
              <a:rPr b="1" i="0" lang="ja" sz="800" u="none" cap="none" strike="noStrike">
                <a:solidFill>
                  <a:srgbClr val="FFD100"/>
                </a:solidFill>
                <a:latin typeface="M PLUS 1p"/>
                <a:ea typeface="M PLUS 1p"/>
                <a:cs typeface="M PLUS 1p"/>
                <a:sym typeface="M PLUS 1p"/>
              </a:rPr>
              <a:t>STEP 1</a:t>
            </a:r>
            <a:endParaRPr i="0" sz="800" u="none" cap="none" strike="noStrike">
              <a:solidFill>
                <a:schemeClr val="dk1"/>
              </a:solidFill>
              <a:latin typeface="M PLUS 1p"/>
              <a:ea typeface="M PLUS 1p"/>
              <a:cs typeface="M PLUS 1p"/>
              <a:sym typeface="M PLUS 1p"/>
            </a:endParaRPr>
          </a:p>
        </p:txBody>
      </p:sp>
      <p:sp>
        <p:nvSpPr>
          <p:cNvPr id="131" name="Google Shape;131;p22"/>
          <p:cNvSpPr txBox="1"/>
          <p:nvPr/>
        </p:nvSpPr>
        <p:spPr>
          <a:xfrm>
            <a:off x="438912" y="1645920"/>
            <a:ext cx="1152144"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A1A1A"/>
              </a:buClr>
              <a:buSzPts val="1000"/>
              <a:buFont typeface="Meiryo"/>
              <a:buNone/>
            </a:pPr>
            <a:r>
              <a:rPr b="1" i="0" lang="ja" sz="1000" u="none" cap="none" strike="noStrike">
                <a:solidFill>
                  <a:srgbClr val="1A1A1A"/>
                </a:solidFill>
                <a:latin typeface="M PLUS 1p"/>
                <a:ea typeface="M PLUS 1p"/>
                <a:cs typeface="M PLUS 1p"/>
                <a:sym typeface="M PLUS 1p"/>
              </a:rPr>
              <a:t>過去のDA分析</a:t>
            </a:r>
            <a:endParaRPr i="0" sz="1000" u="none" cap="none" strike="noStrike">
              <a:solidFill>
                <a:schemeClr val="dk1"/>
              </a:solidFill>
              <a:latin typeface="M PLUS 1p"/>
              <a:ea typeface="M PLUS 1p"/>
              <a:cs typeface="M PLUS 1p"/>
              <a:sym typeface="M PLUS 1p"/>
            </a:endParaRPr>
          </a:p>
        </p:txBody>
      </p:sp>
      <p:sp>
        <p:nvSpPr>
          <p:cNvPr id="132" name="Google Shape;132;p22"/>
          <p:cNvSpPr txBox="1"/>
          <p:nvPr/>
        </p:nvSpPr>
        <p:spPr>
          <a:xfrm>
            <a:off x="438912" y="2029968"/>
            <a:ext cx="1152144" cy="9601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34343"/>
              </a:buClr>
              <a:buSzPts val="800"/>
              <a:buFont typeface="Meiryo"/>
              <a:buNone/>
            </a:pPr>
            <a:r>
              <a:rPr i="0" lang="ja" sz="800" u="none" cap="none" strike="noStrike">
                <a:solidFill>
                  <a:srgbClr val="434343"/>
                </a:solidFill>
                <a:latin typeface="M PLUS 1p"/>
                <a:ea typeface="M PLUS 1p"/>
                <a:cs typeface="M PLUS 1p"/>
                <a:sym typeface="M PLUS 1p"/>
              </a:rPr>
              <a:t>既存の継続率分析を棚卸し</a:t>
            </a:r>
            <a:endParaRPr i="0" sz="800" u="none" cap="none" strike="noStrike">
              <a:solidFill>
                <a:schemeClr val="dk1"/>
              </a:solidFill>
              <a:latin typeface="M PLUS 1p"/>
              <a:ea typeface="M PLUS 1p"/>
              <a:cs typeface="M PLUS 1p"/>
              <a:sym typeface="M PLUS 1p"/>
            </a:endParaRPr>
          </a:p>
        </p:txBody>
      </p:sp>
      <p:sp>
        <p:nvSpPr>
          <p:cNvPr id="133" name="Google Shape;133;p22"/>
          <p:cNvSpPr/>
          <p:nvPr/>
        </p:nvSpPr>
        <p:spPr>
          <a:xfrm>
            <a:off x="1668780" y="2084832"/>
            <a:ext cx="109728" cy="146304"/>
          </a:xfrm>
          <a:prstGeom prst="right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34" name="Google Shape;134;p22"/>
          <p:cNvSpPr/>
          <p:nvPr/>
        </p:nvSpPr>
        <p:spPr>
          <a:xfrm>
            <a:off x="1783080" y="1325880"/>
            <a:ext cx="1298448" cy="173736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35" name="Google Shape;135;p22"/>
          <p:cNvSpPr/>
          <p:nvPr/>
        </p:nvSpPr>
        <p:spPr>
          <a:xfrm>
            <a:off x="1783080" y="1325880"/>
            <a:ext cx="1298448" cy="237744"/>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36" name="Google Shape;136;p22"/>
          <p:cNvSpPr txBox="1"/>
          <p:nvPr/>
        </p:nvSpPr>
        <p:spPr>
          <a:xfrm>
            <a:off x="1783080" y="1325880"/>
            <a:ext cx="129844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100"/>
              </a:buClr>
              <a:buSzPts val="800"/>
              <a:buFont typeface="Meiryo"/>
              <a:buNone/>
            </a:pPr>
            <a:r>
              <a:rPr b="1" i="0" lang="ja" sz="800" u="none" cap="none" strike="noStrike">
                <a:solidFill>
                  <a:srgbClr val="FFD100"/>
                </a:solidFill>
                <a:latin typeface="M PLUS 1p"/>
                <a:ea typeface="M PLUS 1p"/>
                <a:cs typeface="M PLUS 1p"/>
                <a:sym typeface="M PLUS 1p"/>
              </a:rPr>
              <a:t>STEP 2</a:t>
            </a:r>
            <a:endParaRPr i="0" sz="800" u="none" cap="none" strike="noStrike">
              <a:solidFill>
                <a:schemeClr val="dk1"/>
              </a:solidFill>
              <a:latin typeface="M PLUS 1p"/>
              <a:ea typeface="M PLUS 1p"/>
              <a:cs typeface="M PLUS 1p"/>
              <a:sym typeface="M PLUS 1p"/>
            </a:endParaRPr>
          </a:p>
        </p:txBody>
      </p:sp>
      <p:sp>
        <p:nvSpPr>
          <p:cNvPr id="137" name="Google Shape;137;p22"/>
          <p:cNvSpPr txBox="1"/>
          <p:nvPr/>
        </p:nvSpPr>
        <p:spPr>
          <a:xfrm>
            <a:off x="1856232" y="1645920"/>
            <a:ext cx="1152144"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A1A1A"/>
              </a:buClr>
              <a:buSzPts val="1000"/>
              <a:buFont typeface="Meiryo"/>
              <a:buNone/>
            </a:pPr>
            <a:r>
              <a:rPr b="1" i="0" lang="ja" sz="1000" u="none" cap="none" strike="noStrike">
                <a:solidFill>
                  <a:srgbClr val="1A1A1A"/>
                </a:solidFill>
                <a:latin typeface="M PLUS 1p"/>
                <a:ea typeface="M PLUS 1p"/>
                <a:cs typeface="M PLUS 1p"/>
                <a:sym typeface="M PLUS 1p"/>
              </a:rPr>
              <a:t>自身の仮説</a:t>
            </a:r>
            <a:endParaRPr i="0" sz="1000" u="none" cap="none" strike="noStrike">
              <a:solidFill>
                <a:schemeClr val="dk1"/>
              </a:solidFill>
              <a:latin typeface="M PLUS 1p"/>
              <a:ea typeface="M PLUS 1p"/>
              <a:cs typeface="M PLUS 1p"/>
              <a:sym typeface="M PLUS 1p"/>
            </a:endParaRPr>
          </a:p>
        </p:txBody>
      </p:sp>
      <p:sp>
        <p:nvSpPr>
          <p:cNvPr id="138" name="Google Shape;138;p22"/>
          <p:cNvSpPr txBox="1"/>
          <p:nvPr/>
        </p:nvSpPr>
        <p:spPr>
          <a:xfrm>
            <a:off x="1856232" y="2029968"/>
            <a:ext cx="1152144" cy="9601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34343"/>
              </a:buClr>
              <a:buSzPts val="800"/>
              <a:buFont typeface="Meiryo"/>
              <a:buNone/>
            </a:pPr>
            <a:r>
              <a:rPr i="0" lang="ja" sz="800" u="none" cap="none" strike="noStrike">
                <a:solidFill>
                  <a:srgbClr val="434343"/>
                </a:solidFill>
                <a:latin typeface="M PLUS 1p"/>
                <a:ea typeface="M PLUS 1p"/>
                <a:cs typeface="M PLUS 1p"/>
                <a:sym typeface="M PLUS 1p"/>
              </a:rPr>
              <a:t>「翌月にフォローするより、当月中にどこまで利用を仕込めたかが効く」</a:t>
            </a:r>
            <a:endParaRPr i="0" sz="800" u="none" cap="none" strike="noStrike">
              <a:solidFill>
                <a:schemeClr val="dk1"/>
              </a:solidFill>
              <a:latin typeface="M PLUS 1p"/>
              <a:ea typeface="M PLUS 1p"/>
              <a:cs typeface="M PLUS 1p"/>
              <a:sym typeface="M PLUS 1p"/>
            </a:endParaRPr>
          </a:p>
        </p:txBody>
      </p:sp>
      <p:sp>
        <p:nvSpPr>
          <p:cNvPr id="139" name="Google Shape;139;p22"/>
          <p:cNvSpPr/>
          <p:nvPr/>
        </p:nvSpPr>
        <p:spPr>
          <a:xfrm>
            <a:off x="3086100" y="2084832"/>
            <a:ext cx="109728" cy="146304"/>
          </a:xfrm>
          <a:prstGeom prst="right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40" name="Google Shape;140;p22"/>
          <p:cNvSpPr/>
          <p:nvPr/>
        </p:nvSpPr>
        <p:spPr>
          <a:xfrm>
            <a:off x="3200400" y="1325880"/>
            <a:ext cx="1298448" cy="173736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41" name="Google Shape;141;p22"/>
          <p:cNvSpPr/>
          <p:nvPr/>
        </p:nvSpPr>
        <p:spPr>
          <a:xfrm>
            <a:off x="3200400" y="1325880"/>
            <a:ext cx="1298448" cy="237744"/>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42" name="Google Shape;142;p22"/>
          <p:cNvSpPr txBox="1"/>
          <p:nvPr/>
        </p:nvSpPr>
        <p:spPr>
          <a:xfrm>
            <a:off x="3200400" y="1325880"/>
            <a:ext cx="129844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100"/>
              </a:buClr>
              <a:buSzPts val="800"/>
              <a:buFont typeface="Meiryo"/>
              <a:buNone/>
            </a:pPr>
            <a:r>
              <a:rPr b="1" i="0" lang="ja" sz="800" u="none" cap="none" strike="noStrike">
                <a:solidFill>
                  <a:srgbClr val="FFD100"/>
                </a:solidFill>
                <a:latin typeface="M PLUS 1p"/>
                <a:ea typeface="M PLUS 1p"/>
                <a:cs typeface="M PLUS 1p"/>
                <a:sym typeface="M PLUS 1p"/>
              </a:rPr>
              <a:t>STEP 3</a:t>
            </a:r>
            <a:endParaRPr i="0" sz="800" u="none" cap="none" strike="noStrike">
              <a:solidFill>
                <a:schemeClr val="dk1"/>
              </a:solidFill>
              <a:latin typeface="M PLUS 1p"/>
              <a:ea typeface="M PLUS 1p"/>
              <a:cs typeface="M PLUS 1p"/>
              <a:sym typeface="M PLUS 1p"/>
            </a:endParaRPr>
          </a:p>
        </p:txBody>
      </p:sp>
      <p:sp>
        <p:nvSpPr>
          <p:cNvPr id="143" name="Google Shape;143;p22"/>
          <p:cNvSpPr txBox="1"/>
          <p:nvPr/>
        </p:nvSpPr>
        <p:spPr>
          <a:xfrm>
            <a:off x="3273552" y="1645920"/>
            <a:ext cx="1152144"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A1A1A"/>
              </a:buClr>
              <a:buSzPts val="1000"/>
              <a:buFont typeface="Meiryo"/>
              <a:buNone/>
            </a:pPr>
            <a:r>
              <a:rPr b="1" i="0" lang="ja" sz="1000" u="none" cap="none" strike="noStrike">
                <a:solidFill>
                  <a:srgbClr val="1A1A1A"/>
                </a:solidFill>
                <a:latin typeface="M PLUS 1p"/>
                <a:ea typeface="M PLUS 1p"/>
                <a:cs typeface="M PLUS 1p"/>
                <a:sym typeface="M PLUS 1p"/>
              </a:rPr>
              <a:t>AIにインプット</a:t>
            </a:r>
            <a:endParaRPr i="0" sz="1000" u="none" cap="none" strike="noStrike">
              <a:solidFill>
                <a:schemeClr val="dk1"/>
              </a:solidFill>
              <a:latin typeface="M PLUS 1p"/>
              <a:ea typeface="M PLUS 1p"/>
              <a:cs typeface="M PLUS 1p"/>
              <a:sym typeface="M PLUS 1p"/>
            </a:endParaRPr>
          </a:p>
        </p:txBody>
      </p:sp>
      <p:sp>
        <p:nvSpPr>
          <p:cNvPr id="144" name="Google Shape;144;p22"/>
          <p:cNvSpPr txBox="1"/>
          <p:nvPr/>
        </p:nvSpPr>
        <p:spPr>
          <a:xfrm>
            <a:off x="3273552" y="2029968"/>
            <a:ext cx="1152144" cy="9601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34343"/>
              </a:buClr>
              <a:buSzPts val="800"/>
              <a:buFont typeface="Meiryo"/>
              <a:buNone/>
            </a:pPr>
            <a:r>
              <a:rPr i="0" lang="ja" sz="800" u="none" cap="none" strike="noStrike">
                <a:solidFill>
                  <a:srgbClr val="434343"/>
                </a:solidFill>
                <a:latin typeface="M PLUS 1p"/>
                <a:ea typeface="M PLUS 1p"/>
                <a:cs typeface="M PLUS 1p"/>
                <a:sym typeface="M PLUS 1p"/>
              </a:rPr>
              <a:t>過去分析・仮説・実績データをまとめて投入</a:t>
            </a:r>
            <a:endParaRPr i="0" sz="800" u="none" cap="none" strike="noStrike">
              <a:solidFill>
                <a:schemeClr val="dk1"/>
              </a:solidFill>
              <a:latin typeface="M PLUS 1p"/>
              <a:ea typeface="M PLUS 1p"/>
              <a:cs typeface="M PLUS 1p"/>
              <a:sym typeface="M PLUS 1p"/>
            </a:endParaRPr>
          </a:p>
        </p:txBody>
      </p:sp>
      <p:sp>
        <p:nvSpPr>
          <p:cNvPr id="145" name="Google Shape;145;p22"/>
          <p:cNvSpPr/>
          <p:nvPr/>
        </p:nvSpPr>
        <p:spPr>
          <a:xfrm>
            <a:off x="4503420" y="2084832"/>
            <a:ext cx="109728" cy="146304"/>
          </a:xfrm>
          <a:prstGeom prst="right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46" name="Google Shape;146;p22"/>
          <p:cNvSpPr/>
          <p:nvPr/>
        </p:nvSpPr>
        <p:spPr>
          <a:xfrm>
            <a:off x="4617720" y="1325880"/>
            <a:ext cx="1298448" cy="173736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47" name="Google Shape;147;p22"/>
          <p:cNvSpPr/>
          <p:nvPr/>
        </p:nvSpPr>
        <p:spPr>
          <a:xfrm>
            <a:off x="4617720" y="1325880"/>
            <a:ext cx="1298448" cy="237744"/>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48" name="Google Shape;148;p22"/>
          <p:cNvSpPr txBox="1"/>
          <p:nvPr/>
        </p:nvSpPr>
        <p:spPr>
          <a:xfrm>
            <a:off x="4617720" y="1325880"/>
            <a:ext cx="129844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100"/>
              </a:buClr>
              <a:buSzPts val="800"/>
              <a:buFont typeface="Meiryo"/>
              <a:buNone/>
            </a:pPr>
            <a:r>
              <a:rPr b="1" i="0" lang="ja" sz="800" u="none" cap="none" strike="noStrike">
                <a:solidFill>
                  <a:srgbClr val="FFD100"/>
                </a:solidFill>
                <a:latin typeface="M PLUS 1p"/>
                <a:ea typeface="M PLUS 1p"/>
                <a:cs typeface="M PLUS 1p"/>
                <a:sym typeface="M PLUS 1p"/>
              </a:rPr>
              <a:t>STEP 4</a:t>
            </a:r>
            <a:endParaRPr i="0" sz="800" u="none" cap="none" strike="noStrike">
              <a:solidFill>
                <a:schemeClr val="dk1"/>
              </a:solidFill>
              <a:latin typeface="M PLUS 1p"/>
              <a:ea typeface="M PLUS 1p"/>
              <a:cs typeface="M PLUS 1p"/>
              <a:sym typeface="M PLUS 1p"/>
            </a:endParaRPr>
          </a:p>
        </p:txBody>
      </p:sp>
      <p:sp>
        <p:nvSpPr>
          <p:cNvPr id="149" name="Google Shape;149;p22"/>
          <p:cNvSpPr txBox="1"/>
          <p:nvPr/>
        </p:nvSpPr>
        <p:spPr>
          <a:xfrm>
            <a:off x="4690872" y="1645920"/>
            <a:ext cx="1152144"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A1A1A"/>
              </a:buClr>
              <a:buSzPts val="1000"/>
              <a:buFont typeface="Meiryo"/>
              <a:buNone/>
            </a:pPr>
            <a:r>
              <a:rPr b="1" i="0" lang="ja" sz="1000" u="none" cap="none" strike="noStrike">
                <a:solidFill>
                  <a:srgbClr val="1A1A1A"/>
                </a:solidFill>
                <a:latin typeface="M PLUS 1p"/>
                <a:ea typeface="M PLUS 1p"/>
                <a:cs typeface="M PLUS 1p"/>
                <a:sym typeface="M PLUS 1p"/>
              </a:rPr>
              <a:t>定量分析</a:t>
            </a:r>
            <a:endParaRPr i="0" sz="1000" u="none" cap="none" strike="noStrike">
              <a:solidFill>
                <a:schemeClr val="dk1"/>
              </a:solidFill>
              <a:latin typeface="M PLUS 1p"/>
              <a:ea typeface="M PLUS 1p"/>
              <a:cs typeface="M PLUS 1p"/>
              <a:sym typeface="M PLUS 1p"/>
            </a:endParaRPr>
          </a:p>
        </p:txBody>
      </p:sp>
      <p:sp>
        <p:nvSpPr>
          <p:cNvPr id="150" name="Google Shape;150;p22"/>
          <p:cNvSpPr txBox="1"/>
          <p:nvPr/>
        </p:nvSpPr>
        <p:spPr>
          <a:xfrm>
            <a:off x="4690872" y="2029968"/>
            <a:ext cx="1152144" cy="9601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34343"/>
              </a:buClr>
              <a:buSzPts val="800"/>
              <a:buFont typeface="Meiryo"/>
              <a:buNone/>
            </a:pPr>
            <a:r>
              <a:rPr i="0" lang="ja" sz="800" u="none" cap="none" strike="noStrike">
                <a:solidFill>
                  <a:srgbClr val="434343"/>
                </a:solidFill>
                <a:latin typeface="M PLUS 1p"/>
                <a:ea typeface="M PLUS 1p"/>
                <a:cs typeface="M PLUS 1p"/>
                <a:sym typeface="M PLUS 1p"/>
              </a:rPr>
              <a:t>各変数と翌月継続率の関係を検証</a:t>
            </a:r>
            <a:endParaRPr i="0" sz="800" u="none" cap="none" strike="noStrike">
              <a:solidFill>
                <a:schemeClr val="dk1"/>
              </a:solidFill>
              <a:latin typeface="M PLUS 1p"/>
              <a:ea typeface="M PLUS 1p"/>
              <a:cs typeface="M PLUS 1p"/>
              <a:sym typeface="M PLUS 1p"/>
            </a:endParaRPr>
          </a:p>
        </p:txBody>
      </p:sp>
      <p:sp>
        <p:nvSpPr>
          <p:cNvPr id="151" name="Google Shape;151;p22"/>
          <p:cNvSpPr/>
          <p:nvPr/>
        </p:nvSpPr>
        <p:spPr>
          <a:xfrm>
            <a:off x="5920740" y="2084832"/>
            <a:ext cx="109728" cy="146304"/>
          </a:xfrm>
          <a:prstGeom prst="right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52" name="Google Shape;152;p22"/>
          <p:cNvSpPr/>
          <p:nvPr/>
        </p:nvSpPr>
        <p:spPr>
          <a:xfrm>
            <a:off x="6035040" y="1325880"/>
            <a:ext cx="1298448" cy="173736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53" name="Google Shape;153;p22"/>
          <p:cNvSpPr/>
          <p:nvPr/>
        </p:nvSpPr>
        <p:spPr>
          <a:xfrm>
            <a:off x="6035040" y="1325880"/>
            <a:ext cx="1298448" cy="237744"/>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54" name="Google Shape;154;p22"/>
          <p:cNvSpPr txBox="1"/>
          <p:nvPr/>
        </p:nvSpPr>
        <p:spPr>
          <a:xfrm>
            <a:off x="6035040" y="1325880"/>
            <a:ext cx="129844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100"/>
              </a:buClr>
              <a:buSzPts val="800"/>
              <a:buFont typeface="Meiryo"/>
              <a:buNone/>
            </a:pPr>
            <a:r>
              <a:rPr b="1" i="0" lang="ja" sz="800" u="none" cap="none" strike="noStrike">
                <a:solidFill>
                  <a:srgbClr val="FFD100"/>
                </a:solidFill>
                <a:latin typeface="M PLUS 1p"/>
                <a:ea typeface="M PLUS 1p"/>
                <a:cs typeface="M PLUS 1p"/>
                <a:sym typeface="M PLUS 1p"/>
              </a:rPr>
              <a:t>STEP 5</a:t>
            </a:r>
            <a:endParaRPr i="0" sz="800" u="none" cap="none" strike="noStrike">
              <a:solidFill>
                <a:schemeClr val="dk1"/>
              </a:solidFill>
              <a:latin typeface="M PLUS 1p"/>
              <a:ea typeface="M PLUS 1p"/>
              <a:cs typeface="M PLUS 1p"/>
              <a:sym typeface="M PLUS 1p"/>
            </a:endParaRPr>
          </a:p>
        </p:txBody>
      </p:sp>
      <p:sp>
        <p:nvSpPr>
          <p:cNvPr id="155" name="Google Shape;155;p22"/>
          <p:cNvSpPr txBox="1"/>
          <p:nvPr/>
        </p:nvSpPr>
        <p:spPr>
          <a:xfrm>
            <a:off x="6108192" y="1645920"/>
            <a:ext cx="1152144"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A1A1A"/>
              </a:buClr>
              <a:buSzPts val="1000"/>
              <a:buFont typeface="Meiryo"/>
              <a:buNone/>
            </a:pPr>
            <a:r>
              <a:rPr b="1" i="0" lang="ja" sz="1000" u="none" cap="none" strike="noStrike">
                <a:solidFill>
                  <a:srgbClr val="1A1A1A"/>
                </a:solidFill>
                <a:latin typeface="M PLUS 1p"/>
                <a:ea typeface="M PLUS 1p"/>
                <a:cs typeface="M PLUS 1p"/>
                <a:sym typeface="M PLUS 1p"/>
              </a:rPr>
              <a:t>変数を抽出</a:t>
            </a:r>
            <a:endParaRPr i="0" sz="1000" u="none" cap="none" strike="noStrike">
              <a:solidFill>
                <a:schemeClr val="dk1"/>
              </a:solidFill>
              <a:latin typeface="M PLUS 1p"/>
              <a:ea typeface="M PLUS 1p"/>
              <a:cs typeface="M PLUS 1p"/>
              <a:sym typeface="M PLUS 1p"/>
            </a:endParaRPr>
          </a:p>
        </p:txBody>
      </p:sp>
      <p:sp>
        <p:nvSpPr>
          <p:cNvPr id="156" name="Google Shape;156;p22"/>
          <p:cNvSpPr txBox="1"/>
          <p:nvPr/>
        </p:nvSpPr>
        <p:spPr>
          <a:xfrm>
            <a:off x="6108192" y="2029968"/>
            <a:ext cx="1152144" cy="9601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34343"/>
              </a:buClr>
              <a:buSzPts val="800"/>
              <a:buFont typeface="Meiryo"/>
              <a:buNone/>
            </a:pPr>
            <a:r>
              <a:rPr i="0" lang="ja" sz="800" u="none" cap="none" strike="noStrike">
                <a:solidFill>
                  <a:srgbClr val="434343"/>
                </a:solidFill>
                <a:latin typeface="M PLUS 1p"/>
                <a:ea typeface="M PLUS 1p"/>
                <a:cs typeface="M PLUS 1p"/>
                <a:sym typeface="M PLUS 1p"/>
              </a:rPr>
              <a:t>継続率と関係があり、かつ営業が把握・介入できる項目に限定</a:t>
            </a:r>
            <a:endParaRPr i="0" sz="800" u="none" cap="none" strike="noStrike">
              <a:solidFill>
                <a:schemeClr val="dk1"/>
              </a:solidFill>
              <a:latin typeface="M PLUS 1p"/>
              <a:ea typeface="M PLUS 1p"/>
              <a:cs typeface="M PLUS 1p"/>
              <a:sym typeface="M PLUS 1p"/>
            </a:endParaRPr>
          </a:p>
        </p:txBody>
      </p:sp>
      <p:sp>
        <p:nvSpPr>
          <p:cNvPr id="157" name="Google Shape;157;p22"/>
          <p:cNvSpPr/>
          <p:nvPr/>
        </p:nvSpPr>
        <p:spPr>
          <a:xfrm>
            <a:off x="7338060" y="2084832"/>
            <a:ext cx="109728" cy="146304"/>
          </a:xfrm>
          <a:prstGeom prst="rightArrow">
            <a:avLst>
              <a:gd fmla="val 50000" name="adj1"/>
              <a:gd fmla="val 50000" name="adj2"/>
            </a:avLst>
          </a:prstGeom>
          <a:solidFill>
            <a:srgbClr val="FFD100"/>
          </a:solidFill>
          <a:ln cap="flat" cmpd="sng" w="12700">
            <a:solidFill>
              <a:srgbClr val="FFD1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58" name="Google Shape;158;p22"/>
          <p:cNvSpPr/>
          <p:nvPr/>
        </p:nvSpPr>
        <p:spPr>
          <a:xfrm>
            <a:off x="7452360" y="1325880"/>
            <a:ext cx="1298448" cy="173736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59" name="Google Shape;159;p22"/>
          <p:cNvSpPr/>
          <p:nvPr/>
        </p:nvSpPr>
        <p:spPr>
          <a:xfrm>
            <a:off x="7452360" y="1325880"/>
            <a:ext cx="1298448" cy="237744"/>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60" name="Google Shape;160;p22"/>
          <p:cNvSpPr txBox="1"/>
          <p:nvPr/>
        </p:nvSpPr>
        <p:spPr>
          <a:xfrm>
            <a:off x="7452360" y="1325880"/>
            <a:ext cx="1298448"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D100"/>
              </a:buClr>
              <a:buSzPts val="800"/>
              <a:buFont typeface="Meiryo"/>
              <a:buNone/>
            </a:pPr>
            <a:r>
              <a:rPr b="1" i="0" lang="ja" sz="800" u="none" cap="none" strike="noStrike">
                <a:solidFill>
                  <a:srgbClr val="FFD100"/>
                </a:solidFill>
                <a:latin typeface="M PLUS 1p"/>
                <a:ea typeface="M PLUS 1p"/>
                <a:cs typeface="M PLUS 1p"/>
                <a:sym typeface="M PLUS 1p"/>
              </a:rPr>
              <a:t>STEP 6</a:t>
            </a:r>
            <a:endParaRPr i="0" sz="800" u="none" cap="none" strike="noStrike">
              <a:solidFill>
                <a:schemeClr val="dk1"/>
              </a:solidFill>
              <a:latin typeface="M PLUS 1p"/>
              <a:ea typeface="M PLUS 1p"/>
              <a:cs typeface="M PLUS 1p"/>
              <a:sym typeface="M PLUS 1p"/>
            </a:endParaRPr>
          </a:p>
        </p:txBody>
      </p:sp>
      <p:sp>
        <p:nvSpPr>
          <p:cNvPr id="161" name="Google Shape;161;p22"/>
          <p:cNvSpPr txBox="1"/>
          <p:nvPr/>
        </p:nvSpPr>
        <p:spPr>
          <a:xfrm>
            <a:off x="7525512" y="1645920"/>
            <a:ext cx="1152144"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A1A1A"/>
              </a:buClr>
              <a:buSzPts val="1000"/>
              <a:buFont typeface="Meiryo"/>
              <a:buNone/>
            </a:pPr>
            <a:r>
              <a:rPr b="1" i="0" lang="ja" sz="1000" u="none" cap="none" strike="noStrike">
                <a:solidFill>
                  <a:srgbClr val="1A1A1A"/>
                </a:solidFill>
                <a:latin typeface="M PLUS 1p"/>
                <a:ea typeface="M PLUS 1p"/>
                <a:cs typeface="M PLUS 1p"/>
                <a:sym typeface="M PLUS 1p"/>
              </a:rPr>
              <a:t>5項目にスコア化</a:t>
            </a:r>
            <a:endParaRPr i="0" sz="1000" u="none" cap="none" strike="noStrike">
              <a:solidFill>
                <a:schemeClr val="dk1"/>
              </a:solidFill>
              <a:latin typeface="M PLUS 1p"/>
              <a:ea typeface="M PLUS 1p"/>
              <a:cs typeface="M PLUS 1p"/>
              <a:sym typeface="M PLUS 1p"/>
            </a:endParaRPr>
          </a:p>
        </p:txBody>
      </p:sp>
      <p:sp>
        <p:nvSpPr>
          <p:cNvPr id="162" name="Google Shape;162;p22"/>
          <p:cNvSpPr txBox="1"/>
          <p:nvPr/>
        </p:nvSpPr>
        <p:spPr>
          <a:xfrm>
            <a:off x="7525512" y="2029968"/>
            <a:ext cx="1152144" cy="9601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434343"/>
              </a:buClr>
              <a:buSzPts val="800"/>
              <a:buFont typeface="Meiryo"/>
              <a:buNone/>
            </a:pPr>
            <a:r>
              <a:rPr i="0" lang="ja" sz="800" u="none" cap="none" strike="noStrike">
                <a:solidFill>
                  <a:srgbClr val="434343"/>
                </a:solidFill>
                <a:latin typeface="M PLUS 1p"/>
                <a:ea typeface="M PLUS 1p"/>
                <a:cs typeface="M PLUS 1p"/>
                <a:sym typeface="M PLUS 1p"/>
              </a:rPr>
              <a:t>当月・翌月それぞれ5項目前後に絞る</a:t>
            </a:r>
            <a:endParaRPr i="0" sz="800" u="none" cap="none" strike="noStrike">
              <a:solidFill>
                <a:schemeClr val="dk1"/>
              </a:solidFill>
              <a:latin typeface="M PLUS 1p"/>
              <a:ea typeface="M PLUS 1p"/>
              <a:cs typeface="M PLUS 1p"/>
              <a:sym typeface="M PLUS 1p"/>
            </a:endParaRPr>
          </a:p>
        </p:txBody>
      </p:sp>
      <p:sp>
        <p:nvSpPr>
          <p:cNvPr id="163" name="Google Shape;163;p22"/>
          <p:cNvSpPr/>
          <p:nvPr/>
        </p:nvSpPr>
        <p:spPr>
          <a:xfrm>
            <a:off x="365760" y="3154680"/>
            <a:ext cx="8412480" cy="411480"/>
          </a:xfrm>
          <a:prstGeom prst="rect">
            <a:avLst/>
          </a:prstGeom>
          <a:solidFill>
            <a:srgbClr val="FFF6D9"/>
          </a:solidFill>
          <a:ln cap="flat" cmpd="sng" w="12700">
            <a:solidFill>
              <a:srgbClr val="FFF6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64" name="Google Shape;164;p22"/>
          <p:cNvSpPr txBox="1"/>
          <p:nvPr/>
        </p:nvSpPr>
        <p:spPr>
          <a:xfrm>
            <a:off x="502920" y="3154680"/>
            <a:ext cx="81381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D7FE8"/>
              </a:buClr>
              <a:buSzPts val="1100"/>
              <a:buFont typeface="Meiryo"/>
              <a:buNone/>
            </a:pPr>
            <a:r>
              <a:rPr b="1" i="0" lang="ja" sz="1100" u="none" cap="none" strike="noStrike">
                <a:solidFill>
                  <a:srgbClr val="1D7FE8"/>
                </a:solidFill>
                <a:latin typeface="M PLUS 1p"/>
                <a:ea typeface="M PLUS 1p"/>
                <a:cs typeface="M PLUS 1p"/>
                <a:sym typeface="M PLUS 1p"/>
              </a:rPr>
              <a:t>アウトプット：</a:t>
            </a:r>
            <a:r>
              <a:rPr b="1" i="0" lang="ja" sz="1100" u="none" cap="none" strike="noStrike">
                <a:solidFill>
                  <a:srgbClr val="1A1A1A"/>
                </a:solidFill>
                <a:latin typeface="M PLUS 1p"/>
                <a:ea typeface="M PLUS 1p"/>
                <a:cs typeface="M PLUS 1p"/>
                <a:sym typeface="M PLUS 1p"/>
              </a:rPr>
              <a:t>スコアに応じて、営業の優先順位・介入強度・アクションを変える</a:t>
            </a:r>
            <a:endParaRPr i="0" sz="1100" u="none" cap="none" strike="noStrike">
              <a:solidFill>
                <a:schemeClr val="dk1"/>
              </a:solidFill>
              <a:latin typeface="M PLUS 1p"/>
              <a:ea typeface="M PLUS 1p"/>
              <a:cs typeface="M PLUS 1p"/>
              <a:sym typeface="M PLUS 1p"/>
            </a:endParaRPr>
          </a:p>
        </p:txBody>
      </p:sp>
      <p:sp>
        <p:nvSpPr>
          <p:cNvPr id="165" name="Google Shape;165;p22"/>
          <p:cNvSpPr/>
          <p:nvPr/>
        </p:nvSpPr>
        <p:spPr>
          <a:xfrm>
            <a:off x="365760" y="3685032"/>
            <a:ext cx="8412480" cy="310896"/>
          </a:xfrm>
          <a:prstGeom prst="rect">
            <a:avLst/>
          </a:prstGeom>
          <a:solidFill>
            <a:srgbClr val="1A1A1A"/>
          </a:solidFill>
          <a:ln cap="flat" cmpd="sng" w="12700">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66" name="Google Shape;166;p22"/>
          <p:cNvSpPr txBox="1"/>
          <p:nvPr/>
        </p:nvSpPr>
        <p:spPr>
          <a:xfrm>
            <a:off x="502920" y="3685032"/>
            <a:ext cx="813816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eiryo"/>
              <a:buNone/>
            </a:pPr>
            <a:r>
              <a:rPr b="1" i="0" lang="ja" sz="1200" u="none" cap="none" strike="noStrike">
                <a:solidFill>
                  <a:srgbClr val="FFFFFF"/>
                </a:solidFill>
                <a:latin typeface="M PLUS 1p"/>
                <a:ea typeface="M PLUS 1p"/>
                <a:cs typeface="M PLUS 1p"/>
                <a:sym typeface="M PLUS 1p"/>
              </a:rPr>
              <a:t>配点の決め方　継続率の差だけで機械的に点数化せず、5つの観点で初期配点を置いている</a:t>
            </a:r>
            <a:endParaRPr i="0" sz="1200" u="none" cap="none" strike="noStrike">
              <a:solidFill>
                <a:schemeClr val="dk1"/>
              </a:solidFill>
              <a:latin typeface="M PLUS 1p"/>
              <a:ea typeface="M PLUS 1p"/>
              <a:cs typeface="M PLUS 1p"/>
              <a:sym typeface="M PLUS 1p"/>
            </a:endParaRPr>
          </a:p>
        </p:txBody>
      </p:sp>
      <p:sp>
        <p:nvSpPr>
          <p:cNvPr id="167" name="Google Shape;167;p22"/>
          <p:cNvSpPr/>
          <p:nvPr/>
        </p:nvSpPr>
        <p:spPr>
          <a:xfrm>
            <a:off x="365760" y="3995928"/>
            <a:ext cx="1645920" cy="54864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68" name="Google Shape;168;p22"/>
          <p:cNvSpPr txBox="1"/>
          <p:nvPr/>
        </p:nvSpPr>
        <p:spPr>
          <a:xfrm>
            <a:off x="438912" y="3995928"/>
            <a:ext cx="149961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34343"/>
              </a:buClr>
              <a:buSzPts val="800"/>
              <a:buFont typeface="Meiryo"/>
              <a:buNone/>
            </a:pPr>
            <a:r>
              <a:rPr i="0" lang="ja" sz="800" u="none" cap="none" strike="noStrike">
                <a:solidFill>
                  <a:srgbClr val="434343"/>
                </a:solidFill>
                <a:latin typeface="M PLUS 1p"/>
                <a:ea typeface="M PLUS 1p"/>
                <a:cs typeface="M PLUS 1p"/>
                <a:sym typeface="M PLUS 1p"/>
              </a:rPr>
              <a:t>過去実績における</a:t>
            </a:r>
            <a:endParaRPr i="0" sz="800" u="none" cap="none" strike="noStrike">
              <a:solidFill>
                <a:schemeClr val="dk1"/>
              </a:solidFill>
              <a:latin typeface="M PLUS 1p"/>
              <a:ea typeface="M PLUS 1p"/>
              <a:cs typeface="M PLUS 1p"/>
              <a:sym typeface="M PLUS 1p"/>
            </a:endParaRPr>
          </a:p>
          <a:p>
            <a:pPr indent="0" lvl="0" marL="0" marR="0" rtl="0" algn="ctr">
              <a:spcBef>
                <a:spcPts val="0"/>
              </a:spcBef>
              <a:spcAft>
                <a:spcPts val="0"/>
              </a:spcAft>
              <a:buClr>
                <a:srgbClr val="434343"/>
              </a:buClr>
              <a:buSzPts val="800"/>
              <a:buFont typeface="Meiryo"/>
              <a:buNone/>
            </a:pPr>
            <a:r>
              <a:rPr i="0" lang="ja" sz="800" u="none" cap="none" strike="noStrike">
                <a:solidFill>
                  <a:srgbClr val="434343"/>
                </a:solidFill>
                <a:latin typeface="M PLUS 1p"/>
                <a:ea typeface="M PLUS 1p"/>
                <a:cs typeface="M PLUS 1p"/>
                <a:sym typeface="M PLUS 1p"/>
              </a:rPr>
              <a:t>翌月継続率との差</a:t>
            </a:r>
            <a:endParaRPr i="0" sz="800" u="none" cap="none" strike="noStrike">
              <a:solidFill>
                <a:schemeClr val="dk1"/>
              </a:solidFill>
              <a:latin typeface="M PLUS 1p"/>
              <a:ea typeface="M PLUS 1p"/>
              <a:cs typeface="M PLUS 1p"/>
              <a:sym typeface="M PLUS 1p"/>
            </a:endParaRPr>
          </a:p>
        </p:txBody>
      </p:sp>
      <p:sp>
        <p:nvSpPr>
          <p:cNvPr id="169" name="Google Shape;169;p22"/>
          <p:cNvSpPr/>
          <p:nvPr/>
        </p:nvSpPr>
        <p:spPr>
          <a:xfrm>
            <a:off x="2057400" y="3995928"/>
            <a:ext cx="1645920" cy="54864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70" name="Google Shape;170;p22"/>
          <p:cNvSpPr txBox="1"/>
          <p:nvPr/>
        </p:nvSpPr>
        <p:spPr>
          <a:xfrm>
            <a:off x="2130552" y="3995928"/>
            <a:ext cx="149961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34343"/>
              </a:buClr>
              <a:buSzPts val="800"/>
              <a:buFont typeface="Meiryo"/>
              <a:buNone/>
            </a:pPr>
            <a:r>
              <a:rPr i="0" lang="ja" sz="800" u="none" cap="none" strike="noStrike">
                <a:solidFill>
                  <a:srgbClr val="434343"/>
                </a:solidFill>
                <a:latin typeface="M PLUS 1p"/>
                <a:ea typeface="M PLUS 1p"/>
                <a:cs typeface="M PLUS 1p"/>
                <a:sym typeface="M PLUS 1p"/>
              </a:rPr>
              <a:t>その行動・状態が継続を</a:t>
            </a:r>
            <a:endParaRPr i="0" sz="800" u="none" cap="none" strike="noStrike">
              <a:solidFill>
                <a:schemeClr val="dk1"/>
              </a:solidFill>
              <a:latin typeface="M PLUS 1p"/>
              <a:ea typeface="M PLUS 1p"/>
              <a:cs typeface="M PLUS 1p"/>
              <a:sym typeface="M PLUS 1p"/>
            </a:endParaRPr>
          </a:p>
          <a:p>
            <a:pPr indent="0" lvl="0" marL="0" marR="0" rtl="0" algn="ctr">
              <a:spcBef>
                <a:spcPts val="0"/>
              </a:spcBef>
              <a:spcAft>
                <a:spcPts val="0"/>
              </a:spcAft>
              <a:buClr>
                <a:srgbClr val="434343"/>
              </a:buClr>
              <a:buSzPts val="800"/>
              <a:buFont typeface="Meiryo"/>
              <a:buNone/>
            </a:pPr>
            <a:r>
              <a:rPr i="0" lang="ja" sz="800" u="none" cap="none" strike="noStrike">
                <a:solidFill>
                  <a:srgbClr val="434343"/>
                </a:solidFill>
                <a:latin typeface="M PLUS 1p"/>
                <a:ea typeface="M PLUS 1p"/>
                <a:cs typeface="M PLUS 1p"/>
                <a:sym typeface="M PLUS 1p"/>
              </a:rPr>
              <a:t>どれだけ強く示すか</a:t>
            </a:r>
            <a:endParaRPr i="0" sz="800" u="none" cap="none" strike="noStrike">
              <a:solidFill>
                <a:schemeClr val="dk1"/>
              </a:solidFill>
              <a:latin typeface="M PLUS 1p"/>
              <a:ea typeface="M PLUS 1p"/>
              <a:cs typeface="M PLUS 1p"/>
              <a:sym typeface="M PLUS 1p"/>
            </a:endParaRPr>
          </a:p>
        </p:txBody>
      </p:sp>
      <p:sp>
        <p:nvSpPr>
          <p:cNvPr id="171" name="Google Shape;171;p22"/>
          <p:cNvSpPr/>
          <p:nvPr/>
        </p:nvSpPr>
        <p:spPr>
          <a:xfrm>
            <a:off x="3749040" y="3995928"/>
            <a:ext cx="1645920" cy="54864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72" name="Google Shape;172;p22"/>
          <p:cNvSpPr txBox="1"/>
          <p:nvPr/>
        </p:nvSpPr>
        <p:spPr>
          <a:xfrm>
            <a:off x="3822192" y="3995928"/>
            <a:ext cx="149961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34343"/>
              </a:buClr>
              <a:buSzPts val="800"/>
              <a:buFont typeface="Meiryo"/>
              <a:buNone/>
            </a:pPr>
            <a:r>
              <a:rPr i="0" lang="ja" sz="800" u="none" cap="none" strike="noStrike">
                <a:solidFill>
                  <a:srgbClr val="434343"/>
                </a:solidFill>
                <a:latin typeface="M PLUS 1p"/>
                <a:ea typeface="M PLUS 1p"/>
                <a:cs typeface="M PLUS 1p"/>
                <a:sym typeface="M PLUS 1p"/>
              </a:rPr>
              <a:t>利用の習慣化を</a:t>
            </a:r>
            <a:endParaRPr i="0" sz="800" u="none" cap="none" strike="noStrike">
              <a:solidFill>
                <a:schemeClr val="dk1"/>
              </a:solidFill>
              <a:latin typeface="M PLUS 1p"/>
              <a:ea typeface="M PLUS 1p"/>
              <a:cs typeface="M PLUS 1p"/>
              <a:sym typeface="M PLUS 1p"/>
            </a:endParaRPr>
          </a:p>
          <a:p>
            <a:pPr indent="0" lvl="0" marL="0" marR="0" rtl="0" algn="ctr">
              <a:spcBef>
                <a:spcPts val="0"/>
              </a:spcBef>
              <a:spcAft>
                <a:spcPts val="0"/>
              </a:spcAft>
              <a:buClr>
                <a:srgbClr val="434343"/>
              </a:buClr>
              <a:buSzPts val="800"/>
              <a:buFont typeface="Meiryo"/>
              <a:buNone/>
            </a:pPr>
            <a:r>
              <a:rPr i="0" lang="ja" sz="800" u="none" cap="none" strike="noStrike">
                <a:solidFill>
                  <a:srgbClr val="434343"/>
                </a:solidFill>
                <a:latin typeface="M PLUS 1p"/>
                <a:ea typeface="M PLUS 1p"/>
                <a:cs typeface="M PLUS 1p"/>
                <a:sym typeface="M PLUS 1p"/>
              </a:rPr>
              <a:t>示すか</a:t>
            </a:r>
            <a:endParaRPr i="0" sz="800" u="none" cap="none" strike="noStrike">
              <a:solidFill>
                <a:schemeClr val="dk1"/>
              </a:solidFill>
              <a:latin typeface="M PLUS 1p"/>
              <a:ea typeface="M PLUS 1p"/>
              <a:cs typeface="M PLUS 1p"/>
              <a:sym typeface="M PLUS 1p"/>
            </a:endParaRPr>
          </a:p>
        </p:txBody>
      </p:sp>
      <p:sp>
        <p:nvSpPr>
          <p:cNvPr id="173" name="Google Shape;173;p22"/>
          <p:cNvSpPr/>
          <p:nvPr/>
        </p:nvSpPr>
        <p:spPr>
          <a:xfrm>
            <a:off x="5440680" y="3995928"/>
            <a:ext cx="1645920" cy="54864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74" name="Google Shape;174;p22"/>
          <p:cNvSpPr txBox="1"/>
          <p:nvPr/>
        </p:nvSpPr>
        <p:spPr>
          <a:xfrm>
            <a:off x="5513832" y="3995928"/>
            <a:ext cx="149961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34343"/>
              </a:buClr>
              <a:buSzPts val="800"/>
              <a:buFont typeface="Meiryo"/>
              <a:buNone/>
            </a:pPr>
            <a:r>
              <a:rPr i="0" lang="ja" sz="800" u="none" cap="none" strike="noStrike">
                <a:solidFill>
                  <a:srgbClr val="434343"/>
                </a:solidFill>
                <a:latin typeface="M PLUS 1p"/>
                <a:ea typeface="M PLUS 1p"/>
                <a:cs typeface="M PLUS 1p"/>
                <a:sym typeface="M PLUS 1p"/>
              </a:rPr>
              <a:t>営業側で把握・</a:t>
            </a:r>
            <a:endParaRPr i="0" sz="800" u="none" cap="none" strike="noStrike">
              <a:solidFill>
                <a:schemeClr val="dk1"/>
              </a:solidFill>
              <a:latin typeface="M PLUS 1p"/>
              <a:ea typeface="M PLUS 1p"/>
              <a:cs typeface="M PLUS 1p"/>
              <a:sym typeface="M PLUS 1p"/>
            </a:endParaRPr>
          </a:p>
          <a:p>
            <a:pPr indent="0" lvl="0" marL="0" marR="0" rtl="0" algn="ctr">
              <a:spcBef>
                <a:spcPts val="0"/>
              </a:spcBef>
              <a:spcAft>
                <a:spcPts val="0"/>
              </a:spcAft>
              <a:buClr>
                <a:srgbClr val="434343"/>
              </a:buClr>
              <a:buSzPts val="800"/>
              <a:buFont typeface="Meiryo"/>
              <a:buNone/>
            </a:pPr>
            <a:r>
              <a:rPr i="0" lang="ja" sz="800" u="none" cap="none" strike="noStrike">
                <a:solidFill>
                  <a:srgbClr val="434343"/>
                </a:solidFill>
                <a:latin typeface="M PLUS 1p"/>
                <a:ea typeface="M PLUS 1p"/>
                <a:cs typeface="M PLUS 1p"/>
                <a:sym typeface="M PLUS 1p"/>
              </a:rPr>
              <a:t>介入できるか</a:t>
            </a:r>
            <a:endParaRPr i="0" sz="800" u="none" cap="none" strike="noStrike">
              <a:solidFill>
                <a:schemeClr val="dk1"/>
              </a:solidFill>
              <a:latin typeface="M PLUS 1p"/>
              <a:ea typeface="M PLUS 1p"/>
              <a:cs typeface="M PLUS 1p"/>
              <a:sym typeface="M PLUS 1p"/>
            </a:endParaRPr>
          </a:p>
        </p:txBody>
      </p:sp>
      <p:sp>
        <p:nvSpPr>
          <p:cNvPr id="175" name="Google Shape;175;p22"/>
          <p:cNvSpPr/>
          <p:nvPr/>
        </p:nvSpPr>
        <p:spPr>
          <a:xfrm>
            <a:off x="7132320" y="3995928"/>
            <a:ext cx="1645920" cy="548640"/>
          </a:xfrm>
          <a:prstGeom prst="rect">
            <a:avLst/>
          </a:prstGeom>
          <a:solidFill>
            <a:srgbClr val="F5F5F5"/>
          </a:solidFill>
          <a:ln cap="flat" cmpd="sng" w="12700">
            <a:solidFill>
              <a:srgbClr val="F5F5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 PLUS 1p"/>
              <a:ea typeface="M PLUS 1p"/>
              <a:cs typeface="M PLUS 1p"/>
              <a:sym typeface="M PLUS 1p"/>
            </a:endParaRPr>
          </a:p>
        </p:txBody>
      </p:sp>
      <p:sp>
        <p:nvSpPr>
          <p:cNvPr id="176" name="Google Shape;176;p22"/>
          <p:cNvSpPr txBox="1"/>
          <p:nvPr/>
        </p:nvSpPr>
        <p:spPr>
          <a:xfrm>
            <a:off x="7205472" y="3995928"/>
            <a:ext cx="1499616"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34343"/>
              </a:buClr>
              <a:buSzPts val="800"/>
              <a:buFont typeface="Meiryo"/>
              <a:buNone/>
            </a:pPr>
            <a:r>
              <a:rPr i="0" lang="ja" sz="800" u="none" cap="none" strike="noStrike">
                <a:solidFill>
                  <a:srgbClr val="434343"/>
                </a:solidFill>
                <a:latin typeface="M PLUS 1p"/>
                <a:ea typeface="M PLUS 1p"/>
                <a:cs typeface="M PLUS 1p"/>
                <a:sym typeface="M PLUS 1p"/>
              </a:rPr>
              <a:t>他項目との重複度</a:t>
            </a:r>
            <a:endParaRPr i="0" sz="800" u="none" cap="none" strike="noStrike">
              <a:solidFill>
                <a:schemeClr val="dk1"/>
              </a:solidFill>
              <a:latin typeface="M PLUS 1p"/>
              <a:ea typeface="M PLUS 1p"/>
              <a:cs typeface="M PLUS 1p"/>
              <a:sym typeface="M PLUS 1p"/>
            </a:endParaRPr>
          </a:p>
        </p:txBody>
      </p:sp>
      <p:sp>
        <p:nvSpPr>
          <p:cNvPr id="177" name="Google Shape;177;p22"/>
          <p:cNvSpPr txBox="1"/>
          <p:nvPr/>
        </p:nvSpPr>
        <p:spPr>
          <a:xfrm>
            <a:off x="365760" y="4617720"/>
            <a:ext cx="8412480"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5959"/>
              </a:buClr>
              <a:buSzPts val="800"/>
              <a:buFont typeface="Meiryo"/>
              <a:buNone/>
            </a:pPr>
            <a:r>
              <a:rPr b="0" i="0" lang="ja" sz="800" u="none" cap="none" strike="noStrike">
                <a:solidFill>
                  <a:srgbClr val="595959"/>
                </a:solidFill>
                <a:latin typeface="Meiryo"/>
                <a:ea typeface="Meiryo"/>
                <a:cs typeface="Meiryo"/>
                <a:sym typeface="Meiryo"/>
              </a:rPr>
              <a:t>初期配点は9月の実運用で検証し、10月に見直す。</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 name="Shape 182"/>
        <p:cNvGrpSpPr/>
        <p:nvPr/>
      </p:nvGrpSpPr>
      <p:grpSpPr>
        <a:xfrm>
          <a:off x="0" y="0"/>
          <a:ext cx="0" cy="0"/>
          <a:chOff x="0" y="0"/>
          <a:chExt cx="0" cy="0"/>
        </a:xfrm>
      </p:grpSpPr>
      <p:sp>
        <p:nvSpPr>
          <p:cNvPr id="183" name="Google Shape;183;p23"/>
          <p:cNvSpPr txBox="1"/>
          <p:nvPr/>
        </p:nvSpPr>
        <p:spPr>
          <a:xfrm>
            <a:off x="365760" y="182880"/>
            <a:ext cx="75895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Meiryo"/>
              <a:buNone/>
            </a:pPr>
            <a:r>
              <a:rPr b="1" lang="ja" sz="2000">
                <a:solidFill>
                  <a:srgbClr val="1A1A1A"/>
                </a:solidFill>
                <a:latin typeface="M PLUS 1p"/>
                <a:ea typeface="M PLUS 1p"/>
                <a:cs typeface="M PLUS 1p"/>
                <a:sym typeface="M PLUS 1p"/>
              </a:rPr>
              <a:t>当月・翌月それぞれ5つの項目で加点・減点する</a:t>
            </a:r>
            <a:endParaRPr sz="2000">
              <a:solidFill>
                <a:schemeClr val="dk1"/>
              </a:solidFill>
              <a:latin typeface="M PLUS 1p"/>
              <a:ea typeface="M PLUS 1p"/>
              <a:cs typeface="M PLUS 1p"/>
              <a:sym typeface="M PLUS 1p"/>
            </a:endParaRPr>
          </a:p>
        </p:txBody>
      </p:sp>
      <p:sp>
        <p:nvSpPr>
          <p:cNvPr id="184" name="Google Shape;184;p23"/>
          <p:cNvSpPr txBox="1"/>
          <p:nvPr/>
        </p:nvSpPr>
        <p:spPr>
          <a:xfrm>
            <a:off x="8046720" y="164592"/>
            <a:ext cx="7315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A1A1A"/>
              </a:buClr>
              <a:buSzPts val="1400"/>
              <a:buFont typeface="Meiryo"/>
              <a:buNone/>
            </a:pPr>
            <a:r>
              <a:rPr b="1" lang="ja" sz="1400">
                <a:solidFill>
                  <a:srgbClr val="1A1A1A"/>
                </a:solidFill>
                <a:latin typeface="M PLUS 1p"/>
                <a:ea typeface="M PLUS 1p"/>
                <a:cs typeface="M PLUS 1p"/>
                <a:sym typeface="M PLUS 1p"/>
              </a:rPr>
              <a:t>Timee</a:t>
            </a:r>
            <a:endParaRPr sz="1400">
              <a:solidFill>
                <a:schemeClr val="dk1"/>
              </a:solidFill>
              <a:latin typeface="M PLUS 1p"/>
              <a:ea typeface="M PLUS 1p"/>
              <a:cs typeface="M PLUS 1p"/>
              <a:sym typeface="M PLUS 1p"/>
            </a:endParaRPr>
          </a:p>
        </p:txBody>
      </p:sp>
      <p:sp>
        <p:nvSpPr>
          <p:cNvPr id="185" name="Google Shape;185;p23"/>
          <p:cNvSpPr/>
          <p:nvPr/>
        </p:nvSpPr>
        <p:spPr>
          <a:xfrm>
            <a:off x="365760" y="658368"/>
            <a:ext cx="8412480" cy="457200"/>
          </a:xfrm>
          <a:prstGeom prst="rect">
            <a:avLst/>
          </a:prstGeom>
          <a:solidFill>
            <a:srgbClr val="FFF6D9"/>
          </a:solidFill>
          <a:ln cap="flat" cmpd="sng" w="12700">
            <a:solidFill>
              <a:srgbClr val="FFF6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186" name="Google Shape;186;p23"/>
          <p:cNvSpPr txBox="1"/>
          <p:nvPr/>
        </p:nvSpPr>
        <p:spPr>
          <a:xfrm>
            <a:off x="502920" y="658368"/>
            <a:ext cx="8138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50"/>
              <a:buFont typeface="Meiryo"/>
              <a:buNone/>
            </a:pPr>
            <a:r>
              <a:rPr lang="ja" sz="1150">
                <a:solidFill>
                  <a:srgbClr val="1A1A1A"/>
                </a:solidFill>
                <a:latin typeface="M PLUS 1p"/>
                <a:ea typeface="M PLUS 1p"/>
                <a:cs typeface="M PLUS 1p"/>
                <a:sym typeface="M PLUS 1p"/>
              </a:rPr>
              <a:t>加点は「掲載が積み上がっているか」と「ヨミ」。</a:t>
            </a:r>
            <a:r>
              <a:rPr b="1" lang="ja" sz="1150">
                <a:solidFill>
                  <a:srgbClr val="1D7FE8"/>
                </a:solidFill>
                <a:latin typeface="M PLUS 1p"/>
                <a:ea typeface="M PLUS 1p"/>
                <a:cs typeface="M PLUS 1p"/>
                <a:sym typeface="M PLUS 1p"/>
              </a:rPr>
              <a:t>減点はCヨミ・C＋の放置・前月からの経過日数・Bad体験の4つ。</a:t>
            </a:r>
            <a:endParaRPr sz="1150">
              <a:solidFill>
                <a:schemeClr val="dk1"/>
              </a:solidFill>
              <a:latin typeface="M PLUS 1p"/>
              <a:ea typeface="M PLUS 1p"/>
              <a:cs typeface="M PLUS 1p"/>
              <a:sym typeface="M PLUS 1p"/>
            </a:endParaRPr>
          </a:p>
        </p:txBody>
      </p:sp>
      <p:sp>
        <p:nvSpPr>
          <p:cNvPr id="187" name="Google Shape;187;p23"/>
          <p:cNvSpPr txBox="1"/>
          <p:nvPr/>
        </p:nvSpPr>
        <p:spPr>
          <a:xfrm>
            <a:off x="5852160" y="4846320"/>
            <a:ext cx="2926080"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8C8C8C"/>
              </a:buClr>
              <a:buSzPts val="700"/>
              <a:buFont typeface="Meiryo"/>
              <a:buNone/>
            </a:pPr>
            <a:r>
              <a:rPr lang="ja" sz="700">
                <a:solidFill>
                  <a:srgbClr val="8C8C8C"/>
                </a:solidFill>
                <a:latin typeface="Meiryo"/>
                <a:ea typeface="Meiryo"/>
                <a:cs typeface="Meiryo"/>
                <a:sym typeface="Meiryo"/>
              </a:rPr>
              <a:t>Copyright © Timee All Rights Reserved</a:t>
            </a:r>
            <a:endParaRPr sz="700">
              <a:solidFill>
                <a:schemeClr val="dk1"/>
              </a:solidFill>
              <a:latin typeface="Calibri"/>
              <a:ea typeface="Calibri"/>
              <a:cs typeface="Calibri"/>
              <a:sym typeface="Calibri"/>
            </a:endParaRPr>
          </a:p>
        </p:txBody>
      </p:sp>
      <p:sp>
        <p:nvSpPr>
          <p:cNvPr id="188" name="Google Shape;188;p23"/>
          <p:cNvSpPr/>
          <p:nvPr/>
        </p:nvSpPr>
        <p:spPr>
          <a:xfrm>
            <a:off x="365760" y="1298448"/>
            <a:ext cx="4114800" cy="310896"/>
          </a:xfrm>
          <a:prstGeom prst="rect">
            <a:avLst/>
          </a:prstGeom>
          <a:solidFill>
            <a:srgbClr val="1A1A1A"/>
          </a:solidFill>
          <a:ln cap="flat" cmpd="sng" w="12700">
            <a:solidFill>
              <a:srgbClr val="1A1A1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189" name="Google Shape;189;p23"/>
          <p:cNvSpPr txBox="1"/>
          <p:nvPr/>
        </p:nvSpPr>
        <p:spPr>
          <a:xfrm>
            <a:off x="502920" y="1298448"/>
            <a:ext cx="38404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eiryo"/>
              <a:buNone/>
            </a:pPr>
            <a:r>
              <a:rPr b="1" lang="ja" sz="1200">
                <a:solidFill>
                  <a:srgbClr val="FFFFFF"/>
                </a:solidFill>
                <a:latin typeface="M PLUS 1p"/>
                <a:ea typeface="M PLUS 1p"/>
                <a:cs typeface="M PLUS 1p"/>
                <a:sym typeface="M PLUS 1p"/>
              </a:rPr>
              <a:t>当月・スコア採点基準（当月新規）</a:t>
            </a:r>
            <a:endParaRPr sz="1200">
              <a:solidFill>
                <a:schemeClr val="dk1"/>
              </a:solidFill>
              <a:latin typeface="M PLUS 1p"/>
              <a:ea typeface="M PLUS 1p"/>
              <a:cs typeface="M PLUS 1p"/>
              <a:sym typeface="M PLUS 1p"/>
            </a:endParaRPr>
          </a:p>
        </p:txBody>
      </p:sp>
      <p:sp>
        <p:nvSpPr>
          <p:cNvPr id="190" name="Google Shape;190;p23"/>
          <p:cNvSpPr/>
          <p:nvPr/>
        </p:nvSpPr>
        <p:spPr>
          <a:xfrm>
            <a:off x="365760" y="1664208"/>
            <a:ext cx="4114800" cy="493776"/>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191" name="Google Shape;191;p23"/>
          <p:cNvSpPr txBox="1"/>
          <p:nvPr/>
        </p:nvSpPr>
        <p:spPr>
          <a:xfrm>
            <a:off x="475488" y="1709928"/>
            <a:ext cx="32004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100"/>
              <a:buFont typeface="Meiryo"/>
              <a:buNone/>
            </a:pPr>
            <a:r>
              <a:rPr b="1" lang="ja" sz="1100">
                <a:solidFill>
                  <a:srgbClr val="1A1A1A"/>
                </a:solidFill>
                <a:latin typeface="M PLUS 1p"/>
                <a:ea typeface="M PLUS 1p"/>
                <a:cs typeface="M PLUS 1p"/>
                <a:sym typeface="M PLUS 1p"/>
              </a:rPr>
              <a:t>2回以上掲載しているか</a:t>
            </a:r>
            <a:endParaRPr sz="1100">
              <a:solidFill>
                <a:schemeClr val="dk1"/>
              </a:solidFill>
              <a:latin typeface="M PLUS 1p"/>
              <a:ea typeface="M PLUS 1p"/>
              <a:cs typeface="M PLUS 1p"/>
              <a:sym typeface="M PLUS 1p"/>
            </a:endParaRPr>
          </a:p>
        </p:txBody>
      </p:sp>
      <p:sp>
        <p:nvSpPr>
          <p:cNvPr id="192" name="Google Shape;192;p23"/>
          <p:cNvSpPr txBox="1"/>
          <p:nvPr/>
        </p:nvSpPr>
        <p:spPr>
          <a:xfrm>
            <a:off x="3566160" y="1709928"/>
            <a:ext cx="82296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D7FE8"/>
              </a:buClr>
              <a:buSzPts val="1100"/>
              <a:buFont typeface="Meiryo"/>
              <a:buNone/>
            </a:pPr>
            <a:r>
              <a:rPr b="1" lang="ja" sz="1100">
                <a:solidFill>
                  <a:srgbClr val="1D7FE8"/>
                </a:solidFill>
                <a:latin typeface="M PLUS 1p"/>
                <a:ea typeface="M PLUS 1p"/>
                <a:cs typeface="M PLUS 1p"/>
                <a:sym typeface="M PLUS 1p"/>
              </a:rPr>
              <a:t>＋1</a:t>
            </a:r>
            <a:endParaRPr sz="1100">
              <a:solidFill>
                <a:schemeClr val="dk1"/>
              </a:solidFill>
              <a:latin typeface="M PLUS 1p"/>
              <a:ea typeface="M PLUS 1p"/>
              <a:cs typeface="M PLUS 1p"/>
              <a:sym typeface="M PLUS 1p"/>
            </a:endParaRPr>
          </a:p>
        </p:txBody>
      </p:sp>
      <p:sp>
        <p:nvSpPr>
          <p:cNvPr id="193" name="Google Shape;193;p23"/>
          <p:cNvSpPr txBox="1"/>
          <p:nvPr/>
        </p:nvSpPr>
        <p:spPr>
          <a:xfrm>
            <a:off x="475488" y="1929384"/>
            <a:ext cx="39319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34343"/>
              </a:buClr>
              <a:buSzPts val="750"/>
              <a:buFont typeface="Meiryo"/>
              <a:buNone/>
            </a:pPr>
            <a:r>
              <a:rPr lang="ja" sz="750">
                <a:solidFill>
                  <a:srgbClr val="434343"/>
                </a:solidFill>
                <a:latin typeface="M PLUS 1p"/>
                <a:ea typeface="M PLUS 1p"/>
                <a:cs typeface="M PLUS 1p"/>
                <a:sym typeface="M PLUS 1p"/>
              </a:rPr>
              <a:t>1点：掲載回数が2回以上</a:t>
            </a:r>
            <a:r>
              <a:rPr lang="ja" sz="750">
                <a:solidFill>
                  <a:srgbClr val="8C8C8C"/>
                </a:solidFill>
                <a:latin typeface="M PLUS 1p"/>
                <a:ea typeface="M PLUS 1p"/>
                <a:cs typeface="M PLUS 1p"/>
                <a:sym typeface="M PLUS 1p"/>
              </a:rPr>
              <a:t>　（シート名：2回目掲載）</a:t>
            </a:r>
            <a:endParaRPr sz="750">
              <a:solidFill>
                <a:schemeClr val="dk1"/>
              </a:solidFill>
              <a:latin typeface="M PLUS 1p"/>
              <a:ea typeface="M PLUS 1p"/>
              <a:cs typeface="M PLUS 1p"/>
              <a:sym typeface="M PLUS 1p"/>
            </a:endParaRPr>
          </a:p>
        </p:txBody>
      </p:sp>
      <p:sp>
        <p:nvSpPr>
          <p:cNvPr id="194" name="Google Shape;194;p23"/>
          <p:cNvSpPr/>
          <p:nvPr/>
        </p:nvSpPr>
        <p:spPr>
          <a:xfrm>
            <a:off x="365760" y="2212848"/>
            <a:ext cx="4114800" cy="493776"/>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195" name="Google Shape;195;p23"/>
          <p:cNvSpPr txBox="1"/>
          <p:nvPr/>
        </p:nvSpPr>
        <p:spPr>
          <a:xfrm>
            <a:off x="475488" y="2258568"/>
            <a:ext cx="32004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100"/>
              <a:buFont typeface="Meiryo"/>
              <a:buNone/>
            </a:pPr>
            <a:r>
              <a:rPr b="1" lang="ja" sz="1100">
                <a:solidFill>
                  <a:srgbClr val="1A1A1A"/>
                </a:solidFill>
                <a:latin typeface="M PLUS 1p"/>
                <a:ea typeface="M PLUS 1p"/>
                <a:cs typeface="M PLUS 1p"/>
                <a:sym typeface="M PLUS 1p"/>
              </a:rPr>
              <a:t>初回の募集作成日から次の作成までの日数</a:t>
            </a:r>
            <a:endParaRPr sz="1100">
              <a:solidFill>
                <a:schemeClr val="dk1"/>
              </a:solidFill>
              <a:latin typeface="M PLUS 1p"/>
              <a:ea typeface="M PLUS 1p"/>
              <a:cs typeface="M PLUS 1p"/>
              <a:sym typeface="M PLUS 1p"/>
            </a:endParaRPr>
          </a:p>
        </p:txBody>
      </p:sp>
      <p:sp>
        <p:nvSpPr>
          <p:cNvPr id="196" name="Google Shape;196;p23"/>
          <p:cNvSpPr txBox="1"/>
          <p:nvPr/>
        </p:nvSpPr>
        <p:spPr>
          <a:xfrm>
            <a:off x="3566160" y="2258568"/>
            <a:ext cx="82296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D7FE8"/>
              </a:buClr>
              <a:buSzPts val="1100"/>
              <a:buFont typeface="Meiryo"/>
              <a:buNone/>
            </a:pPr>
            <a:r>
              <a:rPr b="1" lang="ja" sz="1100">
                <a:solidFill>
                  <a:srgbClr val="1D7FE8"/>
                </a:solidFill>
                <a:latin typeface="M PLUS 1p"/>
                <a:ea typeface="M PLUS 1p"/>
                <a:cs typeface="M PLUS 1p"/>
                <a:sym typeface="M PLUS 1p"/>
              </a:rPr>
              <a:t>＋2〜＋1</a:t>
            </a:r>
            <a:endParaRPr sz="1100">
              <a:solidFill>
                <a:schemeClr val="dk1"/>
              </a:solidFill>
              <a:latin typeface="M PLUS 1p"/>
              <a:ea typeface="M PLUS 1p"/>
              <a:cs typeface="M PLUS 1p"/>
              <a:sym typeface="M PLUS 1p"/>
            </a:endParaRPr>
          </a:p>
        </p:txBody>
      </p:sp>
      <p:sp>
        <p:nvSpPr>
          <p:cNvPr id="197" name="Google Shape;197;p23"/>
          <p:cNvSpPr txBox="1"/>
          <p:nvPr/>
        </p:nvSpPr>
        <p:spPr>
          <a:xfrm>
            <a:off x="475488" y="2478024"/>
            <a:ext cx="39319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34343"/>
              </a:buClr>
              <a:buSzPts val="750"/>
              <a:buFont typeface="Meiryo"/>
              <a:buNone/>
            </a:pPr>
            <a:r>
              <a:rPr lang="ja" sz="750">
                <a:solidFill>
                  <a:srgbClr val="434343"/>
                </a:solidFill>
                <a:latin typeface="M PLUS 1p"/>
                <a:ea typeface="M PLUS 1p"/>
                <a:cs typeface="M PLUS 1p"/>
                <a:sym typeface="M PLUS 1p"/>
              </a:rPr>
              <a:t>2点：間隔が1〜7日以内　1点：8〜14日以内</a:t>
            </a:r>
            <a:r>
              <a:rPr lang="ja" sz="750">
                <a:solidFill>
                  <a:srgbClr val="8C8C8C"/>
                </a:solidFill>
                <a:latin typeface="M PLUS 1p"/>
                <a:ea typeface="M PLUS 1p"/>
                <a:cs typeface="M PLUS 1p"/>
                <a:sym typeface="M PLUS 1p"/>
              </a:rPr>
              <a:t>　（シート名：掲載リズム）</a:t>
            </a:r>
            <a:endParaRPr sz="750">
              <a:solidFill>
                <a:schemeClr val="dk1"/>
              </a:solidFill>
              <a:latin typeface="M PLUS 1p"/>
              <a:ea typeface="M PLUS 1p"/>
              <a:cs typeface="M PLUS 1p"/>
              <a:sym typeface="M PLUS 1p"/>
            </a:endParaRPr>
          </a:p>
        </p:txBody>
      </p:sp>
      <p:sp>
        <p:nvSpPr>
          <p:cNvPr id="198" name="Google Shape;198;p23"/>
          <p:cNvSpPr/>
          <p:nvPr/>
        </p:nvSpPr>
        <p:spPr>
          <a:xfrm>
            <a:off x="365760" y="2761488"/>
            <a:ext cx="4114800" cy="493776"/>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199" name="Google Shape;199;p23"/>
          <p:cNvSpPr txBox="1"/>
          <p:nvPr/>
        </p:nvSpPr>
        <p:spPr>
          <a:xfrm>
            <a:off x="475488" y="2807208"/>
            <a:ext cx="32004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100"/>
              <a:buFont typeface="Meiryo"/>
              <a:buNone/>
            </a:pPr>
            <a:r>
              <a:rPr b="1" lang="ja" sz="1100">
                <a:solidFill>
                  <a:srgbClr val="1A1A1A"/>
                </a:solidFill>
                <a:latin typeface="M PLUS 1p"/>
                <a:ea typeface="M PLUS 1p"/>
                <a:cs typeface="M PLUS 1p"/>
                <a:sym typeface="M PLUS 1p"/>
              </a:rPr>
              <a:t>当月に5回以上掲載しているか</a:t>
            </a:r>
            <a:endParaRPr sz="1100">
              <a:solidFill>
                <a:schemeClr val="dk1"/>
              </a:solidFill>
              <a:latin typeface="M PLUS 1p"/>
              <a:ea typeface="M PLUS 1p"/>
              <a:cs typeface="M PLUS 1p"/>
              <a:sym typeface="M PLUS 1p"/>
            </a:endParaRPr>
          </a:p>
        </p:txBody>
      </p:sp>
      <p:sp>
        <p:nvSpPr>
          <p:cNvPr id="200" name="Google Shape;200;p23"/>
          <p:cNvSpPr txBox="1"/>
          <p:nvPr/>
        </p:nvSpPr>
        <p:spPr>
          <a:xfrm>
            <a:off x="3566160" y="2807208"/>
            <a:ext cx="82296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D7FE8"/>
              </a:buClr>
              <a:buSzPts val="1100"/>
              <a:buFont typeface="Meiryo"/>
              <a:buNone/>
            </a:pPr>
            <a:r>
              <a:rPr b="1" lang="ja" sz="1100">
                <a:solidFill>
                  <a:srgbClr val="1D7FE8"/>
                </a:solidFill>
                <a:latin typeface="M PLUS 1p"/>
                <a:ea typeface="M PLUS 1p"/>
                <a:cs typeface="M PLUS 1p"/>
                <a:sym typeface="M PLUS 1p"/>
              </a:rPr>
              <a:t>＋2</a:t>
            </a:r>
            <a:endParaRPr sz="1100">
              <a:solidFill>
                <a:schemeClr val="dk1"/>
              </a:solidFill>
              <a:latin typeface="M PLUS 1p"/>
              <a:ea typeface="M PLUS 1p"/>
              <a:cs typeface="M PLUS 1p"/>
              <a:sym typeface="M PLUS 1p"/>
            </a:endParaRPr>
          </a:p>
        </p:txBody>
      </p:sp>
      <p:sp>
        <p:nvSpPr>
          <p:cNvPr id="201" name="Google Shape;201;p23"/>
          <p:cNvSpPr txBox="1"/>
          <p:nvPr/>
        </p:nvSpPr>
        <p:spPr>
          <a:xfrm>
            <a:off x="475488" y="3026664"/>
            <a:ext cx="39319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34343"/>
              </a:buClr>
              <a:buSzPts val="750"/>
              <a:buFont typeface="Meiryo"/>
              <a:buNone/>
            </a:pPr>
            <a:r>
              <a:rPr lang="ja" sz="750">
                <a:solidFill>
                  <a:srgbClr val="434343"/>
                </a:solidFill>
                <a:latin typeface="M PLUS 1p"/>
                <a:ea typeface="M PLUS 1p"/>
                <a:cs typeface="M PLUS 1p"/>
                <a:sym typeface="M PLUS 1p"/>
              </a:rPr>
              <a:t>2点：当月の掲載回数が5回以上</a:t>
            </a:r>
            <a:r>
              <a:rPr lang="ja" sz="750">
                <a:solidFill>
                  <a:srgbClr val="8C8C8C"/>
                </a:solidFill>
                <a:latin typeface="M PLUS 1p"/>
                <a:ea typeface="M PLUS 1p"/>
                <a:cs typeface="M PLUS 1p"/>
                <a:sym typeface="M PLUS 1p"/>
              </a:rPr>
              <a:t>　（シート名：当月掲載数）</a:t>
            </a:r>
            <a:endParaRPr sz="750">
              <a:solidFill>
                <a:schemeClr val="dk1"/>
              </a:solidFill>
              <a:latin typeface="M PLUS 1p"/>
              <a:ea typeface="M PLUS 1p"/>
              <a:cs typeface="M PLUS 1p"/>
              <a:sym typeface="M PLUS 1p"/>
            </a:endParaRPr>
          </a:p>
        </p:txBody>
      </p:sp>
      <p:sp>
        <p:nvSpPr>
          <p:cNvPr id="202" name="Google Shape;202;p23"/>
          <p:cNvSpPr/>
          <p:nvPr/>
        </p:nvSpPr>
        <p:spPr>
          <a:xfrm>
            <a:off x="365760" y="3310128"/>
            <a:ext cx="4114800" cy="493776"/>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203" name="Google Shape;203;p23"/>
          <p:cNvSpPr txBox="1"/>
          <p:nvPr/>
        </p:nvSpPr>
        <p:spPr>
          <a:xfrm>
            <a:off x="475488" y="3355848"/>
            <a:ext cx="32004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100"/>
              <a:buFont typeface="Meiryo"/>
              <a:buNone/>
            </a:pPr>
            <a:r>
              <a:rPr b="1" lang="ja" sz="1100">
                <a:solidFill>
                  <a:srgbClr val="1A1A1A"/>
                </a:solidFill>
                <a:latin typeface="M PLUS 1p"/>
                <a:ea typeface="M PLUS 1p"/>
                <a:cs typeface="M PLUS 1p"/>
                <a:sym typeface="M PLUS 1p"/>
              </a:rPr>
              <a:t>翌月ヨミがA・B・Cのどれか</a:t>
            </a:r>
            <a:endParaRPr sz="1100">
              <a:solidFill>
                <a:schemeClr val="dk1"/>
              </a:solidFill>
              <a:latin typeface="M PLUS 1p"/>
              <a:ea typeface="M PLUS 1p"/>
              <a:cs typeface="M PLUS 1p"/>
              <a:sym typeface="M PLUS 1p"/>
            </a:endParaRPr>
          </a:p>
        </p:txBody>
      </p:sp>
      <p:sp>
        <p:nvSpPr>
          <p:cNvPr id="204" name="Google Shape;204;p23"/>
          <p:cNvSpPr txBox="1"/>
          <p:nvPr/>
        </p:nvSpPr>
        <p:spPr>
          <a:xfrm>
            <a:off x="3566160" y="3355848"/>
            <a:ext cx="82296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D7FE8"/>
              </a:buClr>
              <a:buSzPts val="1100"/>
              <a:buFont typeface="Meiryo"/>
              <a:buNone/>
            </a:pPr>
            <a:r>
              <a:rPr b="1" lang="ja" sz="1100">
                <a:solidFill>
                  <a:srgbClr val="1D7FE8"/>
                </a:solidFill>
                <a:latin typeface="M PLUS 1p"/>
                <a:ea typeface="M PLUS 1p"/>
                <a:cs typeface="M PLUS 1p"/>
                <a:sym typeface="M PLUS 1p"/>
              </a:rPr>
              <a:t>＋2〜−1</a:t>
            </a:r>
            <a:endParaRPr sz="1100">
              <a:solidFill>
                <a:schemeClr val="dk1"/>
              </a:solidFill>
              <a:latin typeface="M PLUS 1p"/>
              <a:ea typeface="M PLUS 1p"/>
              <a:cs typeface="M PLUS 1p"/>
              <a:sym typeface="M PLUS 1p"/>
            </a:endParaRPr>
          </a:p>
        </p:txBody>
      </p:sp>
      <p:sp>
        <p:nvSpPr>
          <p:cNvPr id="205" name="Google Shape;205;p23"/>
          <p:cNvSpPr txBox="1"/>
          <p:nvPr/>
        </p:nvSpPr>
        <p:spPr>
          <a:xfrm>
            <a:off x="475488" y="3575304"/>
            <a:ext cx="39319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34343"/>
              </a:buClr>
              <a:buSzPts val="750"/>
              <a:buFont typeface="Meiryo"/>
              <a:buNone/>
            </a:pPr>
            <a:r>
              <a:rPr lang="ja" sz="750">
                <a:solidFill>
                  <a:srgbClr val="434343"/>
                </a:solidFill>
                <a:latin typeface="M PLUS 1p"/>
                <a:ea typeface="M PLUS 1p"/>
                <a:cs typeface="M PLUS 1p"/>
                <a:sym typeface="M PLUS 1p"/>
              </a:rPr>
              <a:t>2点：Aヨミ　1点：Bヨミ　−1点：Cヨミ</a:t>
            </a:r>
            <a:r>
              <a:rPr lang="ja" sz="750">
                <a:solidFill>
                  <a:srgbClr val="8C8C8C"/>
                </a:solidFill>
                <a:latin typeface="M PLUS 1p"/>
                <a:ea typeface="M PLUS 1p"/>
                <a:cs typeface="M PLUS 1p"/>
                <a:sym typeface="M PLUS 1p"/>
              </a:rPr>
              <a:t>　（シート名：翌月ヨミA/B）</a:t>
            </a:r>
            <a:endParaRPr sz="750">
              <a:solidFill>
                <a:schemeClr val="dk1"/>
              </a:solidFill>
              <a:latin typeface="M PLUS 1p"/>
              <a:ea typeface="M PLUS 1p"/>
              <a:cs typeface="M PLUS 1p"/>
              <a:sym typeface="M PLUS 1p"/>
            </a:endParaRPr>
          </a:p>
        </p:txBody>
      </p:sp>
      <p:sp>
        <p:nvSpPr>
          <p:cNvPr id="206" name="Google Shape;206;p23"/>
          <p:cNvSpPr/>
          <p:nvPr/>
        </p:nvSpPr>
        <p:spPr>
          <a:xfrm>
            <a:off x="365760" y="3858768"/>
            <a:ext cx="4114800" cy="493776"/>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207" name="Google Shape;207;p23"/>
          <p:cNvSpPr txBox="1"/>
          <p:nvPr/>
        </p:nvSpPr>
        <p:spPr>
          <a:xfrm>
            <a:off x="475488" y="3904488"/>
            <a:ext cx="32004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100"/>
              <a:buFont typeface="Meiryo"/>
              <a:buNone/>
            </a:pPr>
            <a:r>
              <a:rPr b="1" lang="ja" sz="1100">
                <a:solidFill>
                  <a:srgbClr val="1A1A1A"/>
                </a:solidFill>
                <a:latin typeface="M PLUS 1p"/>
                <a:ea typeface="M PLUS 1p"/>
                <a:cs typeface="M PLUS 1p"/>
                <a:sym typeface="M PLUS 1p"/>
              </a:rPr>
              <a:t>Bad体験が起きているか</a:t>
            </a:r>
            <a:endParaRPr sz="1100">
              <a:solidFill>
                <a:schemeClr val="dk1"/>
              </a:solidFill>
              <a:latin typeface="M PLUS 1p"/>
              <a:ea typeface="M PLUS 1p"/>
              <a:cs typeface="M PLUS 1p"/>
              <a:sym typeface="M PLUS 1p"/>
            </a:endParaRPr>
          </a:p>
        </p:txBody>
      </p:sp>
      <p:sp>
        <p:nvSpPr>
          <p:cNvPr id="208" name="Google Shape;208;p23"/>
          <p:cNvSpPr txBox="1"/>
          <p:nvPr/>
        </p:nvSpPr>
        <p:spPr>
          <a:xfrm>
            <a:off x="3566160" y="3904488"/>
            <a:ext cx="82296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95959"/>
              </a:buClr>
              <a:buSzPts val="1100"/>
              <a:buFont typeface="Meiryo"/>
              <a:buNone/>
            </a:pPr>
            <a:r>
              <a:rPr b="1" lang="ja" sz="1100">
                <a:solidFill>
                  <a:srgbClr val="595959"/>
                </a:solidFill>
                <a:latin typeface="M PLUS 1p"/>
                <a:ea typeface="M PLUS 1p"/>
                <a:cs typeface="M PLUS 1p"/>
                <a:sym typeface="M PLUS 1p"/>
              </a:rPr>
              <a:t>−1</a:t>
            </a:r>
            <a:endParaRPr sz="1100">
              <a:solidFill>
                <a:schemeClr val="dk1"/>
              </a:solidFill>
              <a:latin typeface="M PLUS 1p"/>
              <a:ea typeface="M PLUS 1p"/>
              <a:cs typeface="M PLUS 1p"/>
              <a:sym typeface="M PLUS 1p"/>
            </a:endParaRPr>
          </a:p>
        </p:txBody>
      </p:sp>
      <p:sp>
        <p:nvSpPr>
          <p:cNvPr id="209" name="Google Shape;209;p23"/>
          <p:cNvSpPr txBox="1"/>
          <p:nvPr/>
        </p:nvSpPr>
        <p:spPr>
          <a:xfrm>
            <a:off x="475488" y="4123944"/>
            <a:ext cx="39319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34343"/>
              </a:buClr>
              <a:buSzPts val="750"/>
              <a:buFont typeface="Meiryo"/>
              <a:buNone/>
            </a:pPr>
            <a:r>
              <a:rPr lang="ja" sz="750">
                <a:solidFill>
                  <a:srgbClr val="434343"/>
                </a:solidFill>
                <a:latin typeface="M PLUS 1p"/>
                <a:ea typeface="M PLUS 1p"/>
                <a:cs typeface="M PLUS 1p"/>
                <a:sym typeface="M PLUS 1p"/>
              </a:rPr>
              <a:t>−1点：アクションシートに🚨アラートあり</a:t>
            </a:r>
            <a:r>
              <a:rPr lang="ja" sz="750">
                <a:solidFill>
                  <a:srgbClr val="8C8C8C"/>
                </a:solidFill>
                <a:latin typeface="M PLUS 1p"/>
                <a:ea typeface="M PLUS 1p"/>
                <a:cs typeface="M PLUS 1p"/>
                <a:sym typeface="M PLUS 1p"/>
              </a:rPr>
              <a:t>　（シート名：Bad体験の発生）</a:t>
            </a:r>
            <a:endParaRPr sz="750">
              <a:solidFill>
                <a:schemeClr val="dk1"/>
              </a:solidFill>
              <a:latin typeface="M PLUS 1p"/>
              <a:ea typeface="M PLUS 1p"/>
              <a:cs typeface="M PLUS 1p"/>
              <a:sym typeface="M PLUS 1p"/>
            </a:endParaRPr>
          </a:p>
        </p:txBody>
      </p:sp>
      <p:sp>
        <p:nvSpPr>
          <p:cNvPr id="210" name="Google Shape;210;p23"/>
          <p:cNvSpPr/>
          <p:nvPr/>
        </p:nvSpPr>
        <p:spPr>
          <a:xfrm>
            <a:off x="4663440" y="1298448"/>
            <a:ext cx="4114800" cy="310896"/>
          </a:xfrm>
          <a:prstGeom prst="rect">
            <a:avLst/>
          </a:prstGeom>
          <a:solidFill>
            <a:srgbClr val="1A1A1A"/>
          </a:solidFill>
          <a:ln cap="flat" cmpd="sng" w="12700">
            <a:solidFill>
              <a:srgbClr val="1A1A1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211" name="Google Shape;211;p23"/>
          <p:cNvSpPr txBox="1"/>
          <p:nvPr/>
        </p:nvSpPr>
        <p:spPr>
          <a:xfrm>
            <a:off x="4800600" y="1298448"/>
            <a:ext cx="38404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eiryo"/>
              <a:buNone/>
            </a:pPr>
            <a:r>
              <a:rPr b="1" lang="ja" sz="1200">
                <a:solidFill>
                  <a:srgbClr val="FFFFFF"/>
                </a:solidFill>
                <a:latin typeface="M PLUS 1p"/>
                <a:ea typeface="M PLUS 1p"/>
                <a:cs typeface="M PLUS 1p"/>
                <a:sym typeface="M PLUS 1p"/>
              </a:rPr>
              <a:t>翌月・スコア採点基準（翌月未継続）</a:t>
            </a:r>
            <a:endParaRPr sz="1200">
              <a:solidFill>
                <a:schemeClr val="dk1"/>
              </a:solidFill>
              <a:latin typeface="M PLUS 1p"/>
              <a:ea typeface="M PLUS 1p"/>
              <a:cs typeface="M PLUS 1p"/>
              <a:sym typeface="M PLUS 1p"/>
            </a:endParaRPr>
          </a:p>
        </p:txBody>
      </p:sp>
      <p:sp>
        <p:nvSpPr>
          <p:cNvPr id="212" name="Google Shape;212;p23"/>
          <p:cNvSpPr/>
          <p:nvPr/>
        </p:nvSpPr>
        <p:spPr>
          <a:xfrm>
            <a:off x="4663440" y="1664208"/>
            <a:ext cx="4114800" cy="493776"/>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213" name="Google Shape;213;p23"/>
          <p:cNvSpPr txBox="1"/>
          <p:nvPr/>
        </p:nvSpPr>
        <p:spPr>
          <a:xfrm>
            <a:off x="4773168" y="1709928"/>
            <a:ext cx="32004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100"/>
              <a:buFont typeface="Meiryo"/>
              <a:buNone/>
            </a:pPr>
            <a:r>
              <a:rPr b="1" lang="ja" sz="1100">
                <a:solidFill>
                  <a:srgbClr val="1A1A1A"/>
                </a:solidFill>
                <a:latin typeface="M PLUS 1p"/>
                <a:ea typeface="M PLUS 1p"/>
                <a:cs typeface="M PLUS 1p"/>
                <a:sym typeface="M PLUS 1p"/>
              </a:rPr>
              <a:t>現在のヨミがA・B・Cのどれか</a:t>
            </a:r>
            <a:endParaRPr sz="1100">
              <a:solidFill>
                <a:schemeClr val="dk1"/>
              </a:solidFill>
              <a:latin typeface="M PLUS 1p"/>
              <a:ea typeface="M PLUS 1p"/>
              <a:cs typeface="M PLUS 1p"/>
              <a:sym typeface="M PLUS 1p"/>
            </a:endParaRPr>
          </a:p>
        </p:txBody>
      </p:sp>
      <p:sp>
        <p:nvSpPr>
          <p:cNvPr id="214" name="Google Shape;214;p23"/>
          <p:cNvSpPr txBox="1"/>
          <p:nvPr/>
        </p:nvSpPr>
        <p:spPr>
          <a:xfrm>
            <a:off x="7863840" y="1709928"/>
            <a:ext cx="82296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D7FE8"/>
              </a:buClr>
              <a:buSzPts val="1100"/>
              <a:buFont typeface="Meiryo"/>
              <a:buNone/>
            </a:pPr>
            <a:r>
              <a:rPr b="1" lang="ja" sz="1100">
                <a:solidFill>
                  <a:srgbClr val="1D7FE8"/>
                </a:solidFill>
                <a:latin typeface="M PLUS 1p"/>
                <a:ea typeface="M PLUS 1p"/>
                <a:cs typeface="M PLUS 1p"/>
                <a:sym typeface="M PLUS 1p"/>
              </a:rPr>
              <a:t>＋2〜−1</a:t>
            </a:r>
            <a:endParaRPr sz="1100">
              <a:solidFill>
                <a:schemeClr val="dk1"/>
              </a:solidFill>
              <a:latin typeface="M PLUS 1p"/>
              <a:ea typeface="M PLUS 1p"/>
              <a:cs typeface="M PLUS 1p"/>
              <a:sym typeface="M PLUS 1p"/>
            </a:endParaRPr>
          </a:p>
        </p:txBody>
      </p:sp>
      <p:sp>
        <p:nvSpPr>
          <p:cNvPr id="215" name="Google Shape;215;p23"/>
          <p:cNvSpPr txBox="1"/>
          <p:nvPr/>
        </p:nvSpPr>
        <p:spPr>
          <a:xfrm>
            <a:off x="4773168" y="1929384"/>
            <a:ext cx="39319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34343"/>
              </a:buClr>
              <a:buSzPts val="750"/>
              <a:buFont typeface="Meiryo"/>
              <a:buNone/>
            </a:pPr>
            <a:r>
              <a:rPr lang="ja" sz="750">
                <a:solidFill>
                  <a:srgbClr val="434343"/>
                </a:solidFill>
                <a:latin typeface="M PLUS 1p"/>
                <a:ea typeface="M PLUS 1p"/>
                <a:cs typeface="M PLUS 1p"/>
                <a:sym typeface="M PLUS 1p"/>
              </a:rPr>
              <a:t>2点：Aヨミ　1点：Bヨミ　−1点：Cヨミ</a:t>
            </a:r>
            <a:r>
              <a:rPr lang="ja" sz="750">
                <a:solidFill>
                  <a:srgbClr val="8C8C8C"/>
                </a:solidFill>
                <a:latin typeface="M PLUS 1p"/>
                <a:ea typeface="M PLUS 1p"/>
                <a:cs typeface="M PLUS 1p"/>
                <a:sym typeface="M PLUS 1p"/>
              </a:rPr>
              <a:t>　（シート名：現在ヨミ）</a:t>
            </a:r>
            <a:endParaRPr sz="750">
              <a:solidFill>
                <a:schemeClr val="dk1"/>
              </a:solidFill>
              <a:latin typeface="M PLUS 1p"/>
              <a:ea typeface="M PLUS 1p"/>
              <a:cs typeface="M PLUS 1p"/>
              <a:sym typeface="M PLUS 1p"/>
            </a:endParaRPr>
          </a:p>
        </p:txBody>
      </p:sp>
      <p:sp>
        <p:nvSpPr>
          <p:cNvPr id="216" name="Google Shape;216;p23"/>
          <p:cNvSpPr/>
          <p:nvPr/>
        </p:nvSpPr>
        <p:spPr>
          <a:xfrm>
            <a:off x="4663440" y="2212848"/>
            <a:ext cx="4114800" cy="493776"/>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217" name="Google Shape;217;p23"/>
          <p:cNvSpPr txBox="1"/>
          <p:nvPr/>
        </p:nvSpPr>
        <p:spPr>
          <a:xfrm>
            <a:off x="4773168" y="2258568"/>
            <a:ext cx="32004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100"/>
              <a:buFont typeface="Meiryo"/>
              <a:buNone/>
            </a:pPr>
            <a:r>
              <a:rPr b="1" lang="ja" sz="1100">
                <a:solidFill>
                  <a:srgbClr val="1A1A1A"/>
                </a:solidFill>
                <a:latin typeface="M PLUS 1p"/>
                <a:ea typeface="M PLUS 1p"/>
                <a:cs typeface="M PLUS 1p"/>
                <a:sym typeface="M PLUS 1p"/>
              </a:rPr>
              <a:t>C＋ヨミのまま15日以上接触していないか</a:t>
            </a:r>
            <a:endParaRPr sz="1100">
              <a:solidFill>
                <a:schemeClr val="dk1"/>
              </a:solidFill>
              <a:latin typeface="M PLUS 1p"/>
              <a:ea typeface="M PLUS 1p"/>
              <a:cs typeface="M PLUS 1p"/>
              <a:sym typeface="M PLUS 1p"/>
            </a:endParaRPr>
          </a:p>
        </p:txBody>
      </p:sp>
      <p:sp>
        <p:nvSpPr>
          <p:cNvPr id="218" name="Google Shape;218;p23"/>
          <p:cNvSpPr txBox="1"/>
          <p:nvPr/>
        </p:nvSpPr>
        <p:spPr>
          <a:xfrm>
            <a:off x="7863840" y="2258568"/>
            <a:ext cx="82296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95959"/>
              </a:buClr>
              <a:buSzPts val="1100"/>
              <a:buFont typeface="Meiryo"/>
              <a:buNone/>
            </a:pPr>
            <a:r>
              <a:rPr b="1" lang="ja" sz="1100">
                <a:solidFill>
                  <a:srgbClr val="595959"/>
                </a:solidFill>
                <a:latin typeface="M PLUS 1p"/>
                <a:ea typeface="M PLUS 1p"/>
                <a:cs typeface="M PLUS 1p"/>
                <a:sym typeface="M PLUS 1p"/>
              </a:rPr>
              <a:t>−1</a:t>
            </a:r>
            <a:endParaRPr sz="1100">
              <a:solidFill>
                <a:schemeClr val="dk1"/>
              </a:solidFill>
              <a:latin typeface="M PLUS 1p"/>
              <a:ea typeface="M PLUS 1p"/>
              <a:cs typeface="M PLUS 1p"/>
              <a:sym typeface="M PLUS 1p"/>
            </a:endParaRPr>
          </a:p>
        </p:txBody>
      </p:sp>
      <p:sp>
        <p:nvSpPr>
          <p:cNvPr id="219" name="Google Shape;219;p23"/>
          <p:cNvSpPr txBox="1"/>
          <p:nvPr/>
        </p:nvSpPr>
        <p:spPr>
          <a:xfrm>
            <a:off x="4773168" y="2478024"/>
            <a:ext cx="39319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34343"/>
              </a:buClr>
              <a:buSzPts val="750"/>
              <a:buFont typeface="Meiryo"/>
              <a:buNone/>
            </a:pPr>
            <a:r>
              <a:rPr lang="ja" sz="750">
                <a:solidFill>
                  <a:srgbClr val="434343"/>
                </a:solidFill>
                <a:latin typeface="M PLUS 1p"/>
                <a:ea typeface="M PLUS 1p"/>
                <a:cs typeface="M PLUS 1p"/>
                <a:sym typeface="M PLUS 1p"/>
              </a:rPr>
              <a:t>−1点：C＋かつ最終接触日が未入力 or 15日以上経過</a:t>
            </a:r>
            <a:r>
              <a:rPr lang="ja" sz="750">
                <a:solidFill>
                  <a:srgbClr val="8C8C8C"/>
                </a:solidFill>
                <a:latin typeface="M PLUS 1p"/>
                <a:ea typeface="M PLUS 1p"/>
                <a:cs typeface="M PLUS 1p"/>
                <a:sym typeface="M PLUS 1p"/>
              </a:rPr>
              <a:t>　（シート名：C＋滞留日数）</a:t>
            </a:r>
            <a:endParaRPr sz="750">
              <a:solidFill>
                <a:schemeClr val="dk1"/>
              </a:solidFill>
              <a:latin typeface="M PLUS 1p"/>
              <a:ea typeface="M PLUS 1p"/>
              <a:cs typeface="M PLUS 1p"/>
              <a:sym typeface="M PLUS 1p"/>
            </a:endParaRPr>
          </a:p>
        </p:txBody>
      </p:sp>
      <p:sp>
        <p:nvSpPr>
          <p:cNvPr id="220" name="Google Shape;220;p23"/>
          <p:cNvSpPr/>
          <p:nvPr/>
        </p:nvSpPr>
        <p:spPr>
          <a:xfrm>
            <a:off x="4663440" y="2761488"/>
            <a:ext cx="4114800" cy="493776"/>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221" name="Google Shape;221;p23"/>
          <p:cNvSpPr txBox="1"/>
          <p:nvPr/>
        </p:nvSpPr>
        <p:spPr>
          <a:xfrm>
            <a:off x="4773168" y="2807208"/>
            <a:ext cx="32004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100"/>
              <a:buFont typeface="Meiryo"/>
              <a:buNone/>
            </a:pPr>
            <a:r>
              <a:rPr b="1" lang="ja" sz="1100">
                <a:solidFill>
                  <a:srgbClr val="1A1A1A"/>
                </a:solidFill>
                <a:latin typeface="M PLUS 1p"/>
                <a:ea typeface="M PLUS 1p"/>
                <a:cs typeface="M PLUS 1p"/>
                <a:sym typeface="M PLUS 1p"/>
              </a:rPr>
              <a:t>前月の初回掲載から日数が経っているか</a:t>
            </a:r>
            <a:endParaRPr sz="1100">
              <a:solidFill>
                <a:schemeClr val="dk1"/>
              </a:solidFill>
              <a:latin typeface="M PLUS 1p"/>
              <a:ea typeface="M PLUS 1p"/>
              <a:cs typeface="M PLUS 1p"/>
              <a:sym typeface="M PLUS 1p"/>
            </a:endParaRPr>
          </a:p>
        </p:txBody>
      </p:sp>
      <p:sp>
        <p:nvSpPr>
          <p:cNvPr id="222" name="Google Shape;222;p23"/>
          <p:cNvSpPr txBox="1"/>
          <p:nvPr/>
        </p:nvSpPr>
        <p:spPr>
          <a:xfrm>
            <a:off x="7863840" y="2807208"/>
            <a:ext cx="82296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95959"/>
              </a:buClr>
              <a:buSzPts val="1100"/>
              <a:buFont typeface="Meiryo"/>
              <a:buNone/>
            </a:pPr>
            <a:r>
              <a:rPr b="1" lang="ja" sz="1100">
                <a:solidFill>
                  <a:srgbClr val="595959"/>
                </a:solidFill>
                <a:latin typeface="M PLUS 1p"/>
                <a:ea typeface="M PLUS 1p"/>
                <a:cs typeface="M PLUS 1p"/>
                <a:sym typeface="M PLUS 1p"/>
              </a:rPr>
              <a:t>−2〜0</a:t>
            </a:r>
            <a:endParaRPr sz="1100">
              <a:solidFill>
                <a:schemeClr val="dk1"/>
              </a:solidFill>
              <a:latin typeface="M PLUS 1p"/>
              <a:ea typeface="M PLUS 1p"/>
              <a:cs typeface="M PLUS 1p"/>
              <a:sym typeface="M PLUS 1p"/>
            </a:endParaRPr>
          </a:p>
        </p:txBody>
      </p:sp>
      <p:sp>
        <p:nvSpPr>
          <p:cNvPr id="223" name="Google Shape;223;p23"/>
          <p:cNvSpPr txBox="1"/>
          <p:nvPr/>
        </p:nvSpPr>
        <p:spPr>
          <a:xfrm>
            <a:off x="4773168" y="3026664"/>
            <a:ext cx="39319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34343"/>
              </a:buClr>
              <a:buSzPts val="750"/>
              <a:buFont typeface="Meiryo"/>
              <a:buNone/>
            </a:pPr>
            <a:r>
              <a:rPr lang="ja" sz="750">
                <a:solidFill>
                  <a:srgbClr val="434343"/>
                </a:solidFill>
                <a:latin typeface="M PLUS 1p"/>
                <a:ea typeface="M PLUS 1p"/>
                <a:cs typeface="M PLUS 1p"/>
                <a:sym typeface="M PLUS 1p"/>
              </a:rPr>
              <a:t>−2点：前月1〜10日　−1点：11〜20日　0点：21日以降</a:t>
            </a:r>
            <a:r>
              <a:rPr lang="ja" sz="750">
                <a:solidFill>
                  <a:srgbClr val="8C8C8C"/>
                </a:solidFill>
                <a:latin typeface="M PLUS 1p"/>
                <a:ea typeface="M PLUS 1p"/>
                <a:cs typeface="M PLUS 1p"/>
                <a:sym typeface="M PLUS 1p"/>
              </a:rPr>
              <a:t>　（シート名：前月初回掲載タイミング）</a:t>
            </a:r>
            <a:endParaRPr sz="750">
              <a:solidFill>
                <a:schemeClr val="dk1"/>
              </a:solidFill>
              <a:latin typeface="M PLUS 1p"/>
              <a:ea typeface="M PLUS 1p"/>
              <a:cs typeface="M PLUS 1p"/>
              <a:sym typeface="M PLUS 1p"/>
            </a:endParaRPr>
          </a:p>
        </p:txBody>
      </p:sp>
      <p:sp>
        <p:nvSpPr>
          <p:cNvPr id="224" name="Google Shape;224;p23"/>
          <p:cNvSpPr/>
          <p:nvPr/>
        </p:nvSpPr>
        <p:spPr>
          <a:xfrm>
            <a:off x="4663440" y="3310128"/>
            <a:ext cx="4114800" cy="493776"/>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225" name="Google Shape;225;p23"/>
          <p:cNvSpPr txBox="1"/>
          <p:nvPr/>
        </p:nvSpPr>
        <p:spPr>
          <a:xfrm>
            <a:off x="4773168" y="3355848"/>
            <a:ext cx="32004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100"/>
              <a:buFont typeface="Meiryo"/>
              <a:buNone/>
            </a:pPr>
            <a:r>
              <a:rPr b="1" lang="ja" sz="1100">
                <a:solidFill>
                  <a:srgbClr val="1A1A1A"/>
                </a:solidFill>
                <a:latin typeface="M PLUS 1p"/>
                <a:ea typeface="M PLUS 1p"/>
                <a:cs typeface="M PLUS 1p"/>
                <a:sym typeface="M PLUS 1p"/>
              </a:rPr>
              <a:t>前月に5回以上掲載しているか</a:t>
            </a:r>
            <a:endParaRPr sz="1100">
              <a:solidFill>
                <a:schemeClr val="dk1"/>
              </a:solidFill>
              <a:latin typeface="M PLUS 1p"/>
              <a:ea typeface="M PLUS 1p"/>
              <a:cs typeface="M PLUS 1p"/>
              <a:sym typeface="M PLUS 1p"/>
            </a:endParaRPr>
          </a:p>
        </p:txBody>
      </p:sp>
      <p:sp>
        <p:nvSpPr>
          <p:cNvPr id="226" name="Google Shape;226;p23"/>
          <p:cNvSpPr txBox="1"/>
          <p:nvPr/>
        </p:nvSpPr>
        <p:spPr>
          <a:xfrm>
            <a:off x="7863840" y="3355848"/>
            <a:ext cx="82296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D7FE8"/>
              </a:buClr>
              <a:buSzPts val="1100"/>
              <a:buFont typeface="Meiryo"/>
              <a:buNone/>
            </a:pPr>
            <a:r>
              <a:rPr b="1" lang="ja" sz="1100">
                <a:solidFill>
                  <a:srgbClr val="1D7FE8"/>
                </a:solidFill>
                <a:latin typeface="M PLUS 1p"/>
                <a:ea typeface="M PLUS 1p"/>
                <a:cs typeface="M PLUS 1p"/>
                <a:sym typeface="M PLUS 1p"/>
              </a:rPr>
              <a:t>＋1</a:t>
            </a:r>
            <a:endParaRPr sz="1100">
              <a:solidFill>
                <a:schemeClr val="dk1"/>
              </a:solidFill>
              <a:latin typeface="M PLUS 1p"/>
              <a:ea typeface="M PLUS 1p"/>
              <a:cs typeface="M PLUS 1p"/>
              <a:sym typeface="M PLUS 1p"/>
            </a:endParaRPr>
          </a:p>
        </p:txBody>
      </p:sp>
      <p:sp>
        <p:nvSpPr>
          <p:cNvPr id="227" name="Google Shape;227;p23"/>
          <p:cNvSpPr txBox="1"/>
          <p:nvPr/>
        </p:nvSpPr>
        <p:spPr>
          <a:xfrm>
            <a:off x="4773168" y="3575304"/>
            <a:ext cx="39319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34343"/>
              </a:buClr>
              <a:buSzPts val="750"/>
              <a:buFont typeface="Meiryo"/>
              <a:buNone/>
            </a:pPr>
            <a:r>
              <a:rPr lang="ja" sz="750">
                <a:solidFill>
                  <a:srgbClr val="434343"/>
                </a:solidFill>
                <a:latin typeface="M PLUS 1p"/>
                <a:ea typeface="M PLUS 1p"/>
                <a:cs typeface="M PLUS 1p"/>
                <a:sym typeface="M PLUS 1p"/>
              </a:rPr>
              <a:t>1点：前月の掲載回数が5回以上</a:t>
            </a:r>
            <a:r>
              <a:rPr lang="ja" sz="750">
                <a:solidFill>
                  <a:srgbClr val="8C8C8C"/>
                </a:solidFill>
                <a:latin typeface="M PLUS 1p"/>
                <a:ea typeface="M PLUS 1p"/>
                <a:cs typeface="M PLUS 1p"/>
                <a:sym typeface="M PLUS 1p"/>
              </a:rPr>
              <a:t>　（シート名：当月5回目掲載）</a:t>
            </a:r>
            <a:endParaRPr sz="750">
              <a:solidFill>
                <a:schemeClr val="dk1"/>
              </a:solidFill>
              <a:latin typeface="M PLUS 1p"/>
              <a:ea typeface="M PLUS 1p"/>
              <a:cs typeface="M PLUS 1p"/>
              <a:sym typeface="M PLUS 1p"/>
            </a:endParaRPr>
          </a:p>
        </p:txBody>
      </p:sp>
      <p:sp>
        <p:nvSpPr>
          <p:cNvPr id="228" name="Google Shape;228;p23"/>
          <p:cNvSpPr/>
          <p:nvPr/>
        </p:nvSpPr>
        <p:spPr>
          <a:xfrm>
            <a:off x="4663440" y="3858768"/>
            <a:ext cx="4114800" cy="493776"/>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229" name="Google Shape;229;p23"/>
          <p:cNvSpPr txBox="1"/>
          <p:nvPr/>
        </p:nvSpPr>
        <p:spPr>
          <a:xfrm>
            <a:off x="4773168" y="3904488"/>
            <a:ext cx="320040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100"/>
              <a:buFont typeface="Meiryo"/>
              <a:buNone/>
            </a:pPr>
            <a:r>
              <a:rPr b="1" lang="ja" sz="1100">
                <a:solidFill>
                  <a:srgbClr val="1A1A1A"/>
                </a:solidFill>
                <a:latin typeface="M PLUS 1p"/>
                <a:ea typeface="M PLUS 1p"/>
                <a:cs typeface="M PLUS 1p"/>
                <a:sym typeface="M PLUS 1p"/>
              </a:rPr>
              <a:t>Bad体験が起きているか</a:t>
            </a:r>
            <a:endParaRPr sz="1100">
              <a:solidFill>
                <a:schemeClr val="dk1"/>
              </a:solidFill>
              <a:latin typeface="M PLUS 1p"/>
              <a:ea typeface="M PLUS 1p"/>
              <a:cs typeface="M PLUS 1p"/>
              <a:sym typeface="M PLUS 1p"/>
            </a:endParaRPr>
          </a:p>
        </p:txBody>
      </p:sp>
      <p:sp>
        <p:nvSpPr>
          <p:cNvPr id="230" name="Google Shape;230;p23"/>
          <p:cNvSpPr txBox="1"/>
          <p:nvPr/>
        </p:nvSpPr>
        <p:spPr>
          <a:xfrm>
            <a:off x="7863840" y="3904488"/>
            <a:ext cx="822960" cy="201168"/>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95959"/>
              </a:buClr>
              <a:buSzPts val="1100"/>
              <a:buFont typeface="Meiryo"/>
              <a:buNone/>
            </a:pPr>
            <a:r>
              <a:rPr b="1" lang="ja" sz="1100">
                <a:solidFill>
                  <a:srgbClr val="595959"/>
                </a:solidFill>
                <a:latin typeface="M PLUS 1p"/>
                <a:ea typeface="M PLUS 1p"/>
                <a:cs typeface="M PLUS 1p"/>
                <a:sym typeface="M PLUS 1p"/>
              </a:rPr>
              <a:t>−1</a:t>
            </a:r>
            <a:endParaRPr sz="1100">
              <a:solidFill>
                <a:schemeClr val="dk1"/>
              </a:solidFill>
              <a:latin typeface="M PLUS 1p"/>
              <a:ea typeface="M PLUS 1p"/>
              <a:cs typeface="M PLUS 1p"/>
              <a:sym typeface="M PLUS 1p"/>
            </a:endParaRPr>
          </a:p>
        </p:txBody>
      </p:sp>
      <p:sp>
        <p:nvSpPr>
          <p:cNvPr id="231" name="Google Shape;231;p23"/>
          <p:cNvSpPr txBox="1"/>
          <p:nvPr/>
        </p:nvSpPr>
        <p:spPr>
          <a:xfrm>
            <a:off x="4773168" y="4123944"/>
            <a:ext cx="3931920" cy="2011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34343"/>
              </a:buClr>
              <a:buSzPts val="750"/>
              <a:buFont typeface="Meiryo"/>
              <a:buNone/>
            </a:pPr>
            <a:r>
              <a:rPr lang="ja" sz="750">
                <a:solidFill>
                  <a:srgbClr val="434343"/>
                </a:solidFill>
                <a:latin typeface="M PLUS 1p"/>
                <a:ea typeface="M PLUS 1p"/>
                <a:cs typeface="M PLUS 1p"/>
                <a:sym typeface="M PLUS 1p"/>
              </a:rPr>
              <a:t>−1点：アクションシートに🚨アラートあり</a:t>
            </a:r>
            <a:r>
              <a:rPr lang="ja" sz="750">
                <a:solidFill>
                  <a:srgbClr val="8C8C8C"/>
                </a:solidFill>
                <a:latin typeface="M PLUS 1p"/>
                <a:ea typeface="M PLUS 1p"/>
                <a:cs typeface="M PLUS 1p"/>
                <a:sym typeface="M PLUS 1p"/>
              </a:rPr>
              <a:t>　（シート名：Bad体験の発生）</a:t>
            </a:r>
            <a:endParaRPr sz="750">
              <a:solidFill>
                <a:schemeClr val="dk1"/>
              </a:solidFill>
              <a:latin typeface="M PLUS 1p"/>
              <a:ea typeface="M PLUS 1p"/>
              <a:cs typeface="M PLUS 1p"/>
              <a:sym typeface="M PLUS 1p"/>
            </a:endParaRPr>
          </a:p>
        </p:txBody>
      </p:sp>
      <p:sp>
        <p:nvSpPr>
          <p:cNvPr id="232" name="Google Shape;232;p23"/>
          <p:cNvSpPr txBox="1"/>
          <p:nvPr/>
        </p:nvSpPr>
        <p:spPr>
          <a:xfrm>
            <a:off x="365760" y="4480560"/>
            <a:ext cx="84124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5959"/>
              </a:buClr>
              <a:buSzPts val="850"/>
              <a:buFont typeface="Meiryo"/>
              <a:buNone/>
            </a:pPr>
            <a:r>
              <a:rPr lang="ja" sz="850">
                <a:solidFill>
                  <a:srgbClr val="595959"/>
                </a:solidFill>
                <a:latin typeface="M PLUS 1p"/>
                <a:ea typeface="M PLUS 1p"/>
                <a:cs typeface="M PLUS 1p"/>
                <a:sym typeface="M PLUS 1p"/>
              </a:rPr>
              <a:t>「掲載間隔」は初回募集作成日時から最新の募集作成日時までのギャップで判定。採点は週次で更新し、</a:t>
            </a:r>
            <a:endParaRPr sz="850">
              <a:solidFill>
                <a:srgbClr val="595959"/>
              </a:solidFill>
              <a:latin typeface="M PLUS 1p"/>
              <a:ea typeface="M PLUS 1p"/>
              <a:cs typeface="M PLUS 1p"/>
              <a:sym typeface="M PLUS 1p"/>
            </a:endParaRPr>
          </a:p>
          <a:p>
            <a:pPr indent="0" lvl="0" marL="0" marR="0" rtl="0" algn="l">
              <a:spcBef>
                <a:spcPts val="0"/>
              </a:spcBef>
              <a:spcAft>
                <a:spcPts val="0"/>
              </a:spcAft>
              <a:buClr>
                <a:srgbClr val="595959"/>
              </a:buClr>
              <a:buSzPts val="850"/>
              <a:buFont typeface="Meiryo"/>
              <a:buNone/>
            </a:pPr>
            <a:r>
              <a:rPr lang="ja" sz="850">
                <a:solidFill>
                  <a:srgbClr val="595959"/>
                </a:solidFill>
                <a:latin typeface="M PLUS 1p"/>
                <a:ea typeface="M PLUS 1p"/>
                <a:cs typeface="M PLUS 1p"/>
                <a:sym typeface="M PLUS 1p"/>
              </a:rPr>
              <a:t>Bad体験はアクションシートのアラート（🚨）で判定する。「シート名」は採点スプレッドシート上の項目名。</a:t>
            </a:r>
            <a:endParaRPr sz="850">
              <a:solidFill>
                <a:schemeClr val="dk1"/>
              </a:solidFill>
              <a:latin typeface="M PLUS 1p"/>
              <a:ea typeface="M PLUS 1p"/>
              <a:cs typeface="M PLUS 1p"/>
              <a:sym typeface="M PLUS 1p"/>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 name="Shape 237"/>
        <p:cNvGrpSpPr/>
        <p:nvPr/>
      </p:nvGrpSpPr>
      <p:grpSpPr>
        <a:xfrm>
          <a:off x="0" y="0"/>
          <a:ext cx="0" cy="0"/>
          <a:chOff x="0" y="0"/>
          <a:chExt cx="0" cy="0"/>
        </a:xfrm>
      </p:grpSpPr>
      <p:sp>
        <p:nvSpPr>
          <p:cNvPr id="238" name="Google Shape;238;p24"/>
          <p:cNvSpPr txBox="1"/>
          <p:nvPr/>
        </p:nvSpPr>
        <p:spPr>
          <a:xfrm>
            <a:off x="365760" y="182880"/>
            <a:ext cx="75895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Meiryo"/>
              <a:buNone/>
            </a:pPr>
            <a:r>
              <a:rPr b="1" lang="ja" sz="2000">
                <a:solidFill>
                  <a:srgbClr val="1A1A1A"/>
                </a:solidFill>
                <a:latin typeface="M PLUS 1p"/>
                <a:ea typeface="M PLUS 1p"/>
                <a:cs typeface="M PLUS 1p"/>
                <a:sym typeface="M PLUS 1p"/>
              </a:rPr>
              <a:t>項目の選定根拠①〜③　継続率の差が大きい掲載行動を選ぶ</a:t>
            </a:r>
            <a:endParaRPr sz="2000">
              <a:solidFill>
                <a:schemeClr val="dk1"/>
              </a:solidFill>
              <a:latin typeface="M PLUS 1p"/>
              <a:ea typeface="M PLUS 1p"/>
              <a:cs typeface="M PLUS 1p"/>
              <a:sym typeface="M PLUS 1p"/>
            </a:endParaRPr>
          </a:p>
        </p:txBody>
      </p:sp>
      <p:sp>
        <p:nvSpPr>
          <p:cNvPr id="239" name="Google Shape;239;p24"/>
          <p:cNvSpPr txBox="1"/>
          <p:nvPr/>
        </p:nvSpPr>
        <p:spPr>
          <a:xfrm>
            <a:off x="8046720" y="164592"/>
            <a:ext cx="7315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A1A1A"/>
              </a:buClr>
              <a:buSzPts val="1400"/>
              <a:buFont typeface="Meiryo"/>
              <a:buNone/>
            </a:pPr>
            <a:r>
              <a:rPr b="1" lang="ja" sz="1400">
                <a:solidFill>
                  <a:srgbClr val="1A1A1A"/>
                </a:solidFill>
                <a:latin typeface="Meiryo"/>
                <a:ea typeface="Meiryo"/>
                <a:cs typeface="Meiryo"/>
                <a:sym typeface="Meiryo"/>
              </a:rPr>
              <a:t>Timee</a:t>
            </a:r>
            <a:endParaRPr sz="1400">
              <a:solidFill>
                <a:schemeClr val="dk1"/>
              </a:solidFill>
              <a:latin typeface="Calibri"/>
              <a:ea typeface="Calibri"/>
              <a:cs typeface="Calibri"/>
              <a:sym typeface="Calibri"/>
            </a:endParaRPr>
          </a:p>
        </p:txBody>
      </p:sp>
      <p:sp>
        <p:nvSpPr>
          <p:cNvPr id="240" name="Google Shape;240;p24"/>
          <p:cNvSpPr/>
          <p:nvPr/>
        </p:nvSpPr>
        <p:spPr>
          <a:xfrm>
            <a:off x="365760" y="658368"/>
            <a:ext cx="8412480" cy="457200"/>
          </a:xfrm>
          <a:prstGeom prst="rect">
            <a:avLst/>
          </a:prstGeom>
          <a:solidFill>
            <a:srgbClr val="FFF6D9"/>
          </a:solidFill>
          <a:ln cap="flat" cmpd="sng" w="12700">
            <a:solidFill>
              <a:srgbClr val="FFF6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241" name="Google Shape;241;p24"/>
          <p:cNvSpPr txBox="1"/>
          <p:nvPr/>
        </p:nvSpPr>
        <p:spPr>
          <a:xfrm>
            <a:off x="502920" y="658368"/>
            <a:ext cx="8138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50"/>
              <a:buFont typeface="Meiryo"/>
              <a:buNone/>
            </a:pPr>
            <a:r>
              <a:rPr lang="ja" sz="1150">
                <a:solidFill>
                  <a:srgbClr val="1A1A1A"/>
                </a:solidFill>
                <a:latin typeface="M PLUS 1p"/>
                <a:ea typeface="M PLUS 1p"/>
                <a:cs typeface="M PLUS 1p"/>
                <a:sym typeface="M PLUS 1p"/>
              </a:rPr>
              <a:t>その行動があるときとないときで翌月継続率がどれだけ違うか。</a:t>
            </a:r>
            <a:r>
              <a:rPr b="1" lang="ja" sz="1150">
                <a:solidFill>
                  <a:srgbClr val="1D7FE8"/>
                </a:solidFill>
                <a:latin typeface="M PLUS 1p"/>
                <a:ea typeface="M PLUS 1p"/>
                <a:cs typeface="M PLUS 1p"/>
                <a:sym typeface="M PLUS 1p"/>
              </a:rPr>
              <a:t>差が大きく複数の月で再現した行動に重い点をつけている</a:t>
            </a:r>
            <a:endParaRPr sz="1150">
              <a:solidFill>
                <a:schemeClr val="dk1"/>
              </a:solidFill>
              <a:latin typeface="M PLUS 1p"/>
              <a:ea typeface="M PLUS 1p"/>
              <a:cs typeface="M PLUS 1p"/>
              <a:sym typeface="M PLUS 1p"/>
            </a:endParaRPr>
          </a:p>
        </p:txBody>
      </p:sp>
      <p:sp>
        <p:nvSpPr>
          <p:cNvPr id="242" name="Google Shape;242;p24"/>
          <p:cNvSpPr txBox="1"/>
          <p:nvPr/>
        </p:nvSpPr>
        <p:spPr>
          <a:xfrm>
            <a:off x="5852160" y="4846320"/>
            <a:ext cx="2926080"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8C8C8C"/>
              </a:buClr>
              <a:buSzPts val="700"/>
              <a:buFont typeface="Meiryo"/>
              <a:buNone/>
            </a:pPr>
            <a:r>
              <a:rPr lang="ja" sz="700">
                <a:solidFill>
                  <a:srgbClr val="8C8C8C"/>
                </a:solidFill>
                <a:latin typeface="Meiryo"/>
                <a:ea typeface="Meiryo"/>
                <a:cs typeface="Meiryo"/>
                <a:sym typeface="Meiryo"/>
              </a:rPr>
              <a:t>Copyright © Timee All Rights Reserved</a:t>
            </a:r>
            <a:endParaRPr sz="700">
              <a:solidFill>
                <a:schemeClr val="dk1"/>
              </a:solidFill>
              <a:latin typeface="Calibri"/>
              <a:ea typeface="Calibri"/>
              <a:cs typeface="Calibri"/>
              <a:sym typeface="Calibri"/>
            </a:endParaRPr>
          </a:p>
        </p:txBody>
      </p:sp>
      <p:sp>
        <p:nvSpPr>
          <p:cNvPr id="243" name="Google Shape;243;p24"/>
          <p:cNvSpPr txBox="1"/>
          <p:nvPr/>
        </p:nvSpPr>
        <p:spPr>
          <a:xfrm>
            <a:off x="365760" y="1280160"/>
            <a:ext cx="2679192"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200"/>
              <a:buFont typeface="Meiryo"/>
              <a:buNone/>
            </a:pPr>
            <a:r>
              <a:rPr b="1" lang="ja" sz="1200">
                <a:solidFill>
                  <a:srgbClr val="1A1A1A"/>
                </a:solidFill>
                <a:latin typeface="M PLUS 1p"/>
                <a:ea typeface="M PLUS 1p"/>
                <a:cs typeface="M PLUS 1p"/>
                <a:sym typeface="M PLUS 1p"/>
              </a:rPr>
              <a:t>① 2</a:t>
            </a:r>
            <a:r>
              <a:rPr b="1" lang="ja" sz="1200">
                <a:solidFill>
                  <a:srgbClr val="1A1A1A"/>
                </a:solidFill>
                <a:latin typeface="M PLUS 1p"/>
                <a:ea typeface="M PLUS 1p"/>
                <a:cs typeface="M PLUS 1p"/>
                <a:sym typeface="M PLUS 1p"/>
              </a:rPr>
              <a:t>日</a:t>
            </a:r>
            <a:r>
              <a:rPr b="1" lang="ja" sz="1200">
                <a:solidFill>
                  <a:srgbClr val="1A1A1A"/>
                </a:solidFill>
                <a:latin typeface="M PLUS 1p"/>
                <a:ea typeface="M PLUS 1p"/>
                <a:cs typeface="M PLUS 1p"/>
                <a:sym typeface="M PLUS 1p"/>
              </a:rPr>
              <a:t>以上掲載しているか</a:t>
            </a:r>
            <a:endParaRPr sz="1200">
              <a:solidFill>
                <a:schemeClr val="dk1"/>
              </a:solidFill>
              <a:latin typeface="M PLUS 1p"/>
              <a:ea typeface="M PLUS 1p"/>
              <a:cs typeface="M PLUS 1p"/>
              <a:sym typeface="M PLUS 1p"/>
            </a:endParaRPr>
          </a:p>
        </p:txBody>
      </p:sp>
      <p:sp>
        <p:nvSpPr>
          <p:cNvPr id="244" name="Google Shape;244;p24"/>
          <p:cNvSpPr txBox="1"/>
          <p:nvPr/>
        </p:nvSpPr>
        <p:spPr>
          <a:xfrm>
            <a:off x="365760" y="1536192"/>
            <a:ext cx="2679192"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8C8C"/>
              </a:buClr>
              <a:buSzPts val="850"/>
              <a:buFont typeface="Meiryo"/>
              <a:buNone/>
            </a:pPr>
            <a:r>
              <a:rPr lang="ja" sz="850">
                <a:solidFill>
                  <a:srgbClr val="8C8C8C"/>
                </a:solidFill>
                <a:latin typeface="M PLUS 1p"/>
                <a:ea typeface="M PLUS 1p"/>
                <a:cs typeface="M PLUS 1p"/>
                <a:sym typeface="M PLUS 1p"/>
              </a:rPr>
              <a:t>翌月継続率（%）</a:t>
            </a:r>
            <a:endParaRPr sz="850">
              <a:solidFill>
                <a:schemeClr val="dk1"/>
              </a:solidFill>
              <a:latin typeface="M PLUS 1p"/>
              <a:ea typeface="M PLUS 1p"/>
              <a:cs typeface="M PLUS 1p"/>
              <a:sym typeface="M PLUS 1p"/>
            </a:endParaRPr>
          </a:p>
        </p:txBody>
      </p:sp>
      <p:pic>
        <p:nvPicPr>
          <p:cNvPr id="245" name="Google Shape;245;p24"/>
          <p:cNvPicPr preferRelativeResize="0"/>
          <p:nvPr/>
        </p:nvPicPr>
        <p:blipFill rotWithShape="1">
          <a:blip r:embed="rId3">
            <a:alphaModFix/>
          </a:blip>
          <a:srcRect b="0" l="0" r="0" t="0"/>
          <a:stretch/>
        </p:blipFill>
        <p:spPr>
          <a:xfrm>
            <a:off x="274320" y="1691640"/>
            <a:ext cx="2862072" cy="2240280"/>
          </a:xfrm>
          <a:prstGeom prst="rect">
            <a:avLst/>
          </a:prstGeom>
          <a:noFill/>
          <a:ln>
            <a:noFill/>
          </a:ln>
        </p:spPr>
      </p:pic>
      <p:sp>
        <p:nvSpPr>
          <p:cNvPr id="246" name="Google Shape;246;p24"/>
          <p:cNvSpPr/>
          <p:nvPr/>
        </p:nvSpPr>
        <p:spPr>
          <a:xfrm>
            <a:off x="365760" y="4005072"/>
            <a:ext cx="2679192" cy="329184"/>
          </a:xfrm>
          <a:prstGeom prst="rect">
            <a:avLst/>
          </a:prstGeom>
          <a:solidFill>
            <a:srgbClr val="FFF6D9"/>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247" name="Google Shape;247;p24"/>
          <p:cNvSpPr txBox="1"/>
          <p:nvPr/>
        </p:nvSpPr>
        <p:spPr>
          <a:xfrm>
            <a:off x="365760" y="4005072"/>
            <a:ext cx="2679192"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Meiryo"/>
              <a:buNone/>
            </a:pPr>
            <a:r>
              <a:rPr b="1" lang="ja" sz="1100">
                <a:solidFill>
                  <a:srgbClr val="1A1A1A"/>
                </a:solidFill>
                <a:latin typeface="M PLUS 1p"/>
                <a:ea typeface="M PLUS 1p"/>
                <a:cs typeface="M PLUS 1p"/>
                <a:sym typeface="M PLUS 1p"/>
              </a:rPr>
              <a:t>差 63.8pt</a:t>
            </a:r>
            <a:endParaRPr sz="1100">
              <a:solidFill>
                <a:schemeClr val="dk1"/>
              </a:solidFill>
              <a:latin typeface="M PLUS 1p"/>
              <a:ea typeface="M PLUS 1p"/>
              <a:cs typeface="M PLUS 1p"/>
              <a:sym typeface="M PLUS 1p"/>
            </a:endParaRPr>
          </a:p>
        </p:txBody>
      </p:sp>
      <p:sp>
        <p:nvSpPr>
          <p:cNvPr id="248" name="Google Shape;248;p24"/>
          <p:cNvSpPr txBox="1"/>
          <p:nvPr/>
        </p:nvSpPr>
        <p:spPr>
          <a:xfrm>
            <a:off x="3136399" y="1275513"/>
            <a:ext cx="3198600" cy="256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200"/>
              <a:buFont typeface="Meiryo"/>
              <a:buNone/>
            </a:pPr>
            <a:r>
              <a:rPr b="1" lang="ja" sz="1200">
                <a:solidFill>
                  <a:srgbClr val="1A1A1A"/>
                </a:solidFill>
                <a:latin typeface="M PLUS 1p"/>
                <a:ea typeface="M PLUS 1p"/>
                <a:cs typeface="M PLUS 1p"/>
                <a:sym typeface="M PLUS 1p"/>
              </a:rPr>
              <a:t>② </a:t>
            </a:r>
            <a:r>
              <a:rPr b="1" lang="ja" sz="1100">
                <a:solidFill>
                  <a:srgbClr val="1A1A1A"/>
                </a:solidFill>
                <a:latin typeface="M PLUS 1p"/>
                <a:ea typeface="M PLUS 1p"/>
                <a:cs typeface="M PLUS 1p"/>
                <a:sym typeface="M PLUS 1p"/>
              </a:rPr>
              <a:t>初回の募集作成日から次の作成までの日数</a:t>
            </a:r>
            <a:endParaRPr sz="1100">
              <a:solidFill>
                <a:schemeClr val="dk1"/>
              </a:solidFill>
              <a:latin typeface="M PLUS 1p"/>
              <a:ea typeface="M PLUS 1p"/>
              <a:cs typeface="M PLUS 1p"/>
              <a:sym typeface="M PLUS 1p"/>
            </a:endParaRPr>
          </a:p>
          <a:p>
            <a:pPr indent="0" lvl="0" marL="0" marR="0" rtl="0" algn="l">
              <a:spcBef>
                <a:spcPts val="0"/>
              </a:spcBef>
              <a:spcAft>
                <a:spcPts val="0"/>
              </a:spcAft>
              <a:buClr>
                <a:srgbClr val="1A1A1A"/>
              </a:buClr>
              <a:buSzPts val="1200"/>
              <a:buFont typeface="Meiryo"/>
              <a:buNone/>
            </a:pPr>
            <a:r>
              <a:t/>
            </a:r>
            <a:endParaRPr b="1" sz="1200">
              <a:solidFill>
                <a:srgbClr val="1A1A1A"/>
              </a:solidFill>
              <a:latin typeface="M PLUS 1p"/>
              <a:ea typeface="M PLUS 1p"/>
              <a:cs typeface="M PLUS 1p"/>
              <a:sym typeface="M PLUS 1p"/>
            </a:endParaRPr>
          </a:p>
        </p:txBody>
      </p:sp>
      <p:sp>
        <p:nvSpPr>
          <p:cNvPr id="249" name="Google Shape;249;p24"/>
          <p:cNvSpPr txBox="1"/>
          <p:nvPr/>
        </p:nvSpPr>
        <p:spPr>
          <a:xfrm>
            <a:off x="3227832" y="1536192"/>
            <a:ext cx="2679192"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8C8C"/>
              </a:buClr>
              <a:buSzPts val="850"/>
              <a:buFont typeface="Meiryo"/>
              <a:buNone/>
            </a:pPr>
            <a:r>
              <a:rPr lang="ja" sz="850">
                <a:solidFill>
                  <a:srgbClr val="8C8C8C"/>
                </a:solidFill>
                <a:latin typeface="M PLUS 1p"/>
                <a:ea typeface="M PLUS 1p"/>
                <a:cs typeface="M PLUS 1p"/>
                <a:sym typeface="M PLUS 1p"/>
              </a:rPr>
              <a:t>翌月継続率（%）</a:t>
            </a:r>
            <a:endParaRPr sz="850">
              <a:solidFill>
                <a:schemeClr val="dk1"/>
              </a:solidFill>
              <a:latin typeface="M PLUS 1p"/>
              <a:ea typeface="M PLUS 1p"/>
              <a:cs typeface="M PLUS 1p"/>
              <a:sym typeface="M PLUS 1p"/>
            </a:endParaRPr>
          </a:p>
        </p:txBody>
      </p:sp>
      <p:pic>
        <p:nvPicPr>
          <p:cNvPr id="250" name="Google Shape;250;p24"/>
          <p:cNvPicPr preferRelativeResize="0"/>
          <p:nvPr/>
        </p:nvPicPr>
        <p:blipFill rotWithShape="1">
          <a:blip r:embed="rId4">
            <a:alphaModFix/>
          </a:blip>
          <a:srcRect b="0" l="0" r="0" t="0"/>
          <a:stretch/>
        </p:blipFill>
        <p:spPr>
          <a:xfrm>
            <a:off x="3136392" y="1691640"/>
            <a:ext cx="2862072" cy="2240280"/>
          </a:xfrm>
          <a:prstGeom prst="rect">
            <a:avLst/>
          </a:prstGeom>
          <a:noFill/>
          <a:ln>
            <a:noFill/>
          </a:ln>
        </p:spPr>
      </p:pic>
      <p:sp>
        <p:nvSpPr>
          <p:cNvPr id="251" name="Google Shape;251;p24"/>
          <p:cNvSpPr/>
          <p:nvPr/>
        </p:nvSpPr>
        <p:spPr>
          <a:xfrm>
            <a:off x="3227832" y="4005072"/>
            <a:ext cx="2679192" cy="329184"/>
          </a:xfrm>
          <a:prstGeom prst="rect">
            <a:avLst/>
          </a:prstGeom>
          <a:solidFill>
            <a:srgbClr val="FFF6D9"/>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252" name="Google Shape;252;p24"/>
          <p:cNvSpPr txBox="1"/>
          <p:nvPr/>
        </p:nvSpPr>
        <p:spPr>
          <a:xfrm>
            <a:off x="3227832" y="4005072"/>
            <a:ext cx="2679192"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Meiryo"/>
              <a:buNone/>
            </a:pPr>
            <a:r>
              <a:rPr b="1" lang="ja" sz="1100">
                <a:solidFill>
                  <a:srgbClr val="1A1A1A"/>
                </a:solidFill>
                <a:latin typeface="M PLUS 1p"/>
                <a:ea typeface="M PLUS 1p"/>
                <a:cs typeface="M PLUS 1p"/>
                <a:sym typeface="M PLUS 1p"/>
              </a:rPr>
              <a:t>差 56.3pt</a:t>
            </a:r>
            <a:endParaRPr sz="1100">
              <a:solidFill>
                <a:schemeClr val="dk1"/>
              </a:solidFill>
              <a:latin typeface="M PLUS 1p"/>
              <a:ea typeface="M PLUS 1p"/>
              <a:cs typeface="M PLUS 1p"/>
              <a:sym typeface="M PLUS 1p"/>
            </a:endParaRPr>
          </a:p>
        </p:txBody>
      </p:sp>
      <p:sp>
        <p:nvSpPr>
          <p:cNvPr id="253" name="Google Shape;253;p24"/>
          <p:cNvSpPr txBox="1"/>
          <p:nvPr/>
        </p:nvSpPr>
        <p:spPr>
          <a:xfrm>
            <a:off x="6089904" y="1280160"/>
            <a:ext cx="2679192"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200"/>
              <a:buFont typeface="Meiryo"/>
              <a:buNone/>
            </a:pPr>
            <a:r>
              <a:rPr b="1" lang="ja" sz="1200">
                <a:solidFill>
                  <a:srgbClr val="1A1A1A"/>
                </a:solidFill>
                <a:latin typeface="M PLUS 1p"/>
                <a:ea typeface="M PLUS 1p"/>
                <a:cs typeface="M PLUS 1p"/>
                <a:sym typeface="M PLUS 1p"/>
              </a:rPr>
              <a:t>③ 当月に5</a:t>
            </a:r>
            <a:r>
              <a:rPr b="1" lang="ja" sz="1200">
                <a:solidFill>
                  <a:srgbClr val="1A1A1A"/>
                </a:solidFill>
                <a:latin typeface="M PLUS 1p"/>
                <a:ea typeface="M PLUS 1p"/>
                <a:cs typeface="M PLUS 1p"/>
                <a:sym typeface="M PLUS 1p"/>
              </a:rPr>
              <a:t>日</a:t>
            </a:r>
            <a:r>
              <a:rPr b="1" lang="ja" sz="1200">
                <a:solidFill>
                  <a:srgbClr val="1A1A1A"/>
                </a:solidFill>
                <a:latin typeface="M PLUS 1p"/>
                <a:ea typeface="M PLUS 1p"/>
                <a:cs typeface="M PLUS 1p"/>
                <a:sym typeface="M PLUS 1p"/>
              </a:rPr>
              <a:t>以上掲載しているか</a:t>
            </a:r>
            <a:endParaRPr sz="1200">
              <a:solidFill>
                <a:schemeClr val="dk1"/>
              </a:solidFill>
              <a:latin typeface="M PLUS 1p"/>
              <a:ea typeface="M PLUS 1p"/>
              <a:cs typeface="M PLUS 1p"/>
              <a:sym typeface="M PLUS 1p"/>
            </a:endParaRPr>
          </a:p>
        </p:txBody>
      </p:sp>
      <p:sp>
        <p:nvSpPr>
          <p:cNvPr id="254" name="Google Shape;254;p24"/>
          <p:cNvSpPr txBox="1"/>
          <p:nvPr/>
        </p:nvSpPr>
        <p:spPr>
          <a:xfrm>
            <a:off x="6089904" y="1536192"/>
            <a:ext cx="2679192"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8C8C"/>
              </a:buClr>
              <a:buSzPts val="850"/>
              <a:buFont typeface="Meiryo"/>
              <a:buNone/>
            </a:pPr>
            <a:r>
              <a:rPr lang="ja" sz="850">
                <a:solidFill>
                  <a:srgbClr val="8C8C8C"/>
                </a:solidFill>
                <a:latin typeface="M PLUS 1p"/>
                <a:ea typeface="M PLUS 1p"/>
                <a:cs typeface="M PLUS 1p"/>
                <a:sym typeface="M PLUS 1p"/>
              </a:rPr>
              <a:t>翌月継続率（%）</a:t>
            </a:r>
            <a:endParaRPr sz="850">
              <a:solidFill>
                <a:schemeClr val="dk1"/>
              </a:solidFill>
              <a:latin typeface="M PLUS 1p"/>
              <a:ea typeface="M PLUS 1p"/>
              <a:cs typeface="M PLUS 1p"/>
              <a:sym typeface="M PLUS 1p"/>
            </a:endParaRPr>
          </a:p>
        </p:txBody>
      </p:sp>
      <p:pic>
        <p:nvPicPr>
          <p:cNvPr id="255" name="Google Shape;255;p24"/>
          <p:cNvPicPr preferRelativeResize="0"/>
          <p:nvPr/>
        </p:nvPicPr>
        <p:blipFill rotWithShape="1">
          <a:blip r:embed="rId5">
            <a:alphaModFix/>
          </a:blip>
          <a:srcRect b="0" l="0" r="0" t="0"/>
          <a:stretch/>
        </p:blipFill>
        <p:spPr>
          <a:xfrm>
            <a:off x="5998464" y="1691640"/>
            <a:ext cx="2862072" cy="2240280"/>
          </a:xfrm>
          <a:prstGeom prst="rect">
            <a:avLst/>
          </a:prstGeom>
          <a:noFill/>
          <a:ln>
            <a:noFill/>
          </a:ln>
        </p:spPr>
      </p:pic>
      <p:sp>
        <p:nvSpPr>
          <p:cNvPr id="256" name="Google Shape;256;p24"/>
          <p:cNvSpPr/>
          <p:nvPr/>
        </p:nvSpPr>
        <p:spPr>
          <a:xfrm>
            <a:off x="6089904" y="4005072"/>
            <a:ext cx="2679192" cy="329184"/>
          </a:xfrm>
          <a:prstGeom prst="rect">
            <a:avLst/>
          </a:prstGeom>
          <a:solidFill>
            <a:srgbClr val="FFF6D9"/>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257" name="Google Shape;257;p24"/>
          <p:cNvSpPr txBox="1"/>
          <p:nvPr/>
        </p:nvSpPr>
        <p:spPr>
          <a:xfrm>
            <a:off x="6089904" y="4005072"/>
            <a:ext cx="2679192"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100"/>
              <a:buFont typeface="Meiryo"/>
              <a:buNone/>
            </a:pPr>
            <a:r>
              <a:rPr b="1" lang="ja" sz="1100">
                <a:solidFill>
                  <a:srgbClr val="1A1A1A"/>
                </a:solidFill>
                <a:latin typeface="M PLUS 1p"/>
                <a:ea typeface="M PLUS 1p"/>
                <a:cs typeface="M PLUS 1p"/>
                <a:sym typeface="M PLUS 1p"/>
              </a:rPr>
              <a:t>2件→5件で ＋7.1pt</a:t>
            </a:r>
            <a:endParaRPr sz="1100">
              <a:solidFill>
                <a:schemeClr val="dk1"/>
              </a:solidFill>
              <a:latin typeface="M PLUS 1p"/>
              <a:ea typeface="M PLUS 1p"/>
              <a:cs typeface="M PLUS 1p"/>
              <a:sym typeface="M PLUS 1p"/>
            </a:endParaRPr>
          </a:p>
        </p:txBody>
      </p:sp>
      <p:sp>
        <p:nvSpPr>
          <p:cNvPr id="258" name="Google Shape;258;p24"/>
          <p:cNvSpPr txBox="1"/>
          <p:nvPr/>
        </p:nvSpPr>
        <p:spPr>
          <a:xfrm>
            <a:off x="365750" y="4434858"/>
            <a:ext cx="8412600" cy="65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5959"/>
              </a:buClr>
              <a:buSzPts val="850"/>
              <a:buFont typeface="Meiryo"/>
              <a:buNone/>
            </a:pPr>
            <a:r>
              <a:rPr lang="ja" sz="850">
                <a:solidFill>
                  <a:srgbClr val="595959"/>
                </a:solidFill>
                <a:latin typeface="M PLUS 1p"/>
                <a:ea typeface="M PLUS 1p"/>
                <a:cs typeface="M PLUS 1p"/>
                <a:sym typeface="M PLUS 1p"/>
              </a:rPr>
              <a:t>出典：「翌月継続率70%への道筋」(2026-08-21 構造分析)。</a:t>
            </a:r>
            <a:endParaRPr sz="850">
              <a:solidFill>
                <a:srgbClr val="595959"/>
              </a:solidFill>
              <a:latin typeface="M PLUS 1p"/>
              <a:ea typeface="M PLUS 1p"/>
              <a:cs typeface="M PLUS 1p"/>
              <a:sym typeface="M PLUS 1p"/>
            </a:endParaRPr>
          </a:p>
          <a:p>
            <a:pPr indent="0" lvl="0" marL="0" marR="0" rtl="0" algn="l">
              <a:spcBef>
                <a:spcPts val="0"/>
              </a:spcBef>
              <a:spcAft>
                <a:spcPts val="0"/>
              </a:spcAft>
              <a:buClr>
                <a:srgbClr val="595959"/>
              </a:buClr>
              <a:buSzPts val="850"/>
              <a:buFont typeface="Meiryo"/>
              <a:buNone/>
            </a:pPr>
            <a:r>
              <a:rPr lang="ja" sz="850">
                <a:solidFill>
                  <a:srgbClr val="595959"/>
                </a:solidFill>
                <a:latin typeface="M PLUS 1p"/>
                <a:ea typeface="M PLUS 1p"/>
                <a:cs typeface="M PLUS 1p"/>
                <a:sym typeface="M PLUS 1p"/>
              </a:rPr>
              <a:t>①は複数コホートで69〜75%のうち下限を表示。</a:t>
            </a:r>
            <a:endParaRPr sz="850">
              <a:solidFill>
                <a:srgbClr val="595959"/>
              </a:solidFill>
              <a:latin typeface="M PLUS 1p"/>
              <a:ea typeface="M PLUS 1p"/>
              <a:cs typeface="M PLUS 1p"/>
              <a:sym typeface="M PLUS 1p"/>
            </a:endParaRPr>
          </a:p>
          <a:p>
            <a:pPr indent="0" lvl="0" marL="0" marR="0" rtl="0" algn="l">
              <a:spcBef>
                <a:spcPts val="0"/>
              </a:spcBef>
              <a:spcAft>
                <a:spcPts val="0"/>
              </a:spcAft>
              <a:buClr>
                <a:srgbClr val="595959"/>
              </a:buClr>
              <a:buSzPts val="850"/>
              <a:buFont typeface="Meiryo"/>
              <a:buNone/>
            </a:pPr>
            <a:r>
              <a:rPr lang="ja" sz="850">
                <a:solidFill>
                  <a:srgbClr val="595959"/>
                </a:solidFill>
                <a:latin typeface="M PLUS 1p"/>
                <a:ea typeface="M PLUS 1p"/>
                <a:cs typeface="M PLUS 1p"/>
                <a:sym typeface="M PLUS 1p"/>
              </a:rPr>
              <a:t>②は初回と最新の掲載間隔で判定（n=7,127）。</a:t>
            </a:r>
            <a:endParaRPr sz="850">
              <a:solidFill>
                <a:srgbClr val="595959"/>
              </a:solidFill>
              <a:latin typeface="M PLUS 1p"/>
              <a:ea typeface="M PLUS 1p"/>
              <a:cs typeface="M PLUS 1p"/>
              <a:sym typeface="M PLUS 1p"/>
            </a:endParaRPr>
          </a:p>
          <a:p>
            <a:pPr indent="0" lvl="0" marL="0" marR="0" rtl="0" algn="l">
              <a:spcBef>
                <a:spcPts val="0"/>
              </a:spcBef>
              <a:spcAft>
                <a:spcPts val="0"/>
              </a:spcAft>
              <a:buClr>
                <a:srgbClr val="595959"/>
              </a:buClr>
              <a:buSzPts val="850"/>
              <a:buFont typeface="Meiryo"/>
              <a:buNone/>
            </a:pPr>
            <a:r>
              <a:rPr lang="ja" sz="850">
                <a:solidFill>
                  <a:srgbClr val="595959"/>
                </a:solidFill>
                <a:latin typeface="M PLUS 1p"/>
                <a:ea typeface="M PLUS 1p"/>
                <a:cs typeface="M PLUS 1p"/>
                <a:sym typeface="M PLUS 1p"/>
              </a:rPr>
              <a:t>③は3ソースで再現（76.1／74.5／74.1%）。</a:t>
            </a:r>
            <a:endParaRPr sz="850">
              <a:solidFill>
                <a:schemeClr val="dk1"/>
              </a:solidFill>
              <a:latin typeface="M PLUS 1p"/>
              <a:ea typeface="M PLUS 1p"/>
              <a:cs typeface="M PLUS 1p"/>
              <a:sym typeface="M PLUS 1p"/>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3" name="Shape 263"/>
        <p:cNvGrpSpPr/>
        <p:nvPr/>
      </p:nvGrpSpPr>
      <p:grpSpPr>
        <a:xfrm>
          <a:off x="0" y="0"/>
          <a:ext cx="0" cy="0"/>
          <a:chOff x="0" y="0"/>
          <a:chExt cx="0" cy="0"/>
        </a:xfrm>
      </p:grpSpPr>
      <p:sp>
        <p:nvSpPr>
          <p:cNvPr id="264" name="Google Shape;264;p25"/>
          <p:cNvSpPr txBox="1"/>
          <p:nvPr/>
        </p:nvSpPr>
        <p:spPr>
          <a:xfrm>
            <a:off x="365760" y="182880"/>
            <a:ext cx="75895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Meiryo"/>
              <a:buNone/>
            </a:pPr>
            <a:r>
              <a:rPr b="1" lang="ja" sz="2000">
                <a:solidFill>
                  <a:srgbClr val="1A1A1A"/>
                </a:solidFill>
                <a:latin typeface="M PLUS 1p"/>
                <a:ea typeface="M PLUS 1p"/>
                <a:cs typeface="M PLUS 1p"/>
                <a:sym typeface="M PLUS 1p"/>
              </a:rPr>
              <a:t>項目の選定根拠④〜⑥　ヨミ・Bad体験・掲載時期も分ける</a:t>
            </a:r>
            <a:endParaRPr sz="2000">
              <a:solidFill>
                <a:schemeClr val="dk1"/>
              </a:solidFill>
              <a:latin typeface="M PLUS 1p"/>
              <a:ea typeface="M PLUS 1p"/>
              <a:cs typeface="M PLUS 1p"/>
              <a:sym typeface="M PLUS 1p"/>
            </a:endParaRPr>
          </a:p>
        </p:txBody>
      </p:sp>
      <p:sp>
        <p:nvSpPr>
          <p:cNvPr id="265" name="Google Shape;265;p25"/>
          <p:cNvSpPr txBox="1"/>
          <p:nvPr/>
        </p:nvSpPr>
        <p:spPr>
          <a:xfrm>
            <a:off x="8046720" y="164592"/>
            <a:ext cx="7315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A1A1A"/>
              </a:buClr>
              <a:buSzPts val="1400"/>
              <a:buFont typeface="Meiryo"/>
              <a:buNone/>
            </a:pPr>
            <a:r>
              <a:rPr b="1" lang="ja" sz="1400">
                <a:solidFill>
                  <a:srgbClr val="1A1A1A"/>
                </a:solidFill>
                <a:latin typeface="Meiryo"/>
                <a:ea typeface="Meiryo"/>
                <a:cs typeface="Meiryo"/>
                <a:sym typeface="Meiryo"/>
              </a:rPr>
              <a:t>Timee</a:t>
            </a:r>
            <a:endParaRPr sz="1400">
              <a:solidFill>
                <a:schemeClr val="dk1"/>
              </a:solidFill>
              <a:latin typeface="Calibri"/>
              <a:ea typeface="Calibri"/>
              <a:cs typeface="Calibri"/>
              <a:sym typeface="Calibri"/>
            </a:endParaRPr>
          </a:p>
        </p:txBody>
      </p:sp>
      <p:sp>
        <p:nvSpPr>
          <p:cNvPr id="266" name="Google Shape;266;p25"/>
          <p:cNvSpPr/>
          <p:nvPr/>
        </p:nvSpPr>
        <p:spPr>
          <a:xfrm>
            <a:off x="365760" y="658368"/>
            <a:ext cx="8412480" cy="457200"/>
          </a:xfrm>
          <a:prstGeom prst="rect">
            <a:avLst/>
          </a:prstGeom>
          <a:solidFill>
            <a:srgbClr val="FFF6D9"/>
          </a:solidFill>
          <a:ln cap="flat" cmpd="sng" w="12700">
            <a:solidFill>
              <a:srgbClr val="FFF6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267" name="Google Shape;267;p25"/>
          <p:cNvSpPr txBox="1"/>
          <p:nvPr/>
        </p:nvSpPr>
        <p:spPr>
          <a:xfrm>
            <a:off x="502920" y="658368"/>
            <a:ext cx="8138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50"/>
              <a:buFont typeface="Meiryo"/>
              <a:buNone/>
            </a:pPr>
            <a:r>
              <a:rPr lang="ja" sz="1150">
                <a:solidFill>
                  <a:srgbClr val="1A1A1A"/>
                </a:solidFill>
                <a:latin typeface="M PLUS 1p"/>
                <a:ea typeface="M PLUS 1p"/>
                <a:cs typeface="M PLUS 1p"/>
                <a:sym typeface="M PLUS 1p"/>
              </a:rPr>
              <a:t>ヨミは継続確度をそのまま分ける。Bad体験は掲載が積めていない店でだけ効く。</a:t>
            </a:r>
            <a:r>
              <a:rPr b="1" lang="ja" sz="1150">
                <a:solidFill>
                  <a:srgbClr val="1D7FE8"/>
                </a:solidFill>
                <a:latin typeface="M PLUS 1p"/>
                <a:ea typeface="M PLUS 1p"/>
                <a:cs typeface="M PLUS 1p"/>
                <a:sym typeface="M PLUS 1p"/>
              </a:rPr>
              <a:t>月末近くの初回掲載は「見かけの継続」になりやすい</a:t>
            </a:r>
            <a:endParaRPr sz="1150">
              <a:solidFill>
                <a:schemeClr val="dk1"/>
              </a:solidFill>
              <a:latin typeface="M PLUS 1p"/>
              <a:ea typeface="M PLUS 1p"/>
              <a:cs typeface="M PLUS 1p"/>
              <a:sym typeface="M PLUS 1p"/>
            </a:endParaRPr>
          </a:p>
        </p:txBody>
      </p:sp>
      <p:sp>
        <p:nvSpPr>
          <p:cNvPr id="268" name="Google Shape;268;p25"/>
          <p:cNvSpPr txBox="1"/>
          <p:nvPr/>
        </p:nvSpPr>
        <p:spPr>
          <a:xfrm>
            <a:off x="5852160" y="4846320"/>
            <a:ext cx="2926080"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8C8C8C"/>
              </a:buClr>
              <a:buSzPts val="700"/>
              <a:buFont typeface="Meiryo"/>
              <a:buNone/>
            </a:pPr>
            <a:r>
              <a:rPr lang="ja" sz="700">
                <a:solidFill>
                  <a:srgbClr val="8C8C8C"/>
                </a:solidFill>
                <a:latin typeface="Meiryo"/>
                <a:ea typeface="Meiryo"/>
                <a:cs typeface="Meiryo"/>
                <a:sym typeface="Meiryo"/>
              </a:rPr>
              <a:t>Copyright © Timee All Rights Reserved</a:t>
            </a:r>
            <a:endParaRPr sz="700">
              <a:solidFill>
                <a:schemeClr val="dk1"/>
              </a:solidFill>
              <a:latin typeface="Calibri"/>
              <a:ea typeface="Calibri"/>
              <a:cs typeface="Calibri"/>
              <a:sym typeface="Calibri"/>
            </a:endParaRPr>
          </a:p>
        </p:txBody>
      </p:sp>
      <p:sp>
        <p:nvSpPr>
          <p:cNvPr id="269" name="Google Shape;269;p25"/>
          <p:cNvSpPr txBox="1"/>
          <p:nvPr/>
        </p:nvSpPr>
        <p:spPr>
          <a:xfrm>
            <a:off x="365760" y="1280160"/>
            <a:ext cx="2679192"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100"/>
              <a:buFont typeface="Meiryo"/>
              <a:buNone/>
            </a:pPr>
            <a:r>
              <a:rPr b="1" lang="ja" sz="1100">
                <a:solidFill>
                  <a:srgbClr val="1A1A1A"/>
                </a:solidFill>
                <a:latin typeface="M PLUS 1p"/>
                <a:ea typeface="M PLUS 1p"/>
                <a:cs typeface="M PLUS 1p"/>
                <a:sym typeface="M PLUS 1p"/>
              </a:rPr>
              <a:t>④ 翌月ヨミがA・B・Cのどれか</a:t>
            </a:r>
            <a:endParaRPr sz="1100">
              <a:solidFill>
                <a:schemeClr val="dk1"/>
              </a:solidFill>
              <a:latin typeface="M PLUS 1p"/>
              <a:ea typeface="M PLUS 1p"/>
              <a:cs typeface="M PLUS 1p"/>
              <a:sym typeface="M PLUS 1p"/>
            </a:endParaRPr>
          </a:p>
        </p:txBody>
      </p:sp>
      <p:sp>
        <p:nvSpPr>
          <p:cNvPr id="270" name="Google Shape;270;p25"/>
          <p:cNvSpPr txBox="1"/>
          <p:nvPr/>
        </p:nvSpPr>
        <p:spPr>
          <a:xfrm>
            <a:off x="365760" y="1536192"/>
            <a:ext cx="2679192"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8C8C"/>
              </a:buClr>
              <a:buSzPts val="800"/>
              <a:buFont typeface="Meiryo"/>
              <a:buNone/>
            </a:pPr>
            <a:r>
              <a:rPr lang="ja" sz="800">
                <a:solidFill>
                  <a:srgbClr val="8C8C8C"/>
                </a:solidFill>
                <a:latin typeface="M PLUS 1p"/>
                <a:ea typeface="M PLUS 1p"/>
                <a:cs typeface="M PLUS 1p"/>
                <a:sym typeface="M PLUS 1p"/>
              </a:rPr>
              <a:t>翌月継続率（%）</a:t>
            </a:r>
            <a:endParaRPr sz="800">
              <a:solidFill>
                <a:schemeClr val="dk1"/>
              </a:solidFill>
              <a:latin typeface="M PLUS 1p"/>
              <a:ea typeface="M PLUS 1p"/>
              <a:cs typeface="M PLUS 1p"/>
              <a:sym typeface="M PLUS 1p"/>
            </a:endParaRPr>
          </a:p>
        </p:txBody>
      </p:sp>
      <p:pic>
        <p:nvPicPr>
          <p:cNvPr id="271" name="Google Shape;271;p25"/>
          <p:cNvPicPr preferRelativeResize="0"/>
          <p:nvPr/>
        </p:nvPicPr>
        <p:blipFill rotWithShape="1">
          <a:blip r:embed="rId3">
            <a:alphaModFix/>
          </a:blip>
          <a:srcRect b="0" l="0" r="0" t="0"/>
          <a:stretch/>
        </p:blipFill>
        <p:spPr>
          <a:xfrm>
            <a:off x="274320" y="1691640"/>
            <a:ext cx="2862072" cy="2240280"/>
          </a:xfrm>
          <a:prstGeom prst="rect">
            <a:avLst/>
          </a:prstGeom>
          <a:noFill/>
          <a:ln>
            <a:noFill/>
          </a:ln>
        </p:spPr>
      </p:pic>
      <p:sp>
        <p:nvSpPr>
          <p:cNvPr id="272" name="Google Shape;272;p25"/>
          <p:cNvSpPr/>
          <p:nvPr/>
        </p:nvSpPr>
        <p:spPr>
          <a:xfrm>
            <a:off x="365760" y="4005072"/>
            <a:ext cx="2679192" cy="329184"/>
          </a:xfrm>
          <a:prstGeom prst="rect">
            <a:avLst/>
          </a:prstGeom>
          <a:solidFill>
            <a:srgbClr val="FFF6D9"/>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273" name="Google Shape;273;p25"/>
          <p:cNvSpPr txBox="1"/>
          <p:nvPr/>
        </p:nvSpPr>
        <p:spPr>
          <a:xfrm>
            <a:off x="365760" y="4005072"/>
            <a:ext cx="2679192"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000"/>
              <a:buFont typeface="Meiryo"/>
              <a:buNone/>
            </a:pPr>
            <a:r>
              <a:rPr b="1" lang="ja" sz="1000">
                <a:solidFill>
                  <a:srgbClr val="1A1A1A"/>
                </a:solidFill>
                <a:latin typeface="M PLUS 1p"/>
                <a:ea typeface="M PLUS 1p"/>
                <a:cs typeface="M PLUS 1p"/>
                <a:sym typeface="M PLUS 1p"/>
              </a:rPr>
              <a:t>A→Cで 差 47.8pt </a:t>
            </a:r>
            <a:endParaRPr sz="1000">
              <a:solidFill>
                <a:schemeClr val="dk1"/>
              </a:solidFill>
              <a:latin typeface="M PLUS 1p"/>
              <a:ea typeface="M PLUS 1p"/>
              <a:cs typeface="M PLUS 1p"/>
              <a:sym typeface="M PLUS 1p"/>
            </a:endParaRPr>
          </a:p>
        </p:txBody>
      </p:sp>
      <p:sp>
        <p:nvSpPr>
          <p:cNvPr id="274" name="Google Shape;274;p25"/>
          <p:cNvSpPr txBox="1"/>
          <p:nvPr/>
        </p:nvSpPr>
        <p:spPr>
          <a:xfrm>
            <a:off x="3227832" y="1280160"/>
            <a:ext cx="2679192"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100"/>
              <a:buFont typeface="Meiryo"/>
              <a:buNone/>
            </a:pPr>
            <a:r>
              <a:rPr b="1" lang="ja" sz="1100">
                <a:solidFill>
                  <a:srgbClr val="1A1A1A"/>
                </a:solidFill>
                <a:latin typeface="M PLUS 1p"/>
                <a:ea typeface="M PLUS 1p"/>
                <a:cs typeface="M PLUS 1p"/>
                <a:sym typeface="M PLUS 1p"/>
              </a:rPr>
              <a:t>⑤ Bad体験が起きているか</a:t>
            </a:r>
            <a:endParaRPr sz="1100">
              <a:solidFill>
                <a:schemeClr val="dk1"/>
              </a:solidFill>
              <a:latin typeface="M PLUS 1p"/>
              <a:ea typeface="M PLUS 1p"/>
              <a:cs typeface="M PLUS 1p"/>
              <a:sym typeface="M PLUS 1p"/>
            </a:endParaRPr>
          </a:p>
        </p:txBody>
      </p:sp>
      <p:sp>
        <p:nvSpPr>
          <p:cNvPr id="275" name="Google Shape;275;p25"/>
          <p:cNvSpPr txBox="1"/>
          <p:nvPr/>
        </p:nvSpPr>
        <p:spPr>
          <a:xfrm>
            <a:off x="3227832" y="1536192"/>
            <a:ext cx="2679192"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8C8C"/>
              </a:buClr>
              <a:buSzPts val="800"/>
              <a:buFont typeface="Meiryo"/>
              <a:buNone/>
            </a:pPr>
            <a:r>
              <a:rPr lang="ja" sz="800">
                <a:solidFill>
                  <a:srgbClr val="8C8C8C"/>
                </a:solidFill>
                <a:latin typeface="M PLUS 1p"/>
                <a:ea typeface="M PLUS 1p"/>
                <a:cs typeface="M PLUS 1p"/>
                <a:sym typeface="M PLUS 1p"/>
              </a:rPr>
              <a:t>翌月継続率（%）・当月の掲載数別</a:t>
            </a:r>
            <a:endParaRPr sz="800">
              <a:solidFill>
                <a:schemeClr val="dk1"/>
              </a:solidFill>
              <a:latin typeface="M PLUS 1p"/>
              <a:ea typeface="M PLUS 1p"/>
              <a:cs typeface="M PLUS 1p"/>
              <a:sym typeface="M PLUS 1p"/>
            </a:endParaRPr>
          </a:p>
        </p:txBody>
      </p:sp>
      <p:pic>
        <p:nvPicPr>
          <p:cNvPr id="276" name="Google Shape;276;p25"/>
          <p:cNvPicPr preferRelativeResize="0"/>
          <p:nvPr/>
        </p:nvPicPr>
        <p:blipFill rotWithShape="1">
          <a:blip r:embed="rId4">
            <a:alphaModFix/>
          </a:blip>
          <a:srcRect b="0" l="0" r="0" t="0"/>
          <a:stretch/>
        </p:blipFill>
        <p:spPr>
          <a:xfrm>
            <a:off x="3136392" y="1691640"/>
            <a:ext cx="2862072" cy="2240280"/>
          </a:xfrm>
          <a:prstGeom prst="rect">
            <a:avLst/>
          </a:prstGeom>
          <a:noFill/>
          <a:ln>
            <a:noFill/>
          </a:ln>
        </p:spPr>
      </p:pic>
      <p:sp>
        <p:nvSpPr>
          <p:cNvPr id="277" name="Google Shape;277;p25"/>
          <p:cNvSpPr/>
          <p:nvPr/>
        </p:nvSpPr>
        <p:spPr>
          <a:xfrm>
            <a:off x="3227832" y="4005072"/>
            <a:ext cx="2679192" cy="329184"/>
          </a:xfrm>
          <a:prstGeom prst="rect">
            <a:avLst/>
          </a:prstGeom>
          <a:solidFill>
            <a:srgbClr val="FFF6D9"/>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278" name="Google Shape;278;p25"/>
          <p:cNvSpPr txBox="1"/>
          <p:nvPr/>
        </p:nvSpPr>
        <p:spPr>
          <a:xfrm>
            <a:off x="3227832" y="4005072"/>
            <a:ext cx="2679192"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000"/>
              <a:buFont typeface="Meiryo"/>
              <a:buNone/>
            </a:pPr>
            <a:r>
              <a:rPr b="1" lang="ja" sz="1000">
                <a:solidFill>
                  <a:srgbClr val="1A1A1A"/>
                </a:solidFill>
                <a:latin typeface="M PLUS 1p"/>
                <a:ea typeface="M PLUS 1p"/>
                <a:cs typeface="M PLUS 1p"/>
                <a:sym typeface="M PLUS 1p"/>
              </a:rPr>
              <a:t>掲載が止まった店で ▲29.1pt</a:t>
            </a:r>
            <a:endParaRPr sz="1000">
              <a:solidFill>
                <a:schemeClr val="dk1"/>
              </a:solidFill>
              <a:latin typeface="M PLUS 1p"/>
              <a:ea typeface="M PLUS 1p"/>
              <a:cs typeface="M PLUS 1p"/>
              <a:sym typeface="M PLUS 1p"/>
            </a:endParaRPr>
          </a:p>
        </p:txBody>
      </p:sp>
      <p:sp>
        <p:nvSpPr>
          <p:cNvPr id="279" name="Google Shape;279;p25"/>
          <p:cNvSpPr txBox="1"/>
          <p:nvPr/>
        </p:nvSpPr>
        <p:spPr>
          <a:xfrm>
            <a:off x="6089904" y="1280160"/>
            <a:ext cx="2679192"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100"/>
              <a:buFont typeface="Meiryo"/>
              <a:buNone/>
            </a:pPr>
            <a:r>
              <a:rPr b="1" lang="ja" sz="1100">
                <a:solidFill>
                  <a:srgbClr val="1A1A1A"/>
                </a:solidFill>
                <a:latin typeface="M PLUS 1p"/>
                <a:ea typeface="M PLUS 1p"/>
                <a:cs typeface="M PLUS 1p"/>
                <a:sym typeface="M PLUS 1p"/>
              </a:rPr>
              <a:t>⑥ 前月の初回掲載からの経過日数</a:t>
            </a:r>
            <a:endParaRPr sz="1100">
              <a:solidFill>
                <a:schemeClr val="dk1"/>
              </a:solidFill>
              <a:latin typeface="M PLUS 1p"/>
              <a:ea typeface="M PLUS 1p"/>
              <a:cs typeface="M PLUS 1p"/>
              <a:sym typeface="M PLUS 1p"/>
            </a:endParaRPr>
          </a:p>
        </p:txBody>
      </p:sp>
      <p:sp>
        <p:nvSpPr>
          <p:cNvPr id="280" name="Google Shape;280;p25"/>
          <p:cNvSpPr txBox="1"/>
          <p:nvPr/>
        </p:nvSpPr>
        <p:spPr>
          <a:xfrm>
            <a:off x="6089904" y="1536192"/>
            <a:ext cx="2679192" cy="182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C8C8C"/>
              </a:buClr>
              <a:buSzPts val="800"/>
              <a:buFont typeface="Meiryo"/>
              <a:buNone/>
            </a:pPr>
            <a:r>
              <a:rPr lang="ja" sz="800">
                <a:solidFill>
                  <a:srgbClr val="8C8C8C"/>
                </a:solidFill>
                <a:latin typeface="M PLUS 1p"/>
                <a:ea typeface="M PLUS 1p"/>
                <a:cs typeface="M PLUS 1p"/>
                <a:sym typeface="M PLUS 1p"/>
              </a:rPr>
              <a:t>前月21日以降に初回掲載した顧客の継続率（%）</a:t>
            </a:r>
            <a:endParaRPr sz="800">
              <a:solidFill>
                <a:schemeClr val="dk1"/>
              </a:solidFill>
              <a:latin typeface="M PLUS 1p"/>
              <a:ea typeface="M PLUS 1p"/>
              <a:cs typeface="M PLUS 1p"/>
              <a:sym typeface="M PLUS 1p"/>
            </a:endParaRPr>
          </a:p>
        </p:txBody>
      </p:sp>
      <p:pic>
        <p:nvPicPr>
          <p:cNvPr id="281" name="Google Shape;281;p25"/>
          <p:cNvPicPr preferRelativeResize="0"/>
          <p:nvPr/>
        </p:nvPicPr>
        <p:blipFill rotWithShape="1">
          <a:blip r:embed="rId5">
            <a:alphaModFix/>
          </a:blip>
          <a:srcRect b="0" l="0" r="0" t="0"/>
          <a:stretch/>
        </p:blipFill>
        <p:spPr>
          <a:xfrm>
            <a:off x="5998464" y="1691640"/>
            <a:ext cx="2862072" cy="2240280"/>
          </a:xfrm>
          <a:prstGeom prst="rect">
            <a:avLst/>
          </a:prstGeom>
          <a:noFill/>
          <a:ln>
            <a:noFill/>
          </a:ln>
        </p:spPr>
      </p:pic>
      <p:sp>
        <p:nvSpPr>
          <p:cNvPr id="282" name="Google Shape;282;p25"/>
          <p:cNvSpPr/>
          <p:nvPr/>
        </p:nvSpPr>
        <p:spPr>
          <a:xfrm>
            <a:off x="6089904" y="4005072"/>
            <a:ext cx="2679192" cy="329184"/>
          </a:xfrm>
          <a:prstGeom prst="rect">
            <a:avLst/>
          </a:prstGeom>
          <a:solidFill>
            <a:srgbClr val="FFF6D9"/>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283" name="Google Shape;283;p25"/>
          <p:cNvSpPr txBox="1"/>
          <p:nvPr/>
        </p:nvSpPr>
        <p:spPr>
          <a:xfrm>
            <a:off x="6089904" y="4005072"/>
            <a:ext cx="2679192"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000"/>
              <a:buFont typeface="Meiryo"/>
              <a:buNone/>
            </a:pPr>
            <a:r>
              <a:rPr b="1" lang="ja" sz="1000">
                <a:solidFill>
                  <a:srgbClr val="1A1A1A"/>
                </a:solidFill>
                <a:latin typeface="M PLUS 1p"/>
                <a:ea typeface="M PLUS 1p"/>
                <a:cs typeface="M PLUS 1p"/>
                <a:sym typeface="M PLUS 1p"/>
              </a:rPr>
              <a:t>60日で ▲21.5pt</a:t>
            </a:r>
            <a:endParaRPr sz="1000">
              <a:solidFill>
                <a:schemeClr val="dk1"/>
              </a:solidFill>
              <a:latin typeface="M PLUS 1p"/>
              <a:ea typeface="M PLUS 1p"/>
              <a:cs typeface="M PLUS 1p"/>
              <a:sym typeface="M PLUS 1p"/>
            </a:endParaRPr>
          </a:p>
        </p:txBody>
      </p:sp>
      <p:sp>
        <p:nvSpPr>
          <p:cNvPr id="284" name="Google Shape;284;p25"/>
          <p:cNvSpPr txBox="1"/>
          <p:nvPr/>
        </p:nvSpPr>
        <p:spPr>
          <a:xfrm>
            <a:off x="365760" y="4407408"/>
            <a:ext cx="841248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5959"/>
              </a:buClr>
              <a:buSzPts val="850"/>
              <a:buFont typeface="Meiryo"/>
              <a:buNone/>
            </a:pPr>
            <a:r>
              <a:rPr lang="ja" sz="850">
                <a:solidFill>
                  <a:srgbClr val="595959"/>
                </a:solidFill>
                <a:latin typeface="M PLUS 1p"/>
                <a:ea typeface="M PLUS 1p"/>
                <a:cs typeface="M PLUS 1p"/>
                <a:sym typeface="M PLUS 1p"/>
              </a:rPr>
              <a:t>※Bad体験＝稼働なし、ワーカーへの評価なし、ワーカーキャンセルあり</a:t>
            </a:r>
            <a:endParaRPr sz="850">
              <a:solidFill>
                <a:schemeClr val="dk1"/>
              </a:solidFill>
              <a:latin typeface="M PLUS 1p"/>
              <a:ea typeface="M PLUS 1p"/>
              <a:cs typeface="M PLUS 1p"/>
              <a:sym typeface="M PLUS 1p"/>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sp>
        <p:nvSpPr>
          <p:cNvPr id="290" name="Google Shape;290;p26"/>
          <p:cNvSpPr txBox="1"/>
          <p:nvPr/>
        </p:nvSpPr>
        <p:spPr>
          <a:xfrm>
            <a:off x="365760" y="182880"/>
            <a:ext cx="75895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Meiryo"/>
              <a:buNone/>
            </a:pPr>
            <a:r>
              <a:rPr b="1" lang="ja" sz="2000">
                <a:solidFill>
                  <a:srgbClr val="1A1A1A"/>
                </a:solidFill>
                <a:latin typeface="M PLUS 1p"/>
                <a:ea typeface="M PLUS 1p"/>
                <a:cs typeface="M PLUS 1p"/>
                <a:sym typeface="M PLUS 1p"/>
              </a:rPr>
              <a:t>A〜Eのランクで、営業がどこに入るかを決める</a:t>
            </a:r>
            <a:endParaRPr sz="2000">
              <a:solidFill>
                <a:schemeClr val="dk1"/>
              </a:solidFill>
              <a:latin typeface="M PLUS 1p"/>
              <a:ea typeface="M PLUS 1p"/>
              <a:cs typeface="M PLUS 1p"/>
              <a:sym typeface="M PLUS 1p"/>
            </a:endParaRPr>
          </a:p>
        </p:txBody>
      </p:sp>
      <p:sp>
        <p:nvSpPr>
          <p:cNvPr id="291" name="Google Shape;291;p26"/>
          <p:cNvSpPr txBox="1"/>
          <p:nvPr/>
        </p:nvSpPr>
        <p:spPr>
          <a:xfrm>
            <a:off x="8046720" y="164592"/>
            <a:ext cx="7315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A1A1A"/>
              </a:buClr>
              <a:buSzPts val="1400"/>
              <a:buFont typeface="Meiryo"/>
              <a:buNone/>
            </a:pPr>
            <a:r>
              <a:rPr b="1" lang="ja" sz="1400">
                <a:solidFill>
                  <a:srgbClr val="1A1A1A"/>
                </a:solidFill>
                <a:latin typeface="Meiryo"/>
                <a:ea typeface="Meiryo"/>
                <a:cs typeface="Meiryo"/>
                <a:sym typeface="Meiryo"/>
              </a:rPr>
              <a:t>Timee</a:t>
            </a:r>
            <a:endParaRPr sz="1400">
              <a:solidFill>
                <a:schemeClr val="dk1"/>
              </a:solidFill>
              <a:latin typeface="Calibri"/>
              <a:ea typeface="Calibri"/>
              <a:cs typeface="Calibri"/>
              <a:sym typeface="Calibri"/>
            </a:endParaRPr>
          </a:p>
        </p:txBody>
      </p:sp>
      <p:sp>
        <p:nvSpPr>
          <p:cNvPr id="292" name="Google Shape;292;p26"/>
          <p:cNvSpPr/>
          <p:nvPr/>
        </p:nvSpPr>
        <p:spPr>
          <a:xfrm>
            <a:off x="365760" y="658368"/>
            <a:ext cx="8412480" cy="457200"/>
          </a:xfrm>
          <a:prstGeom prst="rect">
            <a:avLst/>
          </a:prstGeom>
          <a:solidFill>
            <a:srgbClr val="FFF6D9"/>
          </a:solidFill>
          <a:ln cap="flat" cmpd="sng" w="12700">
            <a:solidFill>
              <a:srgbClr val="FFF6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293" name="Google Shape;293;p26"/>
          <p:cNvSpPr txBox="1"/>
          <p:nvPr/>
        </p:nvSpPr>
        <p:spPr>
          <a:xfrm>
            <a:off x="502920" y="658368"/>
            <a:ext cx="8138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50"/>
              <a:buFont typeface="Meiryo"/>
              <a:buNone/>
            </a:pPr>
            <a:r>
              <a:rPr lang="ja" sz="1150">
                <a:solidFill>
                  <a:srgbClr val="1A1A1A"/>
                </a:solidFill>
                <a:latin typeface="M PLUS 1p"/>
                <a:ea typeface="M PLUS 1p"/>
                <a:cs typeface="M PLUS 1p"/>
                <a:sym typeface="M PLUS 1p"/>
              </a:rPr>
              <a:t>当月と翌月で点数の基準は別。</a:t>
            </a:r>
            <a:r>
              <a:rPr b="1" lang="ja" sz="1150">
                <a:solidFill>
                  <a:srgbClr val="1D7FE8"/>
                </a:solidFill>
                <a:latin typeface="M PLUS 1p"/>
                <a:ea typeface="M PLUS 1p"/>
                <a:cs typeface="M PLUS 1p"/>
                <a:sym typeface="M PLUS 1p"/>
              </a:rPr>
              <a:t>営業が当月から動くのはC・Dランクのみで、A・Bは翌月の未継続時だけ架電する</a:t>
            </a:r>
            <a:endParaRPr sz="1150">
              <a:solidFill>
                <a:schemeClr val="dk1"/>
              </a:solidFill>
              <a:latin typeface="M PLUS 1p"/>
              <a:ea typeface="M PLUS 1p"/>
              <a:cs typeface="M PLUS 1p"/>
              <a:sym typeface="M PLUS 1p"/>
            </a:endParaRPr>
          </a:p>
        </p:txBody>
      </p:sp>
      <p:sp>
        <p:nvSpPr>
          <p:cNvPr id="294" name="Google Shape;294;p26"/>
          <p:cNvSpPr txBox="1"/>
          <p:nvPr/>
        </p:nvSpPr>
        <p:spPr>
          <a:xfrm>
            <a:off x="5852160" y="4846320"/>
            <a:ext cx="2926080"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8C8C8C"/>
              </a:buClr>
              <a:buSzPts val="700"/>
              <a:buFont typeface="Meiryo"/>
              <a:buNone/>
            </a:pPr>
            <a:r>
              <a:rPr lang="ja" sz="700">
                <a:solidFill>
                  <a:srgbClr val="8C8C8C"/>
                </a:solidFill>
                <a:latin typeface="Meiryo"/>
                <a:ea typeface="Meiryo"/>
                <a:cs typeface="Meiryo"/>
                <a:sym typeface="Meiryo"/>
              </a:rPr>
              <a:t>Copyright © Timee All Rights Reserved</a:t>
            </a:r>
            <a:endParaRPr sz="700">
              <a:solidFill>
                <a:schemeClr val="dk1"/>
              </a:solidFill>
              <a:latin typeface="Calibri"/>
              <a:ea typeface="Calibri"/>
              <a:cs typeface="Calibri"/>
              <a:sym typeface="Calibri"/>
            </a:endParaRPr>
          </a:p>
        </p:txBody>
      </p:sp>
      <p:sp>
        <p:nvSpPr>
          <p:cNvPr id="295" name="Google Shape;295;p26"/>
          <p:cNvSpPr txBox="1"/>
          <p:nvPr/>
        </p:nvSpPr>
        <p:spPr>
          <a:xfrm>
            <a:off x="365760" y="1371600"/>
            <a:ext cx="5486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5959"/>
              </a:buClr>
              <a:buSzPts val="950"/>
              <a:buFont typeface="Meiryo"/>
              <a:buNone/>
            </a:pPr>
            <a:r>
              <a:rPr lang="ja" sz="950">
                <a:solidFill>
                  <a:srgbClr val="595959"/>
                </a:solidFill>
                <a:latin typeface="M PLUS 1p"/>
                <a:ea typeface="M PLUS 1p"/>
                <a:cs typeface="M PLUS 1p"/>
                <a:sym typeface="M PLUS 1p"/>
              </a:rPr>
              <a:t>ランク</a:t>
            </a:r>
            <a:endParaRPr sz="950">
              <a:solidFill>
                <a:schemeClr val="dk1"/>
              </a:solidFill>
              <a:latin typeface="M PLUS 1p"/>
              <a:ea typeface="M PLUS 1p"/>
              <a:cs typeface="M PLUS 1p"/>
              <a:sym typeface="M PLUS 1p"/>
            </a:endParaRPr>
          </a:p>
        </p:txBody>
      </p:sp>
      <p:sp>
        <p:nvSpPr>
          <p:cNvPr id="296" name="Google Shape;296;p26"/>
          <p:cNvSpPr txBox="1"/>
          <p:nvPr/>
        </p:nvSpPr>
        <p:spPr>
          <a:xfrm>
            <a:off x="914400" y="1371600"/>
            <a:ext cx="292608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5959"/>
              </a:buClr>
              <a:buSzPts val="950"/>
              <a:buFont typeface="Meiryo"/>
              <a:buNone/>
            </a:pPr>
            <a:r>
              <a:rPr lang="ja" sz="950">
                <a:solidFill>
                  <a:srgbClr val="595959"/>
                </a:solidFill>
                <a:latin typeface="M PLUS 1p"/>
                <a:ea typeface="M PLUS 1p"/>
                <a:cs typeface="M PLUS 1p"/>
                <a:sym typeface="M PLUS 1p"/>
              </a:rPr>
              <a:t>顧客の状態（想定）</a:t>
            </a:r>
            <a:endParaRPr sz="950">
              <a:solidFill>
                <a:schemeClr val="dk1"/>
              </a:solidFill>
              <a:latin typeface="M PLUS 1p"/>
              <a:ea typeface="M PLUS 1p"/>
              <a:cs typeface="M PLUS 1p"/>
              <a:sym typeface="M PLUS 1p"/>
            </a:endParaRPr>
          </a:p>
        </p:txBody>
      </p:sp>
      <p:sp>
        <p:nvSpPr>
          <p:cNvPr id="297" name="Google Shape;297;p26"/>
          <p:cNvSpPr txBox="1"/>
          <p:nvPr/>
        </p:nvSpPr>
        <p:spPr>
          <a:xfrm>
            <a:off x="3931920" y="1371600"/>
            <a:ext cx="914400"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95959"/>
              </a:buClr>
              <a:buSzPts val="950"/>
              <a:buFont typeface="Meiryo"/>
              <a:buNone/>
            </a:pPr>
            <a:r>
              <a:rPr lang="ja" sz="950">
                <a:solidFill>
                  <a:srgbClr val="595959"/>
                </a:solidFill>
                <a:latin typeface="M PLUS 1p"/>
                <a:ea typeface="M PLUS 1p"/>
                <a:cs typeface="M PLUS 1p"/>
                <a:sym typeface="M PLUS 1p"/>
              </a:rPr>
              <a:t>当月の点</a:t>
            </a:r>
            <a:endParaRPr sz="950">
              <a:solidFill>
                <a:schemeClr val="dk1"/>
              </a:solidFill>
              <a:latin typeface="M PLUS 1p"/>
              <a:ea typeface="M PLUS 1p"/>
              <a:cs typeface="M PLUS 1p"/>
              <a:sym typeface="M PLUS 1p"/>
            </a:endParaRPr>
          </a:p>
        </p:txBody>
      </p:sp>
      <p:sp>
        <p:nvSpPr>
          <p:cNvPr id="298" name="Google Shape;298;p26"/>
          <p:cNvSpPr txBox="1"/>
          <p:nvPr/>
        </p:nvSpPr>
        <p:spPr>
          <a:xfrm>
            <a:off x="4937760" y="1371600"/>
            <a:ext cx="868680"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95959"/>
              </a:buClr>
              <a:buSzPts val="950"/>
              <a:buFont typeface="Meiryo"/>
              <a:buNone/>
            </a:pPr>
            <a:r>
              <a:rPr lang="ja" sz="950">
                <a:solidFill>
                  <a:srgbClr val="595959"/>
                </a:solidFill>
                <a:latin typeface="M PLUS 1p"/>
                <a:ea typeface="M PLUS 1p"/>
                <a:cs typeface="M PLUS 1p"/>
                <a:sym typeface="M PLUS 1p"/>
              </a:rPr>
              <a:t>翌月の点</a:t>
            </a:r>
            <a:endParaRPr sz="950">
              <a:solidFill>
                <a:schemeClr val="dk1"/>
              </a:solidFill>
              <a:latin typeface="M PLUS 1p"/>
              <a:ea typeface="M PLUS 1p"/>
              <a:cs typeface="M PLUS 1p"/>
              <a:sym typeface="M PLUS 1p"/>
            </a:endParaRPr>
          </a:p>
        </p:txBody>
      </p:sp>
      <p:sp>
        <p:nvSpPr>
          <p:cNvPr id="299" name="Google Shape;299;p26"/>
          <p:cNvSpPr txBox="1"/>
          <p:nvPr/>
        </p:nvSpPr>
        <p:spPr>
          <a:xfrm>
            <a:off x="5989320" y="1371600"/>
            <a:ext cx="278892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5959"/>
              </a:buClr>
              <a:buSzPts val="950"/>
              <a:buFont typeface="Meiryo"/>
              <a:buNone/>
            </a:pPr>
            <a:r>
              <a:rPr lang="ja" sz="950">
                <a:solidFill>
                  <a:srgbClr val="595959"/>
                </a:solidFill>
                <a:latin typeface="M PLUS 1p"/>
                <a:ea typeface="M PLUS 1p"/>
                <a:cs typeface="M PLUS 1p"/>
                <a:sym typeface="M PLUS 1p"/>
              </a:rPr>
              <a:t>営業の介入</a:t>
            </a:r>
            <a:endParaRPr sz="950">
              <a:solidFill>
                <a:schemeClr val="dk1"/>
              </a:solidFill>
              <a:latin typeface="M PLUS 1p"/>
              <a:ea typeface="M PLUS 1p"/>
              <a:cs typeface="M PLUS 1p"/>
              <a:sym typeface="M PLUS 1p"/>
            </a:endParaRPr>
          </a:p>
        </p:txBody>
      </p:sp>
      <p:cxnSp>
        <p:nvCxnSpPr>
          <p:cNvPr id="300" name="Google Shape;300;p26"/>
          <p:cNvCxnSpPr/>
          <p:nvPr/>
        </p:nvCxnSpPr>
        <p:spPr>
          <a:xfrm>
            <a:off x="365760" y="1627632"/>
            <a:ext cx="8412480" cy="0"/>
          </a:xfrm>
          <a:prstGeom prst="straightConnector1">
            <a:avLst/>
          </a:prstGeom>
          <a:noFill/>
          <a:ln cap="flat" cmpd="sng" w="12700">
            <a:solidFill>
              <a:srgbClr val="E0E0E0"/>
            </a:solidFill>
            <a:prstDash val="solid"/>
            <a:round/>
            <a:headEnd len="sm" w="sm" type="none"/>
            <a:tailEnd len="sm" w="sm" type="none"/>
          </a:ln>
        </p:spPr>
      </p:cxnSp>
      <p:sp>
        <p:nvSpPr>
          <p:cNvPr id="301" name="Google Shape;301;p26"/>
          <p:cNvSpPr/>
          <p:nvPr/>
        </p:nvSpPr>
        <p:spPr>
          <a:xfrm>
            <a:off x="365760" y="1700784"/>
            <a:ext cx="8412480" cy="457200"/>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26"/>
          <p:cNvSpPr/>
          <p:nvPr/>
        </p:nvSpPr>
        <p:spPr>
          <a:xfrm>
            <a:off x="457200" y="1819656"/>
            <a:ext cx="237744" cy="219456"/>
          </a:xfrm>
          <a:prstGeom prst="rect">
            <a:avLst/>
          </a:prstGeom>
          <a:solidFill>
            <a:srgbClr val="FFD100"/>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26"/>
          <p:cNvSpPr txBox="1"/>
          <p:nvPr/>
        </p:nvSpPr>
        <p:spPr>
          <a:xfrm>
            <a:off x="457200" y="1819656"/>
            <a:ext cx="23774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000"/>
              <a:buFont typeface="Meiryo"/>
              <a:buNone/>
            </a:pPr>
            <a:r>
              <a:rPr b="1" lang="ja" sz="1000">
                <a:solidFill>
                  <a:srgbClr val="1A1A1A"/>
                </a:solidFill>
                <a:latin typeface="Meiryo"/>
                <a:ea typeface="Meiryo"/>
                <a:cs typeface="Meiryo"/>
                <a:sym typeface="Meiryo"/>
              </a:rPr>
              <a:t>A</a:t>
            </a:r>
            <a:endParaRPr sz="1000">
              <a:solidFill>
                <a:schemeClr val="dk1"/>
              </a:solidFill>
              <a:latin typeface="Calibri"/>
              <a:ea typeface="Calibri"/>
              <a:cs typeface="Calibri"/>
              <a:sym typeface="Calibri"/>
            </a:endParaRPr>
          </a:p>
        </p:txBody>
      </p:sp>
      <p:sp>
        <p:nvSpPr>
          <p:cNvPr id="304" name="Google Shape;304;p26"/>
          <p:cNvSpPr txBox="1"/>
          <p:nvPr/>
        </p:nvSpPr>
        <p:spPr>
          <a:xfrm>
            <a:off x="914400" y="1700784"/>
            <a:ext cx="2926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00"/>
              <a:buFont typeface="Meiryo"/>
              <a:buNone/>
            </a:pPr>
            <a:r>
              <a:rPr b="1" lang="ja" sz="1100">
                <a:solidFill>
                  <a:srgbClr val="1A1A1A"/>
                </a:solidFill>
                <a:latin typeface="M PLUS 1p"/>
                <a:ea typeface="M PLUS 1p"/>
                <a:cs typeface="M PLUS 1p"/>
                <a:sym typeface="M PLUS 1p"/>
              </a:rPr>
              <a:t>放っておいても掲載する（高確度）</a:t>
            </a:r>
            <a:endParaRPr sz="1100">
              <a:solidFill>
                <a:schemeClr val="dk1"/>
              </a:solidFill>
              <a:latin typeface="M PLUS 1p"/>
              <a:ea typeface="M PLUS 1p"/>
              <a:cs typeface="M PLUS 1p"/>
              <a:sym typeface="M PLUS 1p"/>
            </a:endParaRPr>
          </a:p>
        </p:txBody>
      </p:sp>
      <p:sp>
        <p:nvSpPr>
          <p:cNvPr id="305" name="Google Shape;305;p26"/>
          <p:cNvSpPr txBox="1"/>
          <p:nvPr/>
        </p:nvSpPr>
        <p:spPr>
          <a:xfrm>
            <a:off x="3931920" y="1700784"/>
            <a:ext cx="91440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100"/>
              <a:buFont typeface="Meiryo"/>
              <a:buNone/>
            </a:pPr>
            <a:r>
              <a:rPr lang="ja" sz="1100">
                <a:solidFill>
                  <a:srgbClr val="1A1A1A"/>
                </a:solidFill>
                <a:latin typeface="M PLUS 1p"/>
                <a:ea typeface="M PLUS 1p"/>
                <a:cs typeface="M PLUS 1p"/>
                <a:sym typeface="M PLUS 1p"/>
              </a:rPr>
              <a:t>5点</a:t>
            </a:r>
            <a:endParaRPr sz="1100">
              <a:solidFill>
                <a:schemeClr val="dk1"/>
              </a:solidFill>
              <a:latin typeface="M PLUS 1p"/>
              <a:ea typeface="M PLUS 1p"/>
              <a:cs typeface="M PLUS 1p"/>
              <a:sym typeface="M PLUS 1p"/>
            </a:endParaRPr>
          </a:p>
        </p:txBody>
      </p:sp>
      <p:sp>
        <p:nvSpPr>
          <p:cNvPr id="306" name="Google Shape;306;p26"/>
          <p:cNvSpPr txBox="1"/>
          <p:nvPr/>
        </p:nvSpPr>
        <p:spPr>
          <a:xfrm>
            <a:off x="4937760" y="1700784"/>
            <a:ext cx="86868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100"/>
              <a:buFont typeface="Meiryo"/>
              <a:buNone/>
            </a:pPr>
            <a:r>
              <a:rPr lang="ja" sz="1100">
                <a:solidFill>
                  <a:srgbClr val="1A1A1A"/>
                </a:solidFill>
                <a:latin typeface="M PLUS 1p"/>
                <a:ea typeface="M PLUS 1p"/>
                <a:cs typeface="M PLUS 1p"/>
                <a:sym typeface="M PLUS 1p"/>
              </a:rPr>
              <a:t>2点</a:t>
            </a:r>
            <a:endParaRPr sz="1100">
              <a:solidFill>
                <a:schemeClr val="dk1"/>
              </a:solidFill>
              <a:latin typeface="M PLUS 1p"/>
              <a:ea typeface="M PLUS 1p"/>
              <a:cs typeface="M PLUS 1p"/>
              <a:sym typeface="M PLUS 1p"/>
            </a:endParaRPr>
          </a:p>
        </p:txBody>
      </p:sp>
      <p:sp>
        <p:nvSpPr>
          <p:cNvPr id="307" name="Google Shape;307;p26"/>
          <p:cNvSpPr/>
          <p:nvPr/>
        </p:nvSpPr>
        <p:spPr>
          <a:xfrm>
            <a:off x="5989320" y="1746504"/>
            <a:ext cx="2788920" cy="365760"/>
          </a:xfrm>
          <a:prstGeom prst="rect">
            <a:avLst/>
          </a:prstGeom>
          <a:solidFill>
            <a:srgbClr val="FFF6D9"/>
          </a:solidFill>
          <a:ln cap="flat" cmpd="sng" w="12700">
            <a:solidFill>
              <a:srgbClr val="FFF6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26"/>
          <p:cNvSpPr txBox="1"/>
          <p:nvPr/>
        </p:nvSpPr>
        <p:spPr>
          <a:xfrm>
            <a:off x="6099048" y="1746504"/>
            <a:ext cx="2606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Meiryo"/>
              <a:buNone/>
            </a:pPr>
            <a:r>
              <a:rPr lang="ja" sz="1050">
                <a:solidFill>
                  <a:srgbClr val="1A1A1A"/>
                </a:solidFill>
                <a:latin typeface="M PLUS 1p"/>
                <a:ea typeface="M PLUS 1p"/>
                <a:cs typeface="M PLUS 1p"/>
                <a:sym typeface="M PLUS 1p"/>
              </a:rPr>
              <a:t>当月なし　→　翌月は電話</a:t>
            </a:r>
            <a:endParaRPr sz="1050">
              <a:solidFill>
                <a:schemeClr val="dk1"/>
              </a:solidFill>
              <a:latin typeface="M PLUS 1p"/>
              <a:ea typeface="M PLUS 1p"/>
              <a:cs typeface="M PLUS 1p"/>
              <a:sym typeface="M PLUS 1p"/>
            </a:endParaRPr>
          </a:p>
        </p:txBody>
      </p:sp>
      <p:sp>
        <p:nvSpPr>
          <p:cNvPr id="309" name="Google Shape;309;p26"/>
          <p:cNvSpPr/>
          <p:nvPr/>
        </p:nvSpPr>
        <p:spPr>
          <a:xfrm>
            <a:off x="365760" y="2212848"/>
            <a:ext cx="8412480" cy="457200"/>
          </a:xfrm>
          <a:prstGeom prst="rect">
            <a:avLst/>
          </a:prstGeom>
          <a:solidFill>
            <a:srgbClr val="FAFAFA"/>
          </a:solidFill>
          <a:ln cap="flat" cmpd="sng" w="12700">
            <a:solidFill>
              <a:srgbClr val="FAFAF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26"/>
          <p:cNvSpPr/>
          <p:nvPr/>
        </p:nvSpPr>
        <p:spPr>
          <a:xfrm>
            <a:off x="457200" y="2331720"/>
            <a:ext cx="237744" cy="219456"/>
          </a:xfrm>
          <a:prstGeom prst="rect">
            <a:avLst/>
          </a:prstGeom>
          <a:solidFill>
            <a:srgbClr val="FFD100"/>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26"/>
          <p:cNvSpPr txBox="1"/>
          <p:nvPr/>
        </p:nvSpPr>
        <p:spPr>
          <a:xfrm>
            <a:off x="457200" y="2331720"/>
            <a:ext cx="23774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000"/>
              <a:buFont typeface="Meiryo"/>
              <a:buNone/>
            </a:pPr>
            <a:r>
              <a:rPr b="1" lang="ja" sz="1000">
                <a:solidFill>
                  <a:srgbClr val="1A1A1A"/>
                </a:solidFill>
                <a:latin typeface="Meiryo"/>
                <a:ea typeface="Meiryo"/>
                <a:cs typeface="Meiryo"/>
                <a:sym typeface="Meiryo"/>
              </a:rPr>
              <a:t>B</a:t>
            </a:r>
            <a:endParaRPr sz="1000">
              <a:solidFill>
                <a:schemeClr val="dk1"/>
              </a:solidFill>
              <a:latin typeface="Calibri"/>
              <a:ea typeface="Calibri"/>
              <a:cs typeface="Calibri"/>
              <a:sym typeface="Calibri"/>
            </a:endParaRPr>
          </a:p>
        </p:txBody>
      </p:sp>
      <p:sp>
        <p:nvSpPr>
          <p:cNvPr id="312" name="Google Shape;312;p26"/>
          <p:cNvSpPr txBox="1"/>
          <p:nvPr/>
        </p:nvSpPr>
        <p:spPr>
          <a:xfrm>
            <a:off x="914400" y="2212848"/>
            <a:ext cx="2926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00"/>
              <a:buFont typeface="Meiryo"/>
              <a:buNone/>
            </a:pPr>
            <a:r>
              <a:rPr b="1" lang="ja" sz="1100">
                <a:solidFill>
                  <a:srgbClr val="1A1A1A"/>
                </a:solidFill>
                <a:latin typeface="M PLUS 1p"/>
                <a:ea typeface="M PLUS 1p"/>
                <a:cs typeface="M PLUS 1p"/>
                <a:sym typeface="M PLUS 1p"/>
              </a:rPr>
              <a:t>少しの押しで掲載する（中高確度）</a:t>
            </a:r>
            <a:endParaRPr sz="1100">
              <a:solidFill>
                <a:schemeClr val="dk1"/>
              </a:solidFill>
              <a:latin typeface="M PLUS 1p"/>
              <a:ea typeface="M PLUS 1p"/>
              <a:cs typeface="M PLUS 1p"/>
              <a:sym typeface="M PLUS 1p"/>
            </a:endParaRPr>
          </a:p>
        </p:txBody>
      </p:sp>
      <p:sp>
        <p:nvSpPr>
          <p:cNvPr id="313" name="Google Shape;313;p26"/>
          <p:cNvSpPr txBox="1"/>
          <p:nvPr/>
        </p:nvSpPr>
        <p:spPr>
          <a:xfrm>
            <a:off x="3931920" y="2212848"/>
            <a:ext cx="91440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100"/>
              <a:buFont typeface="Meiryo"/>
              <a:buNone/>
            </a:pPr>
            <a:r>
              <a:rPr lang="ja" sz="1100">
                <a:solidFill>
                  <a:srgbClr val="1A1A1A"/>
                </a:solidFill>
                <a:latin typeface="M PLUS 1p"/>
                <a:ea typeface="M PLUS 1p"/>
                <a:cs typeface="M PLUS 1p"/>
                <a:sym typeface="M PLUS 1p"/>
              </a:rPr>
              <a:t>3〜4点</a:t>
            </a:r>
            <a:endParaRPr sz="1100">
              <a:solidFill>
                <a:schemeClr val="dk1"/>
              </a:solidFill>
              <a:latin typeface="M PLUS 1p"/>
              <a:ea typeface="M PLUS 1p"/>
              <a:cs typeface="M PLUS 1p"/>
              <a:sym typeface="M PLUS 1p"/>
            </a:endParaRPr>
          </a:p>
        </p:txBody>
      </p:sp>
      <p:sp>
        <p:nvSpPr>
          <p:cNvPr id="314" name="Google Shape;314;p26"/>
          <p:cNvSpPr txBox="1"/>
          <p:nvPr/>
        </p:nvSpPr>
        <p:spPr>
          <a:xfrm>
            <a:off x="4937760" y="2212848"/>
            <a:ext cx="86868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100"/>
              <a:buFont typeface="Meiryo"/>
              <a:buNone/>
            </a:pPr>
            <a:r>
              <a:rPr lang="ja" sz="1100">
                <a:solidFill>
                  <a:srgbClr val="1A1A1A"/>
                </a:solidFill>
                <a:latin typeface="M PLUS 1p"/>
                <a:ea typeface="M PLUS 1p"/>
                <a:cs typeface="M PLUS 1p"/>
                <a:sym typeface="M PLUS 1p"/>
              </a:rPr>
              <a:t>1点</a:t>
            </a:r>
            <a:endParaRPr sz="1100">
              <a:solidFill>
                <a:schemeClr val="dk1"/>
              </a:solidFill>
              <a:latin typeface="M PLUS 1p"/>
              <a:ea typeface="M PLUS 1p"/>
              <a:cs typeface="M PLUS 1p"/>
              <a:sym typeface="M PLUS 1p"/>
            </a:endParaRPr>
          </a:p>
        </p:txBody>
      </p:sp>
      <p:sp>
        <p:nvSpPr>
          <p:cNvPr id="315" name="Google Shape;315;p26"/>
          <p:cNvSpPr/>
          <p:nvPr/>
        </p:nvSpPr>
        <p:spPr>
          <a:xfrm>
            <a:off x="5989320" y="2258568"/>
            <a:ext cx="2788920" cy="365760"/>
          </a:xfrm>
          <a:prstGeom prst="rect">
            <a:avLst/>
          </a:prstGeom>
          <a:solidFill>
            <a:srgbClr val="FFF6D9"/>
          </a:solidFill>
          <a:ln cap="flat" cmpd="sng" w="12700">
            <a:solidFill>
              <a:srgbClr val="FFF6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26"/>
          <p:cNvSpPr txBox="1"/>
          <p:nvPr/>
        </p:nvSpPr>
        <p:spPr>
          <a:xfrm>
            <a:off x="6099048" y="2258568"/>
            <a:ext cx="2606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Meiryo"/>
              <a:buNone/>
            </a:pPr>
            <a:r>
              <a:rPr lang="ja" sz="1050">
                <a:solidFill>
                  <a:srgbClr val="1A1A1A"/>
                </a:solidFill>
                <a:latin typeface="M PLUS 1p"/>
                <a:ea typeface="M PLUS 1p"/>
                <a:cs typeface="M PLUS 1p"/>
                <a:sym typeface="M PLUS 1p"/>
              </a:rPr>
              <a:t>当月なし　→　翌月は電話</a:t>
            </a:r>
            <a:endParaRPr sz="1050">
              <a:solidFill>
                <a:schemeClr val="dk1"/>
              </a:solidFill>
              <a:latin typeface="M PLUS 1p"/>
              <a:ea typeface="M PLUS 1p"/>
              <a:cs typeface="M PLUS 1p"/>
              <a:sym typeface="M PLUS 1p"/>
            </a:endParaRPr>
          </a:p>
        </p:txBody>
      </p:sp>
      <p:sp>
        <p:nvSpPr>
          <p:cNvPr id="317" name="Google Shape;317;p26"/>
          <p:cNvSpPr/>
          <p:nvPr/>
        </p:nvSpPr>
        <p:spPr>
          <a:xfrm>
            <a:off x="365760" y="2724912"/>
            <a:ext cx="8412480" cy="457200"/>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8" name="Google Shape;318;p26"/>
          <p:cNvSpPr/>
          <p:nvPr/>
        </p:nvSpPr>
        <p:spPr>
          <a:xfrm>
            <a:off x="457200" y="2843784"/>
            <a:ext cx="237744" cy="219456"/>
          </a:xfrm>
          <a:prstGeom prst="rect">
            <a:avLst/>
          </a:prstGeom>
          <a:solidFill>
            <a:srgbClr val="FFD100"/>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26"/>
          <p:cNvSpPr txBox="1"/>
          <p:nvPr/>
        </p:nvSpPr>
        <p:spPr>
          <a:xfrm>
            <a:off x="457200" y="2843784"/>
            <a:ext cx="23774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000"/>
              <a:buFont typeface="Meiryo"/>
              <a:buNone/>
            </a:pPr>
            <a:r>
              <a:rPr b="1" lang="ja" sz="1000">
                <a:solidFill>
                  <a:srgbClr val="1A1A1A"/>
                </a:solidFill>
                <a:latin typeface="Meiryo"/>
                <a:ea typeface="Meiryo"/>
                <a:cs typeface="Meiryo"/>
                <a:sym typeface="Meiryo"/>
              </a:rPr>
              <a:t>C</a:t>
            </a:r>
            <a:endParaRPr sz="1000">
              <a:solidFill>
                <a:schemeClr val="dk1"/>
              </a:solidFill>
              <a:latin typeface="Calibri"/>
              <a:ea typeface="Calibri"/>
              <a:cs typeface="Calibri"/>
              <a:sym typeface="Calibri"/>
            </a:endParaRPr>
          </a:p>
        </p:txBody>
      </p:sp>
      <p:sp>
        <p:nvSpPr>
          <p:cNvPr id="320" name="Google Shape;320;p26"/>
          <p:cNvSpPr txBox="1"/>
          <p:nvPr/>
        </p:nvSpPr>
        <p:spPr>
          <a:xfrm>
            <a:off x="914400" y="2724912"/>
            <a:ext cx="2926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00"/>
              <a:buFont typeface="Meiryo"/>
              <a:buNone/>
            </a:pPr>
            <a:r>
              <a:rPr b="1" lang="ja" sz="1100">
                <a:solidFill>
                  <a:srgbClr val="1A1A1A"/>
                </a:solidFill>
                <a:latin typeface="M PLUS 1p"/>
                <a:ea typeface="M PLUS 1p"/>
                <a:cs typeface="M PLUS 1p"/>
                <a:sym typeface="M PLUS 1p"/>
              </a:rPr>
              <a:t>迷い・ハードルがある（中確度）</a:t>
            </a:r>
            <a:endParaRPr sz="1100">
              <a:solidFill>
                <a:schemeClr val="dk1"/>
              </a:solidFill>
              <a:latin typeface="M PLUS 1p"/>
              <a:ea typeface="M PLUS 1p"/>
              <a:cs typeface="M PLUS 1p"/>
              <a:sym typeface="M PLUS 1p"/>
            </a:endParaRPr>
          </a:p>
        </p:txBody>
      </p:sp>
      <p:sp>
        <p:nvSpPr>
          <p:cNvPr id="321" name="Google Shape;321;p26"/>
          <p:cNvSpPr txBox="1"/>
          <p:nvPr/>
        </p:nvSpPr>
        <p:spPr>
          <a:xfrm>
            <a:off x="3931920" y="2724912"/>
            <a:ext cx="91440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100"/>
              <a:buFont typeface="Meiryo"/>
              <a:buNone/>
            </a:pPr>
            <a:r>
              <a:rPr lang="ja" sz="1100">
                <a:solidFill>
                  <a:srgbClr val="1A1A1A"/>
                </a:solidFill>
                <a:latin typeface="M PLUS 1p"/>
                <a:ea typeface="M PLUS 1p"/>
                <a:cs typeface="M PLUS 1p"/>
                <a:sym typeface="M PLUS 1p"/>
              </a:rPr>
              <a:t>2点</a:t>
            </a:r>
            <a:endParaRPr sz="1100">
              <a:solidFill>
                <a:schemeClr val="dk1"/>
              </a:solidFill>
              <a:latin typeface="M PLUS 1p"/>
              <a:ea typeface="M PLUS 1p"/>
              <a:cs typeface="M PLUS 1p"/>
              <a:sym typeface="M PLUS 1p"/>
            </a:endParaRPr>
          </a:p>
        </p:txBody>
      </p:sp>
      <p:sp>
        <p:nvSpPr>
          <p:cNvPr id="322" name="Google Shape;322;p26"/>
          <p:cNvSpPr txBox="1"/>
          <p:nvPr/>
        </p:nvSpPr>
        <p:spPr>
          <a:xfrm>
            <a:off x="4937760" y="2724912"/>
            <a:ext cx="86868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100"/>
              <a:buFont typeface="Meiryo"/>
              <a:buNone/>
            </a:pPr>
            <a:r>
              <a:rPr lang="ja" sz="1100">
                <a:solidFill>
                  <a:srgbClr val="1A1A1A"/>
                </a:solidFill>
                <a:latin typeface="M PLUS 1p"/>
                <a:ea typeface="M PLUS 1p"/>
                <a:cs typeface="M PLUS 1p"/>
                <a:sym typeface="M PLUS 1p"/>
              </a:rPr>
              <a:t>0点</a:t>
            </a:r>
            <a:endParaRPr sz="1100">
              <a:solidFill>
                <a:schemeClr val="dk1"/>
              </a:solidFill>
              <a:latin typeface="M PLUS 1p"/>
              <a:ea typeface="M PLUS 1p"/>
              <a:cs typeface="M PLUS 1p"/>
              <a:sym typeface="M PLUS 1p"/>
            </a:endParaRPr>
          </a:p>
        </p:txBody>
      </p:sp>
      <p:sp>
        <p:nvSpPr>
          <p:cNvPr id="323" name="Google Shape;323;p26"/>
          <p:cNvSpPr/>
          <p:nvPr/>
        </p:nvSpPr>
        <p:spPr>
          <a:xfrm>
            <a:off x="5989320" y="2770632"/>
            <a:ext cx="2788920" cy="365760"/>
          </a:xfrm>
          <a:prstGeom prst="rect">
            <a:avLst/>
          </a:prstGeom>
          <a:solidFill>
            <a:srgbClr val="FFD100"/>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26"/>
          <p:cNvSpPr txBox="1"/>
          <p:nvPr/>
        </p:nvSpPr>
        <p:spPr>
          <a:xfrm>
            <a:off x="6099048" y="2770632"/>
            <a:ext cx="2606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Meiryo"/>
              <a:buNone/>
            </a:pPr>
            <a:r>
              <a:rPr b="1" lang="ja" sz="1050">
                <a:solidFill>
                  <a:srgbClr val="1A1A1A"/>
                </a:solidFill>
                <a:latin typeface="M PLUS 1p"/>
                <a:ea typeface="M PLUS 1p"/>
                <a:cs typeface="M PLUS 1p"/>
                <a:sym typeface="M PLUS 1p"/>
              </a:rPr>
              <a:t>当月は電話　→　翌月は対面／WEB商談</a:t>
            </a:r>
            <a:endParaRPr sz="1050">
              <a:solidFill>
                <a:schemeClr val="dk1"/>
              </a:solidFill>
              <a:latin typeface="M PLUS 1p"/>
              <a:ea typeface="M PLUS 1p"/>
              <a:cs typeface="M PLUS 1p"/>
              <a:sym typeface="M PLUS 1p"/>
            </a:endParaRPr>
          </a:p>
        </p:txBody>
      </p:sp>
      <p:sp>
        <p:nvSpPr>
          <p:cNvPr id="325" name="Google Shape;325;p26"/>
          <p:cNvSpPr/>
          <p:nvPr/>
        </p:nvSpPr>
        <p:spPr>
          <a:xfrm>
            <a:off x="365760" y="3236976"/>
            <a:ext cx="8412480" cy="457200"/>
          </a:xfrm>
          <a:prstGeom prst="rect">
            <a:avLst/>
          </a:prstGeom>
          <a:solidFill>
            <a:srgbClr val="FAFAFA"/>
          </a:solidFill>
          <a:ln cap="flat" cmpd="sng" w="12700">
            <a:solidFill>
              <a:srgbClr val="FAFAF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26"/>
          <p:cNvSpPr/>
          <p:nvPr/>
        </p:nvSpPr>
        <p:spPr>
          <a:xfrm>
            <a:off x="457200" y="3355848"/>
            <a:ext cx="237744" cy="219456"/>
          </a:xfrm>
          <a:prstGeom prst="rect">
            <a:avLst/>
          </a:prstGeom>
          <a:solidFill>
            <a:srgbClr val="FFD100"/>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26"/>
          <p:cNvSpPr txBox="1"/>
          <p:nvPr/>
        </p:nvSpPr>
        <p:spPr>
          <a:xfrm>
            <a:off x="457200" y="3355848"/>
            <a:ext cx="23774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000"/>
              <a:buFont typeface="Meiryo"/>
              <a:buNone/>
            </a:pPr>
            <a:r>
              <a:rPr b="1" lang="ja" sz="1000">
                <a:solidFill>
                  <a:srgbClr val="1A1A1A"/>
                </a:solidFill>
                <a:latin typeface="Meiryo"/>
                <a:ea typeface="Meiryo"/>
                <a:cs typeface="Meiryo"/>
                <a:sym typeface="Meiryo"/>
              </a:rPr>
              <a:t>D</a:t>
            </a:r>
            <a:endParaRPr sz="1000">
              <a:solidFill>
                <a:schemeClr val="dk1"/>
              </a:solidFill>
              <a:latin typeface="Calibri"/>
              <a:ea typeface="Calibri"/>
              <a:cs typeface="Calibri"/>
              <a:sym typeface="Calibri"/>
            </a:endParaRPr>
          </a:p>
        </p:txBody>
      </p:sp>
      <p:sp>
        <p:nvSpPr>
          <p:cNvPr id="328" name="Google Shape;328;p26"/>
          <p:cNvSpPr txBox="1"/>
          <p:nvPr/>
        </p:nvSpPr>
        <p:spPr>
          <a:xfrm>
            <a:off x="914400" y="3236976"/>
            <a:ext cx="2926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00"/>
              <a:buFont typeface="Meiryo"/>
              <a:buNone/>
            </a:pPr>
            <a:r>
              <a:rPr b="1" lang="ja" sz="1100">
                <a:solidFill>
                  <a:srgbClr val="1A1A1A"/>
                </a:solidFill>
                <a:latin typeface="M PLUS 1p"/>
                <a:ea typeface="M PLUS 1p"/>
                <a:cs typeface="M PLUS 1p"/>
                <a:sym typeface="M PLUS 1p"/>
              </a:rPr>
              <a:t>優先度低・関心が薄い（低確度）</a:t>
            </a:r>
            <a:endParaRPr sz="1100">
              <a:solidFill>
                <a:schemeClr val="dk1"/>
              </a:solidFill>
              <a:latin typeface="M PLUS 1p"/>
              <a:ea typeface="M PLUS 1p"/>
              <a:cs typeface="M PLUS 1p"/>
              <a:sym typeface="M PLUS 1p"/>
            </a:endParaRPr>
          </a:p>
        </p:txBody>
      </p:sp>
      <p:sp>
        <p:nvSpPr>
          <p:cNvPr id="329" name="Google Shape;329;p26"/>
          <p:cNvSpPr txBox="1"/>
          <p:nvPr/>
        </p:nvSpPr>
        <p:spPr>
          <a:xfrm>
            <a:off x="3931920" y="3236976"/>
            <a:ext cx="91440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100"/>
              <a:buFont typeface="Meiryo"/>
              <a:buNone/>
            </a:pPr>
            <a:r>
              <a:rPr lang="ja" sz="1100">
                <a:solidFill>
                  <a:srgbClr val="1A1A1A"/>
                </a:solidFill>
                <a:latin typeface="M PLUS 1p"/>
                <a:ea typeface="M PLUS 1p"/>
                <a:cs typeface="M PLUS 1p"/>
                <a:sym typeface="M PLUS 1p"/>
              </a:rPr>
              <a:t>0〜1点</a:t>
            </a:r>
            <a:endParaRPr sz="1100">
              <a:solidFill>
                <a:schemeClr val="dk1"/>
              </a:solidFill>
              <a:latin typeface="M PLUS 1p"/>
              <a:ea typeface="M PLUS 1p"/>
              <a:cs typeface="M PLUS 1p"/>
              <a:sym typeface="M PLUS 1p"/>
            </a:endParaRPr>
          </a:p>
        </p:txBody>
      </p:sp>
      <p:sp>
        <p:nvSpPr>
          <p:cNvPr id="330" name="Google Shape;330;p26"/>
          <p:cNvSpPr txBox="1"/>
          <p:nvPr/>
        </p:nvSpPr>
        <p:spPr>
          <a:xfrm>
            <a:off x="4937760" y="3236976"/>
            <a:ext cx="86868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100"/>
              <a:buFont typeface="Meiryo"/>
              <a:buNone/>
            </a:pPr>
            <a:r>
              <a:rPr lang="ja" sz="1100">
                <a:solidFill>
                  <a:srgbClr val="1A1A1A"/>
                </a:solidFill>
                <a:latin typeface="M PLUS 1p"/>
                <a:ea typeface="M PLUS 1p"/>
                <a:cs typeface="M PLUS 1p"/>
                <a:sym typeface="M PLUS 1p"/>
              </a:rPr>
              <a:t>−2点</a:t>
            </a:r>
            <a:endParaRPr sz="1100">
              <a:solidFill>
                <a:schemeClr val="dk1"/>
              </a:solidFill>
              <a:latin typeface="M PLUS 1p"/>
              <a:ea typeface="M PLUS 1p"/>
              <a:cs typeface="M PLUS 1p"/>
              <a:sym typeface="M PLUS 1p"/>
            </a:endParaRPr>
          </a:p>
        </p:txBody>
      </p:sp>
      <p:sp>
        <p:nvSpPr>
          <p:cNvPr id="331" name="Google Shape;331;p26"/>
          <p:cNvSpPr/>
          <p:nvPr/>
        </p:nvSpPr>
        <p:spPr>
          <a:xfrm>
            <a:off x="5989320" y="3282696"/>
            <a:ext cx="2788920" cy="365760"/>
          </a:xfrm>
          <a:prstGeom prst="rect">
            <a:avLst/>
          </a:prstGeom>
          <a:solidFill>
            <a:srgbClr val="FFD100"/>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26"/>
          <p:cNvSpPr txBox="1"/>
          <p:nvPr/>
        </p:nvSpPr>
        <p:spPr>
          <a:xfrm>
            <a:off x="6099048" y="3282696"/>
            <a:ext cx="2606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50"/>
              <a:buFont typeface="Meiryo"/>
              <a:buNone/>
            </a:pPr>
            <a:r>
              <a:rPr b="1" lang="ja" sz="1050">
                <a:solidFill>
                  <a:srgbClr val="1A1A1A"/>
                </a:solidFill>
                <a:latin typeface="M PLUS 1p"/>
                <a:ea typeface="M PLUS 1p"/>
                <a:cs typeface="M PLUS 1p"/>
                <a:sym typeface="M PLUS 1p"/>
              </a:rPr>
              <a:t>当月は電話　→　翌月は対面商談（関東）</a:t>
            </a:r>
            <a:endParaRPr sz="1050">
              <a:solidFill>
                <a:schemeClr val="dk1"/>
              </a:solidFill>
              <a:latin typeface="M PLUS 1p"/>
              <a:ea typeface="M PLUS 1p"/>
              <a:cs typeface="M PLUS 1p"/>
              <a:sym typeface="M PLUS 1p"/>
            </a:endParaRPr>
          </a:p>
        </p:txBody>
      </p:sp>
      <p:sp>
        <p:nvSpPr>
          <p:cNvPr id="333" name="Google Shape;333;p26"/>
          <p:cNvSpPr/>
          <p:nvPr/>
        </p:nvSpPr>
        <p:spPr>
          <a:xfrm>
            <a:off x="365760" y="3749040"/>
            <a:ext cx="8412480" cy="457200"/>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26"/>
          <p:cNvSpPr/>
          <p:nvPr/>
        </p:nvSpPr>
        <p:spPr>
          <a:xfrm>
            <a:off x="457200" y="3867912"/>
            <a:ext cx="237744" cy="219456"/>
          </a:xfrm>
          <a:prstGeom prst="rect">
            <a:avLst/>
          </a:prstGeom>
          <a:solidFill>
            <a:srgbClr val="8C8C8C"/>
          </a:solidFill>
          <a:ln cap="flat" cmpd="sng" w="12700">
            <a:solidFill>
              <a:srgbClr val="8C8C8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26"/>
          <p:cNvSpPr txBox="1"/>
          <p:nvPr/>
        </p:nvSpPr>
        <p:spPr>
          <a:xfrm>
            <a:off x="457200" y="3867912"/>
            <a:ext cx="23774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Meiryo"/>
              <a:buNone/>
            </a:pPr>
            <a:r>
              <a:rPr b="1" lang="ja" sz="1000">
                <a:solidFill>
                  <a:srgbClr val="FFFFFF"/>
                </a:solidFill>
                <a:latin typeface="Meiryo"/>
                <a:ea typeface="Meiryo"/>
                <a:cs typeface="Meiryo"/>
                <a:sym typeface="Meiryo"/>
              </a:rPr>
              <a:t>E</a:t>
            </a:r>
            <a:endParaRPr sz="1000">
              <a:solidFill>
                <a:schemeClr val="dk1"/>
              </a:solidFill>
              <a:latin typeface="Calibri"/>
              <a:ea typeface="Calibri"/>
              <a:cs typeface="Calibri"/>
              <a:sym typeface="Calibri"/>
            </a:endParaRPr>
          </a:p>
        </p:txBody>
      </p:sp>
      <p:sp>
        <p:nvSpPr>
          <p:cNvPr id="336" name="Google Shape;336;p26"/>
          <p:cNvSpPr txBox="1"/>
          <p:nvPr/>
        </p:nvSpPr>
        <p:spPr>
          <a:xfrm>
            <a:off x="914400" y="3749040"/>
            <a:ext cx="29260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5959"/>
              </a:buClr>
              <a:buSzPts val="1100"/>
              <a:buFont typeface="Meiryo"/>
              <a:buNone/>
            </a:pPr>
            <a:r>
              <a:rPr b="1" lang="ja" sz="1100">
                <a:solidFill>
                  <a:srgbClr val="595959"/>
                </a:solidFill>
                <a:latin typeface="M PLUS 1p"/>
                <a:ea typeface="M PLUS 1p"/>
                <a:cs typeface="M PLUS 1p"/>
                <a:sym typeface="M PLUS 1p"/>
              </a:rPr>
              <a:t>掲載可能性が極めて低い</a:t>
            </a:r>
            <a:endParaRPr sz="1100">
              <a:solidFill>
                <a:schemeClr val="dk1"/>
              </a:solidFill>
              <a:latin typeface="M PLUS 1p"/>
              <a:ea typeface="M PLUS 1p"/>
              <a:cs typeface="M PLUS 1p"/>
              <a:sym typeface="M PLUS 1p"/>
            </a:endParaRPr>
          </a:p>
        </p:txBody>
      </p:sp>
      <p:sp>
        <p:nvSpPr>
          <p:cNvPr id="337" name="Google Shape;337;p26"/>
          <p:cNvSpPr txBox="1"/>
          <p:nvPr/>
        </p:nvSpPr>
        <p:spPr>
          <a:xfrm>
            <a:off x="3931920" y="3749040"/>
            <a:ext cx="91440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95959"/>
              </a:buClr>
              <a:buSzPts val="1100"/>
              <a:buFont typeface="Meiryo"/>
              <a:buNone/>
            </a:pPr>
            <a:r>
              <a:rPr lang="ja" sz="1100">
                <a:solidFill>
                  <a:srgbClr val="595959"/>
                </a:solidFill>
                <a:latin typeface="M PLUS 1p"/>
                <a:ea typeface="M PLUS 1p"/>
                <a:cs typeface="M PLUS 1p"/>
                <a:sym typeface="M PLUS 1p"/>
              </a:rPr>
              <a:t>−1〜−3点</a:t>
            </a:r>
            <a:endParaRPr sz="1100">
              <a:solidFill>
                <a:schemeClr val="dk1"/>
              </a:solidFill>
              <a:latin typeface="M PLUS 1p"/>
              <a:ea typeface="M PLUS 1p"/>
              <a:cs typeface="M PLUS 1p"/>
              <a:sym typeface="M PLUS 1p"/>
            </a:endParaRPr>
          </a:p>
        </p:txBody>
      </p:sp>
      <p:sp>
        <p:nvSpPr>
          <p:cNvPr id="338" name="Google Shape;338;p26"/>
          <p:cNvSpPr txBox="1"/>
          <p:nvPr/>
        </p:nvSpPr>
        <p:spPr>
          <a:xfrm>
            <a:off x="4937760" y="3749040"/>
            <a:ext cx="86868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95959"/>
              </a:buClr>
              <a:buSzPts val="1100"/>
              <a:buFont typeface="Meiryo"/>
              <a:buNone/>
            </a:pPr>
            <a:r>
              <a:rPr lang="ja" sz="1100">
                <a:solidFill>
                  <a:srgbClr val="595959"/>
                </a:solidFill>
                <a:latin typeface="M PLUS 1p"/>
                <a:ea typeface="M PLUS 1p"/>
                <a:cs typeface="M PLUS 1p"/>
                <a:sym typeface="M PLUS 1p"/>
              </a:rPr>
              <a:t>−3〜−4点</a:t>
            </a:r>
            <a:endParaRPr sz="1100">
              <a:solidFill>
                <a:schemeClr val="dk1"/>
              </a:solidFill>
              <a:latin typeface="M PLUS 1p"/>
              <a:ea typeface="M PLUS 1p"/>
              <a:cs typeface="M PLUS 1p"/>
              <a:sym typeface="M PLUS 1p"/>
            </a:endParaRPr>
          </a:p>
        </p:txBody>
      </p:sp>
      <p:sp>
        <p:nvSpPr>
          <p:cNvPr id="339" name="Google Shape;339;p26"/>
          <p:cNvSpPr/>
          <p:nvPr/>
        </p:nvSpPr>
        <p:spPr>
          <a:xfrm>
            <a:off x="5989320" y="3794760"/>
            <a:ext cx="2788920" cy="365760"/>
          </a:xfrm>
          <a:prstGeom prst="rect">
            <a:avLst/>
          </a:prstGeom>
          <a:solidFill>
            <a:srgbClr val="EDEDED"/>
          </a:solidFill>
          <a:ln cap="flat" cmpd="sng" w="12700">
            <a:solidFill>
              <a:srgbClr val="EDED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26"/>
          <p:cNvSpPr txBox="1"/>
          <p:nvPr/>
        </p:nvSpPr>
        <p:spPr>
          <a:xfrm>
            <a:off x="6099048" y="3794760"/>
            <a:ext cx="2606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5959"/>
              </a:buClr>
              <a:buSzPts val="1050"/>
              <a:buFont typeface="Meiryo"/>
              <a:buNone/>
            </a:pPr>
            <a:r>
              <a:rPr lang="ja" sz="1050">
                <a:solidFill>
                  <a:srgbClr val="595959"/>
                </a:solidFill>
                <a:latin typeface="M PLUS 1p"/>
                <a:ea typeface="M PLUS 1p"/>
                <a:cs typeface="M PLUS 1p"/>
                <a:sym typeface="M PLUS 1p"/>
              </a:rPr>
              <a:t>当月・翌月ともに個別介入なし</a:t>
            </a:r>
            <a:endParaRPr sz="1050">
              <a:solidFill>
                <a:schemeClr val="dk1"/>
              </a:solidFill>
              <a:latin typeface="M PLUS 1p"/>
              <a:ea typeface="M PLUS 1p"/>
              <a:cs typeface="M PLUS 1p"/>
              <a:sym typeface="M PLUS 1p"/>
            </a:endParaRPr>
          </a:p>
        </p:txBody>
      </p:sp>
      <p:sp>
        <p:nvSpPr>
          <p:cNvPr id="341" name="Google Shape;341;p26"/>
          <p:cNvSpPr txBox="1"/>
          <p:nvPr/>
        </p:nvSpPr>
        <p:spPr>
          <a:xfrm>
            <a:off x="365760" y="4343400"/>
            <a:ext cx="84124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5959"/>
              </a:buClr>
              <a:buSzPts val="850"/>
              <a:buFont typeface="Meiryo"/>
              <a:buNone/>
            </a:pPr>
            <a:r>
              <a:rPr lang="ja" sz="850">
                <a:solidFill>
                  <a:srgbClr val="595959"/>
                </a:solidFill>
                <a:latin typeface="M PLUS 1p"/>
                <a:ea typeface="M PLUS 1p"/>
                <a:cs typeface="M PLUS 1p"/>
                <a:sym typeface="M PLUS 1p"/>
              </a:rPr>
              <a:t>顧客の状態は実行設計上の想定。当月の点は当月スコア、翌月の点は翌月スコアで判定する。濃い黄色は当月から営業が動くランク。</a:t>
            </a:r>
            <a:endParaRPr sz="850">
              <a:solidFill>
                <a:schemeClr val="dk1"/>
              </a:solidFill>
              <a:latin typeface="M PLUS 1p"/>
              <a:ea typeface="M PLUS 1p"/>
              <a:cs typeface="M PLUS 1p"/>
              <a:sym typeface="M PLUS 1p"/>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 name="Shape 346"/>
        <p:cNvGrpSpPr/>
        <p:nvPr/>
      </p:nvGrpSpPr>
      <p:grpSpPr>
        <a:xfrm>
          <a:off x="0" y="0"/>
          <a:ext cx="0" cy="0"/>
          <a:chOff x="0" y="0"/>
          <a:chExt cx="0" cy="0"/>
        </a:xfrm>
      </p:grpSpPr>
      <p:sp>
        <p:nvSpPr>
          <p:cNvPr id="347" name="Google Shape;347;p27"/>
          <p:cNvSpPr txBox="1"/>
          <p:nvPr/>
        </p:nvSpPr>
        <p:spPr>
          <a:xfrm>
            <a:off x="365760" y="182880"/>
            <a:ext cx="75895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Meiryo"/>
              <a:buNone/>
            </a:pPr>
            <a:r>
              <a:rPr b="1" lang="ja" sz="2000">
                <a:solidFill>
                  <a:srgbClr val="1A1A1A"/>
                </a:solidFill>
                <a:latin typeface="M PLUS 1p"/>
                <a:ea typeface="M PLUS 1p"/>
                <a:cs typeface="M PLUS 1p"/>
                <a:sym typeface="M PLUS 1p"/>
              </a:rPr>
              <a:t>過去実績でも、スコアが高い顧客ほど継続率が高い</a:t>
            </a:r>
            <a:endParaRPr sz="2000">
              <a:solidFill>
                <a:schemeClr val="dk1"/>
              </a:solidFill>
              <a:latin typeface="M PLUS 1p"/>
              <a:ea typeface="M PLUS 1p"/>
              <a:cs typeface="M PLUS 1p"/>
              <a:sym typeface="M PLUS 1p"/>
            </a:endParaRPr>
          </a:p>
        </p:txBody>
      </p:sp>
      <p:sp>
        <p:nvSpPr>
          <p:cNvPr id="348" name="Google Shape;348;p27"/>
          <p:cNvSpPr txBox="1"/>
          <p:nvPr/>
        </p:nvSpPr>
        <p:spPr>
          <a:xfrm>
            <a:off x="8046720" y="164592"/>
            <a:ext cx="7315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A1A1A"/>
              </a:buClr>
              <a:buSzPts val="1400"/>
              <a:buFont typeface="Meiryo"/>
              <a:buNone/>
            </a:pPr>
            <a:r>
              <a:rPr b="1" lang="ja" sz="1400">
                <a:solidFill>
                  <a:srgbClr val="1A1A1A"/>
                </a:solidFill>
                <a:latin typeface="Meiryo"/>
                <a:ea typeface="Meiryo"/>
                <a:cs typeface="Meiryo"/>
                <a:sym typeface="Meiryo"/>
              </a:rPr>
              <a:t>Timee</a:t>
            </a:r>
            <a:endParaRPr sz="1400">
              <a:solidFill>
                <a:schemeClr val="dk1"/>
              </a:solidFill>
              <a:latin typeface="Calibri"/>
              <a:ea typeface="Calibri"/>
              <a:cs typeface="Calibri"/>
              <a:sym typeface="Calibri"/>
            </a:endParaRPr>
          </a:p>
        </p:txBody>
      </p:sp>
      <p:sp>
        <p:nvSpPr>
          <p:cNvPr id="349" name="Google Shape;349;p27"/>
          <p:cNvSpPr/>
          <p:nvPr/>
        </p:nvSpPr>
        <p:spPr>
          <a:xfrm>
            <a:off x="365760" y="658368"/>
            <a:ext cx="8412480" cy="457200"/>
          </a:xfrm>
          <a:prstGeom prst="rect">
            <a:avLst/>
          </a:prstGeom>
          <a:solidFill>
            <a:srgbClr val="FFF6D9"/>
          </a:solidFill>
          <a:ln cap="flat" cmpd="sng" w="12700">
            <a:solidFill>
              <a:srgbClr val="FFF6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350" name="Google Shape;350;p27"/>
          <p:cNvSpPr txBox="1"/>
          <p:nvPr/>
        </p:nvSpPr>
        <p:spPr>
          <a:xfrm>
            <a:off x="502920" y="658368"/>
            <a:ext cx="8138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50"/>
              <a:buFont typeface="Meiryo"/>
              <a:buNone/>
            </a:pPr>
            <a:r>
              <a:rPr lang="ja" sz="1150">
                <a:solidFill>
                  <a:srgbClr val="1A1A1A"/>
                </a:solidFill>
                <a:latin typeface="M PLUS 1p"/>
                <a:ea typeface="M PLUS 1p"/>
                <a:cs typeface="M PLUS 1p"/>
                <a:sym typeface="M PLUS 1p"/>
              </a:rPr>
              <a:t>ランク別の実績継続率と照合した結果、</a:t>
            </a:r>
            <a:r>
              <a:rPr b="1" lang="ja" sz="1150">
                <a:solidFill>
                  <a:srgbClr val="1D7FE8"/>
                </a:solidFill>
                <a:latin typeface="M PLUS 1p"/>
                <a:ea typeface="M PLUS 1p"/>
                <a:cs typeface="M PLUS 1p"/>
                <a:sym typeface="M PLUS 1p"/>
              </a:rPr>
              <a:t>スコアが高い顧客ほど継続率が高い傾向を確認できている。9月は実運用で再現性を検証する。</a:t>
            </a:r>
            <a:endParaRPr sz="1150">
              <a:solidFill>
                <a:schemeClr val="dk1"/>
              </a:solidFill>
              <a:latin typeface="M PLUS 1p"/>
              <a:ea typeface="M PLUS 1p"/>
              <a:cs typeface="M PLUS 1p"/>
              <a:sym typeface="M PLUS 1p"/>
            </a:endParaRPr>
          </a:p>
        </p:txBody>
      </p:sp>
      <p:sp>
        <p:nvSpPr>
          <p:cNvPr id="351" name="Google Shape;351;p27"/>
          <p:cNvSpPr txBox="1"/>
          <p:nvPr/>
        </p:nvSpPr>
        <p:spPr>
          <a:xfrm>
            <a:off x="5852160" y="4846320"/>
            <a:ext cx="2926080"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8C8C8C"/>
              </a:buClr>
              <a:buSzPts val="700"/>
              <a:buFont typeface="Meiryo"/>
              <a:buNone/>
            </a:pPr>
            <a:r>
              <a:rPr lang="ja" sz="700">
                <a:solidFill>
                  <a:srgbClr val="8C8C8C"/>
                </a:solidFill>
                <a:latin typeface="Meiryo"/>
                <a:ea typeface="Meiryo"/>
                <a:cs typeface="Meiryo"/>
                <a:sym typeface="Meiryo"/>
              </a:rPr>
              <a:t>Copyright © Timee All Rights Reserved</a:t>
            </a:r>
            <a:endParaRPr sz="700">
              <a:solidFill>
                <a:schemeClr val="dk1"/>
              </a:solidFill>
              <a:latin typeface="Calibri"/>
              <a:ea typeface="Calibri"/>
              <a:cs typeface="Calibri"/>
              <a:sym typeface="Calibri"/>
            </a:endParaRPr>
          </a:p>
        </p:txBody>
      </p:sp>
      <p:sp>
        <p:nvSpPr>
          <p:cNvPr id="352" name="Google Shape;352;p27"/>
          <p:cNvSpPr txBox="1"/>
          <p:nvPr/>
        </p:nvSpPr>
        <p:spPr>
          <a:xfrm>
            <a:off x="365760" y="1280160"/>
            <a:ext cx="50292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200"/>
              <a:buFont typeface="Meiryo"/>
              <a:buNone/>
            </a:pPr>
            <a:r>
              <a:rPr b="1" lang="ja" sz="1200">
                <a:solidFill>
                  <a:srgbClr val="1A1A1A"/>
                </a:solidFill>
                <a:latin typeface="M PLUS 1p"/>
                <a:ea typeface="M PLUS 1p"/>
                <a:cs typeface="M PLUS 1p"/>
                <a:sym typeface="M PLUS 1p"/>
              </a:rPr>
              <a:t>ランク別 翌月継続率（2026年8月 当月新規）</a:t>
            </a:r>
            <a:endParaRPr sz="1200">
              <a:solidFill>
                <a:schemeClr val="dk1"/>
              </a:solidFill>
              <a:latin typeface="M PLUS 1p"/>
              <a:ea typeface="M PLUS 1p"/>
              <a:cs typeface="M PLUS 1p"/>
              <a:sym typeface="M PLUS 1p"/>
            </a:endParaRPr>
          </a:p>
        </p:txBody>
      </p:sp>
      <p:pic>
        <p:nvPicPr>
          <p:cNvPr id="353" name="Google Shape;353;p27"/>
          <p:cNvPicPr preferRelativeResize="0"/>
          <p:nvPr/>
        </p:nvPicPr>
        <p:blipFill rotWithShape="1">
          <a:blip r:embed="rId3">
            <a:alphaModFix/>
          </a:blip>
          <a:srcRect b="0" l="0" r="0" t="85517"/>
          <a:stretch/>
        </p:blipFill>
        <p:spPr>
          <a:xfrm>
            <a:off x="274325" y="3822129"/>
            <a:ext cx="5120700" cy="384000"/>
          </a:xfrm>
          <a:prstGeom prst="rect">
            <a:avLst/>
          </a:prstGeom>
          <a:noFill/>
          <a:ln>
            <a:noFill/>
          </a:ln>
        </p:spPr>
      </p:pic>
      <p:sp>
        <p:nvSpPr>
          <p:cNvPr id="354" name="Google Shape;354;p27"/>
          <p:cNvSpPr txBox="1"/>
          <p:nvPr/>
        </p:nvSpPr>
        <p:spPr>
          <a:xfrm>
            <a:off x="5577840" y="1280160"/>
            <a:ext cx="320040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200"/>
              <a:buFont typeface="Meiryo"/>
              <a:buNone/>
            </a:pPr>
            <a:r>
              <a:rPr b="1" lang="ja" sz="1200">
                <a:solidFill>
                  <a:srgbClr val="1A1A1A"/>
                </a:solidFill>
                <a:latin typeface="Meiryo"/>
                <a:ea typeface="Meiryo"/>
                <a:cs typeface="Meiryo"/>
                <a:sym typeface="Meiryo"/>
              </a:rPr>
              <a:t>内訳</a:t>
            </a:r>
            <a:endParaRPr sz="1200">
              <a:solidFill>
                <a:schemeClr val="dk1"/>
              </a:solidFill>
              <a:latin typeface="Calibri"/>
              <a:ea typeface="Calibri"/>
              <a:cs typeface="Calibri"/>
              <a:sym typeface="Calibri"/>
            </a:endParaRPr>
          </a:p>
        </p:txBody>
      </p:sp>
      <p:sp>
        <p:nvSpPr>
          <p:cNvPr id="355" name="Google Shape;355;p27"/>
          <p:cNvSpPr txBox="1"/>
          <p:nvPr/>
        </p:nvSpPr>
        <p:spPr>
          <a:xfrm>
            <a:off x="5577840" y="1572768"/>
            <a:ext cx="91440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5959"/>
              </a:buClr>
              <a:buSzPts val="850"/>
              <a:buFont typeface="Meiryo"/>
              <a:buNone/>
            </a:pPr>
            <a:r>
              <a:rPr lang="ja" sz="850">
                <a:solidFill>
                  <a:srgbClr val="595959"/>
                </a:solidFill>
                <a:latin typeface="Meiryo"/>
                <a:ea typeface="Meiryo"/>
                <a:cs typeface="Meiryo"/>
                <a:sym typeface="Meiryo"/>
              </a:rPr>
              <a:t>ランク</a:t>
            </a:r>
            <a:endParaRPr sz="850">
              <a:solidFill>
                <a:schemeClr val="dk1"/>
              </a:solidFill>
              <a:latin typeface="Calibri"/>
              <a:ea typeface="Calibri"/>
              <a:cs typeface="Calibri"/>
              <a:sym typeface="Calibri"/>
            </a:endParaRPr>
          </a:p>
        </p:txBody>
      </p:sp>
      <p:sp>
        <p:nvSpPr>
          <p:cNvPr id="356" name="Google Shape;356;p27"/>
          <p:cNvSpPr txBox="1"/>
          <p:nvPr/>
        </p:nvSpPr>
        <p:spPr>
          <a:xfrm>
            <a:off x="6583680" y="1572768"/>
            <a:ext cx="73152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95959"/>
              </a:buClr>
              <a:buSzPts val="850"/>
              <a:buFont typeface="Meiryo"/>
              <a:buNone/>
            </a:pPr>
            <a:r>
              <a:rPr lang="ja" sz="850">
                <a:solidFill>
                  <a:srgbClr val="595959"/>
                </a:solidFill>
                <a:latin typeface="Meiryo"/>
                <a:ea typeface="Meiryo"/>
                <a:cs typeface="Meiryo"/>
                <a:sym typeface="Meiryo"/>
              </a:rPr>
              <a:t>母数</a:t>
            </a:r>
            <a:endParaRPr sz="850">
              <a:solidFill>
                <a:schemeClr val="dk1"/>
              </a:solidFill>
              <a:latin typeface="Calibri"/>
              <a:ea typeface="Calibri"/>
              <a:cs typeface="Calibri"/>
              <a:sym typeface="Calibri"/>
            </a:endParaRPr>
          </a:p>
        </p:txBody>
      </p:sp>
      <p:sp>
        <p:nvSpPr>
          <p:cNvPr id="357" name="Google Shape;357;p27"/>
          <p:cNvSpPr txBox="1"/>
          <p:nvPr/>
        </p:nvSpPr>
        <p:spPr>
          <a:xfrm>
            <a:off x="7406640" y="1572768"/>
            <a:ext cx="73152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95959"/>
              </a:buClr>
              <a:buSzPts val="850"/>
              <a:buFont typeface="Meiryo"/>
              <a:buNone/>
            </a:pPr>
            <a:r>
              <a:rPr lang="ja" sz="850">
                <a:solidFill>
                  <a:srgbClr val="595959"/>
                </a:solidFill>
                <a:latin typeface="Meiryo"/>
                <a:ea typeface="Meiryo"/>
                <a:cs typeface="Meiryo"/>
                <a:sym typeface="Meiryo"/>
              </a:rPr>
              <a:t>継続</a:t>
            </a:r>
            <a:endParaRPr sz="850">
              <a:solidFill>
                <a:schemeClr val="dk1"/>
              </a:solidFill>
              <a:latin typeface="Calibri"/>
              <a:ea typeface="Calibri"/>
              <a:cs typeface="Calibri"/>
              <a:sym typeface="Calibri"/>
            </a:endParaRPr>
          </a:p>
        </p:txBody>
      </p:sp>
      <p:sp>
        <p:nvSpPr>
          <p:cNvPr id="358" name="Google Shape;358;p27"/>
          <p:cNvSpPr txBox="1"/>
          <p:nvPr/>
        </p:nvSpPr>
        <p:spPr>
          <a:xfrm>
            <a:off x="8138160" y="1572768"/>
            <a:ext cx="64008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95959"/>
              </a:buClr>
              <a:buSzPts val="850"/>
              <a:buFont typeface="Meiryo"/>
              <a:buNone/>
            </a:pPr>
            <a:r>
              <a:rPr lang="ja" sz="850">
                <a:solidFill>
                  <a:srgbClr val="595959"/>
                </a:solidFill>
                <a:latin typeface="Meiryo"/>
                <a:ea typeface="Meiryo"/>
                <a:cs typeface="Meiryo"/>
                <a:sym typeface="Meiryo"/>
              </a:rPr>
              <a:t>継続率</a:t>
            </a:r>
            <a:endParaRPr sz="850">
              <a:solidFill>
                <a:schemeClr val="dk1"/>
              </a:solidFill>
              <a:latin typeface="Calibri"/>
              <a:ea typeface="Calibri"/>
              <a:cs typeface="Calibri"/>
              <a:sym typeface="Calibri"/>
            </a:endParaRPr>
          </a:p>
        </p:txBody>
      </p:sp>
      <p:cxnSp>
        <p:nvCxnSpPr>
          <p:cNvPr id="359" name="Google Shape;359;p27"/>
          <p:cNvCxnSpPr/>
          <p:nvPr/>
        </p:nvCxnSpPr>
        <p:spPr>
          <a:xfrm>
            <a:off x="5532120" y="1828800"/>
            <a:ext cx="3246120" cy="0"/>
          </a:xfrm>
          <a:prstGeom prst="straightConnector1">
            <a:avLst/>
          </a:prstGeom>
          <a:noFill/>
          <a:ln cap="flat" cmpd="sng" w="12700">
            <a:solidFill>
              <a:srgbClr val="E0E0E0"/>
            </a:solidFill>
            <a:prstDash val="solid"/>
            <a:round/>
            <a:headEnd len="sm" w="sm" type="none"/>
            <a:tailEnd len="sm" w="sm" type="none"/>
          </a:ln>
        </p:spPr>
      </p:cxnSp>
      <p:sp>
        <p:nvSpPr>
          <p:cNvPr id="360" name="Google Shape;360;p27"/>
          <p:cNvSpPr txBox="1"/>
          <p:nvPr/>
        </p:nvSpPr>
        <p:spPr>
          <a:xfrm>
            <a:off x="5577840" y="1837944"/>
            <a:ext cx="91440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Meiryo"/>
              <a:buNone/>
            </a:pPr>
            <a:r>
              <a:rPr b="1" lang="ja" sz="1000">
                <a:solidFill>
                  <a:srgbClr val="1A1A1A"/>
                </a:solidFill>
                <a:latin typeface="Meiryo"/>
                <a:ea typeface="Meiryo"/>
                <a:cs typeface="Meiryo"/>
                <a:sym typeface="Meiryo"/>
              </a:rPr>
              <a:t>A</a:t>
            </a:r>
            <a:endParaRPr sz="1000">
              <a:solidFill>
                <a:schemeClr val="dk1"/>
              </a:solidFill>
              <a:latin typeface="Calibri"/>
              <a:ea typeface="Calibri"/>
              <a:cs typeface="Calibri"/>
              <a:sym typeface="Calibri"/>
            </a:endParaRPr>
          </a:p>
        </p:txBody>
      </p:sp>
      <p:sp>
        <p:nvSpPr>
          <p:cNvPr id="361" name="Google Shape;361;p27"/>
          <p:cNvSpPr txBox="1"/>
          <p:nvPr/>
        </p:nvSpPr>
        <p:spPr>
          <a:xfrm>
            <a:off x="6583680" y="1837944"/>
            <a:ext cx="73152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000"/>
              <a:buFont typeface="Meiryo"/>
              <a:buNone/>
            </a:pPr>
            <a:r>
              <a:rPr lang="ja" sz="1000">
                <a:solidFill>
                  <a:srgbClr val="1A1A1A"/>
                </a:solidFill>
                <a:latin typeface="Meiryo"/>
                <a:ea typeface="Meiryo"/>
                <a:cs typeface="Meiryo"/>
                <a:sym typeface="Meiryo"/>
              </a:rPr>
              <a:t>284</a:t>
            </a:r>
            <a:endParaRPr sz="1000">
              <a:solidFill>
                <a:schemeClr val="dk1"/>
              </a:solidFill>
              <a:latin typeface="Calibri"/>
              <a:ea typeface="Calibri"/>
              <a:cs typeface="Calibri"/>
              <a:sym typeface="Calibri"/>
            </a:endParaRPr>
          </a:p>
        </p:txBody>
      </p:sp>
      <p:sp>
        <p:nvSpPr>
          <p:cNvPr id="362" name="Google Shape;362;p27"/>
          <p:cNvSpPr txBox="1"/>
          <p:nvPr/>
        </p:nvSpPr>
        <p:spPr>
          <a:xfrm>
            <a:off x="7406640" y="1837944"/>
            <a:ext cx="73152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000"/>
              <a:buFont typeface="Meiryo"/>
              <a:buNone/>
            </a:pPr>
            <a:r>
              <a:rPr lang="ja" sz="1000">
                <a:solidFill>
                  <a:srgbClr val="1A1A1A"/>
                </a:solidFill>
                <a:latin typeface="Meiryo"/>
                <a:ea typeface="Meiryo"/>
                <a:cs typeface="Meiryo"/>
                <a:sym typeface="Meiryo"/>
              </a:rPr>
              <a:t>274</a:t>
            </a:r>
            <a:endParaRPr sz="1000">
              <a:solidFill>
                <a:schemeClr val="dk1"/>
              </a:solidFill>
              <a:latin typeface="Calibri"/>
              <a:ea typeface="Calibri"/>
              <a:cs typeface="Calibri"/>
              <a:sym typeface="Calibri"/>
            </a:endParaRPr>
          </a:p>
        </p:txBody>
      </p:sp>
      <p:sp>
        <p:nvSpPr>
          <p:cNvPr id="363" name="Google Shape;363;p27"/>
          <p:cNvSpPr txBox="1"/>
          <p:nvPr/>
        </p:nvSpPr>
        <p:spPr>
          <a:xfrm>
            <a:off x="8138160" y="1837944"/>
            <a:ext cx="64008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D7FE8"/>
              </a:buClr>
              <a:buSzPts val="1000"/>
              <a:buFont typeface="Meiryo"/>
              <a:buNone/>
            </a:pPr>
            <a:r>
              <a:rPr b="1" lang="ja" sz="1000">
                <a:solidFill>
                  <a:srgbClr val="1D7FE8"/>
                </a:solidFill>
                <a:latin typeface="Meiryo"/>
                <a:ea typeface="Meiryo"/>
                <a:cs typeface="Meiryo"/>
                <a:sym typeface="Meiryo"/>
              </a:rPr>
              <a:t>96</a:t>
            </a:r>
            <a:r>
              <a:rPr b="1" lang="ja" sz="1000">
                <a:solidFill>
                  <a:srgbClr val="1D7FE8"/>
                </a:solidFill>
                <a:latin typeface="Meiryo"/>
                <a:ea typeface="Meiryo"/>
                <a:cs typeface="Meiryo"/>
                <a:sym typeface="Meiryo"/>
              </a:rPr>
              <a:t>.5%</a:t>
            </a:r>
            <a:endParaRPr sz="1000">
              <a:solidFill>
                <a:schemeClr val="dk1"/>
              </a:solidFill>
              <a:latin typeface="Calibri"/>
              <a:ea typeface="Calibri"/>
              <a:cs typeface="Calibri"/>
              <a:sym typeface="Calibri"/>
            </a:endParaRPr>
          </a:p>
        </p:txBody>
      </p:sp>
      <p:sp>
        <p:nvSpPr>
          <p:cNvPr id="364" name="Google Shape;364;p27"/>
          <p:cNvSpPr txBox="1"/>
          <p:nvPr/>
        </p:nvSpPr>
        <p:spPr>
          <a:xfrm>
            <a:off x="5577840" y="2103120"/>
            <a:ext cx="91440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Meiryo"/>
              <a:buNone/>
            </a:pPr>
            <a:r>
              <a:rPr b="1" lang="ja" sz="1000">
                <a:solidFill>
                  <a:srgbClr val="1A1A1A"/>
                </a:solidFill>
                <a:latin typeface="Meiryo"/>
                <a:ea typeface="Meiryo"/>
                <a:cs typeface="Meiryo"/>
                <a:sym typeface="Meiryo"/>
              </a:rPr>
              <a:t>B</a:t>
            </a:r>
            <a:endParaRPr sz="1000">
              <a:solidFill>
                <a:schemeClr val="dk1"/>
              </a:solidFill>
              <a:latin typeface="Calibri"/>
              <a:ea typeface="Calibri"/>
              <a:cs typeface="Calibri"/>
              <a:sym typeface="Calibri"/>
            </a:endParaRPr>
          </a:p>
        </p:txBody>
      </p:sp>
      <p:sp>
        <p:nvSpPr>
          <p:cNvPr id="365" name="Google Shape;365;p27"/>
          <p:cNvSpPr txBox="1"/>
          <p:nvPr/>
        </p:nvSpPr>
        <p:spPr>
          <a:xfrm>
            <a:off x="6583680" y="2103120"/>
            <a:ext cx="73152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000"/>
              <a:buFont typeface="Meiryo"/>
              <a:buNone/>
            </a:pPr>
            <a:r>
              <a:rPr lang="ja" sz="1000">
                <a:solidFill>
                  <a:srgbClr val="1A1A1A"/>
                </a:solidFill>
                <a:latin typeface="Meiryo"/>
                <a:ea typeface="Meiryo"/>
                <a:cs typeface="Meiryo"/>
                <a:sym typeface="Meiryo"/>
              </a:rPr>
              <a:t>356</a:t>
            </a:r>
            <a:endParaRPr sz="1000">
              <a:solidFill>
                <a:schemeClr val="dk1"/>
              </a:solidFill>
              <a:latin typeface="Calibri"/>
              <a:ea typeface="Calibri"/>
              <a:cs typeface="Calibri"/>
              <a:sym typeface="Calibri"/>
            </a:endParaRPr>
          </a:p>
        </p:txBody>
      </p:sp>
      <p:sp>
        <p:nvSpPr>
          <p:cNvPr id="366" name="Google Shape;366;p27"/>
          <p:cNvSpPr txBox="1"/>
          <p:nvPr/>
        </p:nvSpPr>
        <p:spPr>
          <a:xfrm>
            <a:off x="7406640" y="2103120"/>
            <a:ext cx="73152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000"/>
              <a:buFont typeface="Meiryo"/>
              <a:buNone/>
            </a:pPr>
            <a:r>
              <a:rPr lang="ja" sz="1000">
                <a:solidFill>
                  <a:srgbClr val="1A1A1A"/>
                </a:solidFill>
                <a:latin typeface="Meiryo"/>
                <a:ea typeface="Meiryo"/>
                <a:cs typeface="Meiryo"/>
                <a:sym typeface="Meiryo"/>
              </a:rPr>
              <a:t>244</a:t>
            </a:r>
            <a:endParaRPr sz="1000">
              <a:solidFill>
                <a:schemeClr val="dk1"/>
              </a:solidFill>
              <a:latin typeface="Calibri"/>
              <a:ea typeface="Calibri"/>
              <a:cs typeface="Calibri"/>
              <a:sym typeface="Calibri"/>
            </a:endParaRPr>
          </a:p>
        </p:txBody>
      </p:sp>
      <p:sp>
        <p:nvSpPr>
          <p:cNvPr id="367" name="Google Shape;367;p27"/>
          <p:cNvSpPr txBox="1"/>
          <p:nvPr/>
        </p:nvSpPr>
        <p:spPr>
          <a:xfrm>
            <a:off x="8138160" y="2103120"/>
            <a:ext cx="64008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D7FE8"/>
              </a:buClr>
              <a:buSzPts val="1000"/>
              <a:buFont typeface="Meiryo"/>
              <a:buNone/>
            </a:pPr>
            <a:r>
              <a:rPr b="1" lang="ja" sz="1000">
                <a:solidFill>
                  <a:srgbClr val="1D7FE8"/>
                </a:solidFill>
                <a:latin typeface="Meiryo"/>
                <a:ea typeface="Meiryo"/>
                <a:cs typeface="Meiryo"/>
                <a:sym typeface="Meiryo"/>
              </a:rPr>
              <a:t>68</a:t>
            </a:r>
            <a:r>
              <a:rPr b="1" lang="ja" sz="1000">
                <a:solidFill>
                  <a:srgbClr val="1D7FE8"/>
                </a:solidFill>
                <a:latin typeface="Meiryo"/>
                <a:ea typeface="Meiryo"/>
                <a:cs typeface="Meiryo"/>
                <a:sym typeface="Meiryo"/>
              </a:rPr>
              <a:t>.5%</a:t>
            </a:r>
            <a:endParaRPr sz="1000">
              <a:solidFill>
                <a:schemeClr val="dk1"/>
              </a:solidFill>
              <a:latin typeface="Calibri"/>
              <a:ea typeface="Calibri"/>
              <a:cs typeface="Calibri"/>
              <a:sym typeface="Calibri"/>
            </a:endParaRPr>
          </a:p>
        </p:txBody>
      </p:sp>
      <p:sp>
        <p:nvSpPr>
          <p:cNvPr id="368" name="Google Shape;368;p27"/>
          <p:cNvSpPr txBox="1"/>
          <p:nvPr/>
        </p:nvSpPr>
        <p:spPr>
          <a:xfrm>
            <a:off x="5577840" y="2368296"/>
            <a:ext cx="91440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Meiryo"/>
              <a:buNone/>
            </a:pPr>
            <a:r>
              <a:rPr b="1" lang="ja" sz="1000">
                <a:solidFill>
                  <a:srgbClr val="1A1A1A"/>
                </a:solidFill>
                <a:latin typeface="Meiryo"/>
                <a:ea typeface="Meiryo"/>
                <a:cs typeface="Meiryo"/>
                <a:sym typeface="Meiryo"/>
              </a:rPr>
              <a:t>C</a:t>
            </a:r>
            <a:endParaRPr sz="1000">
              <a:solidFill>
                <a:schemeClr val="dk1"/>
              </a:solidFill>
              <a:latin typeface="Calibri"/>
              <a:ea typeface="Calibri"/>
              <a:cs typeface="Calibri"/>
              <a:sym typeface="Calibri"/>
            </a:endParaRPr>
          </a:p>
        </p:txBody>
      </p:sp>
      <p:sp>
        <p:nvSpPr>
          <p:cNvPr id="369" name="Google Shape;369;p27"/>
          <p:cNvSpPr txBox="1"/>
          <p:nvPr/>
        </p:nvSpPr>
        <p:spPr>
          <a:xfrm>
            <a:off x="6583680" y="2368296"/>
            <a:ext cx="73152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000"/>
              <a:buFont typeface="Meiryo"/>
              <a:buNone/>
            </a:pPr>
            <a:r>
              <a:rPr lang="ja" sz="1000">
                <a:solidFill>
                  <a:srgbClr val="1A1A1A"/>
                </a:solidFill>
                <a:latin typeface="Meiryo"/>
                <a:ea typeface="Meiryo"/>
                <a:cs typeface="Meiryo"/>
                <a:sym typeface="Meiryo"/>
              </a:rPr>
              <a:t>501</a:t>
            </a:r>
            <a:endParaRPr sz="1000">
              <a:solidFill>
                <a:schemeClr val="dk1"/>
              </a:solidFill>
              <a:latin typeface="Calibri"/>
              <a:ea typeface="Calibri"/>
              <a:cs typeface="Calibri"/>
              <a:sym typeface="Calibri"/>
            </a:endParaRPr>
          </a:p>
        </p:txBody>
      </p:sp>
      <p:sp>
        <p:nvSpPr>
          <p:cNvPr id="370" name="Google Shape;370;p27"/>
          <p:cNvSpPr txBox="1"/>
          <p:nvPr/>
        </p:nvSpPr>
        <p:spPr>
          <a:xfrm>
            <a:off x="7406640" y="2368296"/>
            <a:ext cx="73152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000"/>
              <a:buFont typeface="Meiryo"/>
              <a:buNone/>
            </a:pPr>
            <a:r>
              <a:rPr lang="ja" sz="1000">
                <a:solidFill>
                  <a:srgbClr val="1A1A1A"/>
                </a:solidFill>
                <a:latin typeface="Meiryo"/>
                <a:ea typeface="Meiryo"/>
                <a:cs typeface="Meiryo"/>
                <a:sym typeface="Meiryo"/>
              </a:rPr>
              <a:t>245</a:t>
            </a:r>
            <a:endParaRPr sz="1000">
              <a:solidFill>
                <a:schemeClr val="dk1"/>
              </a:solidFill>
              <a:latin typeface="Calibri"/>
              <a:ea typeface="Calibri"/>
              <a:cs typeface="Calibri"/>
              <a:sym typeface="Calibri"/>
            </a:endParaRPr>
          </a:p>
        </p:txBody>
      </p:sp>
      <p:sp>
        <p:nvSpPr>
          <p:cNvPr id="371" name="Google Shape;371;p27"/>
          <p:cNvSpPr txBox="1"/>
          <p:nvPr/>
        </p:nvSpPr>
        <p:spPr>
          <a:xfrm>
            <a:off x="8138160" y="2368296"/>
            <a:ext cx="64008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D7FE8"/>
              </a:buClr>
              <a:buSzPts val="1000"/>
              <a:buFont typeface="Meiryo"/>
              <a:buNone/>
            </a:pPr>
            <a:r>
              <a:rPr b="1" lang="ja" sz="1000">
                <a:solidFill>
                  <a:srgbClr val="1D7FE8"/>
                </a:solidFill>
                <a:latin typeface="Meiryo"/>
                <a:ea typeface="Meiryo"/>
                <a:cs typeface="Meiryo"/>
                <a:sym typeface="Meiryo"/>
              </a:rPr>
              <a:t>48</a:t>
            </a:r>
            <a:r>
              <a:rPr b="1" lang="ja" sz="1000">
                <a:solidFill>
                  <a:srgbClr val="1D7FE8"/>
                </a:solidFill>
                <a:latin typeface="Meiryo"/>
                <a:ea typeface="Meiryo"/>
                <a:cs typeface="Meiryo"/>
                <a:sym typeface="Meiryo"/>
              </a:rPr>
              <a:t>.9%</a:t>
            </a:r>
            <a:endParaRPr sz="1000">
              <a:solidFill>
                <a:schemeClr val="dk1"/>
              </a:solidFill>
              <a:latin typeface="Calibri"/>
              <a:ea typeface="Calibri"/>
              <a:cs typeface="Calibri"/>
              <a:sym typeface="Calibri"/>
            </a:endParaRPr>
          </a:p>
        </p:txBody>
      </p:sp>
      <p:sp>
        <p:nvSpPr>
          <p:cNvPr id="372" name="Google Shape;372;p27"/>
          <p:cNvSpPr txBox="1"/>
          <p:nvPr/>
        </p:nvSpPr>
        <p:spPr>
          <a:xfrm>
            <a:off x="5577840" y="2633472"/>
            <a:ext cx="91440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Meiryo"/>
              <a:buNone/>
            </a:pPr>
            <a:r>
              <a:rPr b="1" lang="ja" sz="1000">
                <a:solidFill>
                  <a:srgbClr val="1A1A1A"/>
                </a:solidFill>
                <a:latin typeface="Meiryo"/>
                <a:ea typeface="Meiryo"/>
                <a:cs typeface="Meiryo"/>
                <a:sym typeface="Meiryo"/>
              </a:rPr>
              <a:t>D</a:t>
            </a:r>
            <a:endParaRPr sz="1000">
              <a:solidFill>
                <a:schemeClr val="dk1"/>
              </a:solidFill>
              <a:latin typeface="Calibri"/>
              <a:ea typeface="Calibri"/>
              <a:cs typeface="Calibri"/>
              <a:sym typeface="Calibri"/>
            </a:endParaRPr>
          </a:p>
        </p:txBody>
      </p:sp>
      <p:sp>
        <p:nvSpPr>
          <p:cNvPr id="373" name="Google Shape;373;p27"/>
          <p:cNvSpPr txBox="1"/>
          <p:nvPr/>
        </p:nvSpPr>
        <p:spPr>
          <a:xfrm>
            <a:off x="6583680" y="2633472"/>
            <a:ext cx="73152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000"/>
              <a:buFont typeface="Meiryo"/>
              <a:buNone/>
            </a:pPr>
            <a:r>
              <a:rPr lang="ja" sz="1000">
                <a:solidFill>
                  <a:srgbClr val="1A1A1A"/>
                </a:solidFill>
                <a:latin typeface="Meiryo"/>
                <a:ea typeface="Meiryo"/>
                <a:cs typeface="Meiryo"/>
                <a:sym typeface="Meiryo"/>
              </a:rPr>
              <a:t>607</a:t>
            </a:r>
            <a:endParaRPr sz="1000">
              <a:solidFill>
                <a:schemeClr val="dk1"/>
              </a:solidFill>
              <a:latin typeface="Calibri"/>
              <a:ea typeface="Calibri"/>
              <a:cs typeface="Calibri"/>
              <a:sym typeface="Calibri"/>
            </a:endParaRPr>
          </a:p>
        </p:txBody>
      </p:sp>
      <p:sp>
        <p:nvSpPr>
          <p:cNvPr id="374" name="Google Shape;374;p27"/>
          <p:cNvSpPr txBox="1"/>
          <p:nvPr/>
        </p:nvSpPr>
        <p:spPr>
          <a:xfrm>
            <a:off x="7406640" y="2633472"/>
            <a:ext cx="73152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000"/>
              <a:buFont typeface="Meiryo"/>
              <a:buNone/>
            </a:pPr>
            <a:r>
              <a:rPr lang="ja" sz="1000">
                <a:solidFill>
                  <a:srgbClr val="1A1A1A"/>
                </a:solidFill>
                <a:latin typeface="Meiryo"/>
                <a:ea typeface="Meiryo"/>
                <a:cs typeface="Meiryo"/>
                <a:sym typeface="Meiryo"/>
              </a:rPr>
              <a:t>237</a:t>
            </a:r>
            <a:endParaRPr sz="1000">
              <a:solidFill>
                <a:schemeClr val="dk1"/>
              </a:solidFill>
              <a:latin typeface="Calibri"/>
              <a:ea typeface="Calibri"/>
              <a:cs typeface="Calibri"/>
              <a:sym typeface="Calibri"/>
            </a:endParaRPr>
          </a:p>
        </p:txBody>
      </p:sp>
      <p:sp>
        <p:nvSpPr>
          <p:cNvPr id="375" name="Google Shape;375;p27"/>
          <p:cNvSpPr txBox="1"/>
          <p:nvPr/>
        </p:nvSpPr>
        <p:spPr>
          <a:xfrm>
            <a:off x="8138160" y="2633472"/>
            <a:ext cx="64008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D7FE8"/>
              </a:buClr>
              <a:buSzPts val="1000"/>
              <a:buFont typeface="Meiryo"/>
              <a:buNone/>
            </a:pPr>
            <a:r>
              <a:rPr b="1" lang="ja" sz="1000">
                <a:solidFill>
                  <a:srgbClr val="1D7FE8"/>
                </a:solidFill>
                <a:latin typeface="Meiryo"/>
                <a:ea typeface="Meiryo"/>
                <a:cs typeface="Meiryo"/>
                <a:sym typeface="Meiryo"/>
              </a:rPr>
              <a:t>3</a:t>
            </a:r>
            <a:r>
              <a:rPr b="1" lang="ja" sz="1000">
                <a:solidFill>
                  <a:srgbClr val="1D7FE8"/>
                </a:solidFill>
                <a:latin typeface="Meiryo"/>
                <a:ea typeface="Meiryo"/>
                <a:cs typeface="Meiryo"/>
                <a:sym typeface="Meiryo"/>
              </a:rPr>
              <a:t>9.0%</a:t>
            </a:r>
            <a:endParaRPr sz="1000">
              <a:solidFill>
                <a:schemeClr val="dk1"/>
              </a:solidFill>
              <a:latin typeface="Calibri"/>
              <a:ea typeface="Calibri"/>
              <a:cs typeface="Calibri"/>
              <a:sym typeface="Calibri"/>
            </a:endParaRPr>
          </a:p>
        </p:txBody>
      </p:sp>
      <p:sp>
        <p:nvSpPr>
          <p:cNvPr id="376" name="Google Shape;376;p27"/>
          <p:cNvSpPr txBox="1"/>
          <p:nvPr/>
        </p:nvSpPr>
        <p:spPr>
          <a:xfrm>
            <a:off x="5577840" y="2898648"/>
            <a:ext cx="91440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Meiryo"/>
              <a:buNone/>
            </a:pPr>
            <a:r>
              <a:rPr b="1" lang="ja" sz="1000">
                <a:solidFill>
                  <a:srgbClr val="1A1A1A"/>
                </a:solidFill>
                <a:latin typeface="Meiryo"/>
                <a:ea typeface="Meiryo"/>
                <a:cs typeface="Meiryo"/>
                <a:sym typeface="Meiryo"/>
              </a:rPr>
              <a:t>E</a:t>
            </a:r>
            <a:endParaRPr sz="1000">
              <a:solidFill>
                <a:schemeClr val="dk1"/>
              </a:solidFill>
              <a:latin typeface="Calibri"/>
              <a:ea typeface="Calibri"/>
              <a:cs typeface="Calibri"/>
              <a:sym typeface="Calibri"/>
            </a:endParaRPr>
          </a:p>
        </p:txBody>
      </p:sp>
      <p:sp>
        <p:nvSpPr>
          <p:cNvPr id="377" name="Google Shape;377;p27"/>
          <p:cNvSpPr txBox="1"/>
          <p:nvPr/>
        </p:nvSpPr>
        <p:spPr>
          <a:xfrm>
            <a:off x="6583680" y="2898648"/>
            <a:ext cx="73152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000"/>
              <a:buFont typeface="Meiryo"/>
              <a:buNone/>
            </a:pPr>
            <a:r>
              <a:rPr lang="ja" sz="1000">
                <a:solidFill>
                  <a:srgbClr val="1A1A1A"/>
                </a:solidFill>
                <a:latin typeface="Meiryo"/>
                <a:ea typeface="Meiryo"/>
                <a:cs typeface="Meiryo"/>
                <a:sym typeface="Meiryo"/>
              </a:rPr>
              <a:t>55</a:t>
            </a:r>
            <a:endParaRPr sz="1000">
              <a:solidFill>
                <a:schemeClr val="dk1"/>
              </a:solidFill>
              <a:latin typeface="Calibri"/>
              <a:ea typeface="Calibri"/>
              <a:cs typeface="Calibri"/>
              <a:sym typeface="Calibri"/>
            </a:endParaRPr>
          </a:p>
        </p:txBody>
      </p:sp>
      <p:sp>
        <p:nvSpPr>
          <p:cNvPr id="378" name="Google Shape;378;p27"/>
          <p:cNvSpPr txBox="1"/>
          <p:nvPr/>
        </p:nvSpPr>
        <p:spPr>
          <a:xfrm>
            <a:off x="7406640" y="2898648"/>
            <a:ext cx="73152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000"/>
              <a:buFont typeface="Meiryo"/>
              <a:buNone/>
            </a:pPr>
            <a:r>
              <a:rPr lang="ja" sz="1000">
                <a:solidFill>
                  <a:srgbClr val="1A1A1A"/>
                </a:solidFill>
                <a:latin typeface="Meiryo"/>
                <a:ea typeface="Meiryo"/>
                <a:cs typeface="Meiryo"/>
                <a:sym typeface="Meiryo"/>
              </a:rPr>
              <a:t>41</a:t>
            </a:r>
            <a:endParaRPr sz="1000">
              <a:solidFill>
                <a:schemeClr val="dk1"/>
              </a:solidFill>
              <a:latin typeface="Calibri"/>
              <a:ea typeface="Calibri"/>
              <a:cs typeface="Calibri"/>
              <a:sym typeface="Calibri"/>
            </a:endParaRPr>
          </a:p>
        </p:txBody>
      </p:sp>
      <p:sp>
        <p:nvSpPr>
          <p:cNvPr id="379" name="Google Shape;379;p27"/>
          <p:cNvSpPr txBox="1"/>
          <p:nvPr/>
        </p:nvSpPr>
        <p:spPr>
          <a:xfrm>
            <a:off x="8138160" y="2898648"/>
            <a:ext cx="64008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D7FE8"/>
              </a:buClr>
              <a:buSzPts val="1000"/>
              <a:buFont typeface="Meiryo"/>
              <a:buNone/>
            </a:pPr>
            <a:r>
              <a:rPr b="1" lang="ja" sz="1000">
                <a:solidFill>
                  <a:srgbClr val="1D7FE8"/>
                </a:solidFill>
                <a:latin typeface="Meiryo"/>
                <a:ea typeface="Meiryo"/>
                <a:cs typeface="Meiryo"/>
                <a:sym typeface="Meiryo"/>
              </a:rPr>
              <a:t>74.6%</a:t>
            </a:r>
            <a:endParaRPr sz="1000">
              <a:solidFill>
                <a:schemeClr val="dk1"/>
              </a:solidFill>
              <a:latin typeface="Calibri"/>
              <a:ea typeface="Calibri"/>
              <a:cs typeface="Calibri"/>
              <a:sym typeface="Calibri"/>
            </a:endParaRPr>
          </a:p>
        </p:txBody>
      </p:sp>
      <p:sp>
        <p:nvSpPr>
          <p:cNvPr id="380" name="Google Shape;380;p27"/>
          <p:cNvSpPr/>
          <p:nvPr/>
        </p:nvSpPr>
        <p:spPr>
          <a:xfrm>
            <a:off x="5532120" y="3163824"/>
            <a:ext cx="3246120" cy="246888"/>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p27"/>
          <p:cNvSpPr txBox="1"/>
          <p:nvPr/>
        </p:nvSpPr>
        <p:spPr>
          <a:xfrm>
            <a:off x="5577840" y="3163824"/>
            <a:ext cx="914400" cy="2468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000"/>
              <a:buFont typeface="Meiryo"/>
              <a:buNone/>
            </a:pPr>
            <a:r>
              <a:rPr b="1" lang="ja" sz="1000">
                <a:solidFill>
                  <a:srgbClr val="1A1A1A"/>
                </a:solidFill>
                <a:latin typeface="Meiryo"/>
                <a:ea typeface="Meiryo"/>
                <a:cs typeface="Meiryo"/>
                <a:sym typeface="Meiryo"/>
              </a:rPr>
              <a:t>合計</a:t>
            </a:r>
            <a:endParaRPr sz="1000">
              <a:solidFill>
                <a:schemeClr val="dk1"/>
              </a:solidFill>
              <a:latin typeface="Calibri"/>
              <a:ea typeface="Calibri"/>
              <a:cs typeface="Calibri"/>
              <a:sym typeface="Calibri"/>
            </a:endParaRPr>
          </a:p>
        </p:txBody>
      </p:sp>
      <p:sp>
        <p:nvSpPr>
          <p:cNvPr id="382" name="Google Shape;382;p27"/>
          <p:cNvSpPr txBox="1"/>
          <p:nvPr/>
        </p:nvSpPr>
        <p:spPr>
          <a:xfrm>
            <a:off x="6583680" y="3163824"/>
            <a:ext cx="73152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000"/>
              <a:buFont typeface="Meiryo"/>
              <a:buNone/>
            </a:pPr>
            <a:r>
              <a:rPr b="1" lang="ja" sz="1000">
                <a:solidFill>
                  <a:srgbClr val="1A1A1A"/>
                </a:solidFill>
                <a:latin typeface="Meiryo"/>
                <a:ea typeface="Meiryo"/>
                <a:cs typeface="Meiryo"/>
                <a:sym typeface="Meiryo"/>
              </a:rPr>
              <a:t>1,803</a:t>
            </a:r>
            <a:endParaRPr sz="1000">
              <a:solidFill>
                <a:schemeClr val="dk1"/>
              </a:solidFill>
              <a:latin typeface="Calibri"/>
              <a:ea typeface="Calibri"/>
              <a:cs typeface="Calibri"/>
              <a:sym typeface="Calibri"/>
            </a:endParaRPr>
          </a:p>
        </p:txBody>
      </p:sp>
      <p:sp>
        <p:nvSpPr>
          <p:cNvPr id="383" name="Google Shape;383;p27"/>
          <p:cNvSpPr txBox="1"/>
          <p:nvPr/>
        </p:nvSpPr>
        <p:spPr>
          <a:xfrm>
            <a:off x="7406640" y="3163824"/>
            <a:ext cx="73152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000"/>
              <a:buFont typeface="Meiryo"/>
              <a:buNone/>
            </a:pPr>
            <a:r>
              <a:rPr b="1" lang="ja" sz="1000">
                <a:solidFill>
                  <a:srgbClr val="1A1A1A"/>
                </a:solidFill>
                <a:latin typeface="Meiryo"/>
                <a:ea typeface="Meiryo"/>
                <a:cs typeface="Meiryo"/>
                <a:sym typeface="Meiryo"/>
              </a:rPr>
              <a:t>1,041</a:t>
            </a:r>
            <a:endParaRPr sz="1000">
              <a:solidFill>
                <a:schemeClr val="dk1"/>
              </a:solidFill>
              <a:latin typeface="Calibri"/>
              <a:ea typeface="Calibri"/>
              <a:cs typeface="Calibri"/>
              <a:sym typeface="Calibri"/>
            </a:endParaRPr>
          </a:p>
        </p:txBody>
      </p:sp>
      <p:sp>
        <p:nvSpPr>
          <p:cNvPr id="384" name="Google Shape;384;p27"/>
          <p:cNvSpPr txBox="1"/>
          <p:nvPr/>
        </p:nvSpPr>
        <p:spPr>
          <a:xfrm>
            <a:off x="8138160" y="3163824"/>
            <a:ext cx="640080" cy="24688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1A1A"/>
              </a:buClr>
              <a:buSzPts val="1000"/>
              <a:buFont typeface="Meiryo"/>
              <a:buNone/>
            </a:pPr>
            <a:r>
              <a:rPr b="1" lang="ja" sz="1000">
                <a:solidFill>
                  <a:srgbClr val="1A1A1A"/>
                </a:solidFill>
                <a:latin typeface="Meiryo"/>
                <a:ea typeface="Meiryo"/>
                <a:cs typeface="Meiryo"/>
                <a:sym typeface="Meiryo"/>
              </a:rPr>
              <a:t>57</a:t>
            </a:r>
            <a:r>
              <a:rPr b="1" lang="ja" sz="1000">
                <a:solidFill>
                  <a:srgbClr val="1A1A1A"/>
                </a:solidFill>
                <a:latin typeface="Meiryo"/>
                <a:ea typeface="Meiryo"/>
                <a:cs typeface="Meiryo"/>
                <a:sym typeface="Meiryo"/>
              </a:rPr>
              <a:t>.7%</a:t>
            </a:r>
            <a:endParaRPr sz="1000">
              <a:solidFill>
                <a:schemeClr val="dk1"/>
              </a:solidFill>
              <a:latin typeface="Calibri"/>
              <a:ea typeface="Calibri"/>
              <a:cs typeface="Calibri"/>
              <a:sym typeface="Calibri"/>
            </a:endParaRPr>
          </a:p>
        </p:txBody>
      </p:sp>
      <p:sp>
        <p:nvSpPr>
          <p:cNvPr id="385" name="Google Shape;385;p27"/>
          <p:cNvSpPr/>
          <p:nvPr/>
        </p:nvSpPr>
        <p:spPr>
          <a:xfrm>
            <a:off x="5532120" y="3520440"/>
            <a:ext cx="3246120" cy="731520"/>
          </a:xfrm>
          <a:prstGeom prst="rect">
            <a:avLst/>
          </a:prstGeom>
          <a:solidFill>
            <a:srgbClr val="FFF6D9"/>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27"/>
          <p:cNvSpPr txBox="1"/>
          <p:nvPr/>
        </p:nvSpPr>
        <p:spPr>
          <a:xfrm>
            <a:off x="5669280" y="3584448"/>
            <a:ext cx="297180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5959"/>
              </a:buClr>
              <a:buSzPts val="950"/>
              <a:buFont typeface="Meiryo"/>
              <a:buNone/>
            </a:pPr>
            <a:r>
              <a:rPr b="1" lang="ja" sz="950">
                <a:solidFill>
                  <a:srgbClr val="595959"/>
                </a:solidFill>
                <a:latin typeface="M PLUS 1p"/>
                <a:ea typeface="M PLUS 1p"/>
                <a:cs typeface="M PLUS 1p"/>
                <a:sym typeface="M PLUS 1p"/>
              </a:rPr>
              <a:t>読み解き</a:t>
            </a:r>
            <a:endParaRPr b="1" sz="950">
              <a:solidFill>
                <a:schemeClr val="dk1"/>
              </a:solidFill>
              <a:latin typeface="M PLUS 1p"/>
              <a:ea typeface="M PLUS 1p"/>
              <a:cs typeface="M PLUS 1p"/>
              <a:sym typeface="M PLUS 1p"/>
            </a:endParaRPr>
          </a:p>
          <a:p>
            <a:pPr indent="0" lvl="0" marL="0" marR="0" rtl="0" algn="l">
              <a:spcBef>
                <a:spcPts val="0"/>
              </a:spcBef>
              <a:spcAft>
                <a:spcPts val="0"/>
              </a:spcAft>
              <a:buClr>
                <a:srgbClr val="1A1A1A"/>
              </a:buClr>
              <a:buSzPts val="950"/>
              <a:buFont typeface="Meiryo"/>
              <a:buNone/>
            </a:pPr>
            <a:r>
              <a:rPr lang="ja" sz="950">
                <a:solidFill>
                  <a:srgbClr val="1A1A1A"/>
                </a:solidFill>
                <a:latin typeface="M PLUS 1p"/>
                <a:ea typeface="M PLUS 1p"/>
                <a:cs typeface="M PLUS 1p"/>
                <a:sym typeface="M PLUS 1p"/>
              </a:rPr>
              <a:t>AとEで47.5ptの差。判定ロジックには一定の整合性がある。9月は最新の採点基準で再現性を確認する。</a:t>
            </a:r>
            <a:endParaRPr sz="950">
              <a:solidFill>
                <a:schemeClr val="dk1"/>
              </a:solidFill>
              <a:latin typeface="M PLUS 1p"/>
              <a:ea typeface="M PLUS 1p"/>
              <a:cs typeface="M PLUS 1p"/>
              <a:sym typeface="M PLUS 1p"/>
            </a:endParaRPr>
          </a:p>
        </p:txBody>
      </p:sp>
      <p:sp>
        <p:nvSpPr>
          <p:cNvPr id="387" name="Google Shape;387;p27"/>
          <p:cNvSpPr txBox="1"/>
          <p:nvPr/>
        </p:nvSpPr>
        <p:spPr>
          <a:xfrm>
            <a:off x="365760" y="4434840"/>
            <a:ext cx="84124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5959"/>
              </a:buClr>
              <a:buSzPts val="850"/>
              <a:buFont typeface="Meiryo"/>
              <a:buNone/>
            </a:pPr>
            <a:r>
              <a:rPr lang="ja" sz="850">
                <a:solidFill>
                  <a:srgbClr val="595959"/>
                </a:solidFill>
                <a:latin typeface="Meiryo"/>
                <a:ea typeface="Meiryo"/>
                <a:cs typeface="Meiryo"/>
                <a:sym typeface="Meiryo"/>
              </a:rPr>
              <a:t>2026年8月に初めて掲載した1,680店を当時の暫定スコアでランク分けし、翌月の掲載有無を集計。最新の採点基準では再集計が必要。</a:t>
            </a:r>
            <a:endParaRPr sz="850">
              <a:solidFill>
                <a:schemeClr val="dk1"/>
              </a:solidFill>
              <a:latin typeface="Calibri"/>
              <a:ea typeface="Calibri"/>
              <a:cs typeface="Calibri"/>
              <a:sym typeface="Calibri"/>
            </a:endParaRPr>
          </a:p>
        </p:txBody>
      </p:sp>
      <p:pic>
        <p:nvPicPr>
          <p:cNvPr id="388" name="Google Shape;388;p27"/>
          <p:cNvPicPr preferRelativeResize="0"/>
          <p:nvPr/>
        </p:nvPicPr>
        <p:blipFill rotWithShape="1">
          <a:blip r:embed="rId4">
            <a:alphaModFix/>
          </a:blip>
          <a:srcRect b="14592" l="-1090" r="1090" t="3016"/>
          <a:stretch/>
        </p:blipFill>
        <p:spPr>
          <a:xfrm>
            <a:off x="216025" y="1682912"/>
            <a:ext cx="5120700" cy="2184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3" name="Shape 393"/>
        <p:cNvGrpSpPr/>
        <p:nvPr/>
      </p:nvGrpSpPr>
      <p:grpSpPr>
        <a:xfrm>
          <a:off x="0" y="0"/>
          <a:ext cx="0" cy="0"/>
          <a:chOff x="0" y="0"/>
          <a:chExt cx="0" cy="0"/>
        </a:xfrm>
      </p:grpSpPr>
      <p:sp>
        <p:nvSpPr>
          <p:cNvPr id="394" name="Google Shape;394;p28"/>
          <p:cNvSpPr txBox="1"/>
          <p:nvPr/>
        </p:nvSpPr>
        <p:spPr>
          <a:xfrm>
            <a:off x="365760" y="182880"/>
            <a:ext cx="75895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Meiryo"/>
              <a:buNone/>
            </a:pPr>
            <a:r>
              <a:rPr b="1" lang="ja" sz="2000">
                <a:solidFill>
                  <a:srgbClr val="1A1A1A"/>
                </a:solidFill>
                <a:latin typeface="M PLUS 1p"/>
                <a:ea typeface="M PLUS 1p"/>
                <a:cs typeface="M PLUS 1p"/>
                <a:sym typeface="M PLUS 1p"/>
              </a:rPr>
              <a:t>実行設計｜営業とテックをランク別に組み合わせる</a:t>
            </a:r>
            <a:endParaRPr sz="2000">
              <a:solidFill>
                <a:schemeClr val="dk1"/>
              </a:solidFill>
              <a:latin typeface="M PLUS 1p"/>
              <a:ea typeface="M PLUS 1p"/>
              <a:cs typeface="M PLUS 1p"/>
              <a:sym typeface="M PLUS 1p"/>
            </a:endParaRPr>
          </a:p>
        </p:txBody>
      </p:sp>
      <p:sp>
        <p:nvSpPr>
          <p:cNvPr id="395" name="Google Shape;395;p28"/>
          <p:cNvSpPr txBox="1"/>
          <p:nvPr/>
        </p:nvSpPr>
        <p:spPr>
          <a:xfrm>
            <a:off x="8046720" y="164592"/>
            <a:ext cx="7315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A1A1A"/>
              </a:buClr>
              <a:buSzPts val="1400"/>
              <a:buFont typeface="Meiryo"/>
              <a:buNone/>
            </a:pPr>
            <a:r>
              <a:rPr b="1" lang="ja" sz="1400">
                <a:solidFill>
                  <a:srgbClr val="1A1A1A"/>
                </a:solidFill>
                <a:latin typeface="Meiryo"/>
                <a:ea typeface="Meiryo"/>
                <a:cs typeface="Meiryo"/>
                <a:sym typeface="Meiryo"/>
              </a:rPr>
              <a:t>Timee</a:t>
            </a:r>
            <a:endParaRPr sz="1400">
              <a:solidFill>
                <a:schemeClr val="dk1"/>
              </a:solidFill>
              <a:latin typeface="Calibri"/>
              <a:ea typeface="Calibri"/>
              <a:cs typeface="Calibri"/>
              <a:sym typeface="Calibri"/>
            </a:endParaRPr>
          </a:p>
        </p:txBody>
      </p:sp>
      <p:sp>
        <p:nvSpPr>
          <p:cNvPr id="396" name="Google Shape;396;p28"/>
          <p:cNvSpPr/>
          <p:nvPr/>
        </p:nvSpPr>
        <p:spPr>
          <a:xfrm>
            <a:off x="365760" y="658368"/>
            <a:ext cx="8412480" cy="457200"/>
          </a:xfrm>
          <a:prstGeom prst="rect">
            <a:avLst/>
          </a:prstGeom>
          <a:solidFill>
            <a:srgbClr val="FFF6D9"/>
          </a:solidFill>
          <a:ln cap="flat" cmpd="sng" w="12700">
            <a:solidFill>
              <a:srgbClr val="FFF6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397" name="Google Shape;397;p28"/>
          <p:cNvSpPr txBox="1"/>
          <p:nvPr/>
        </p:nvSpPr>
        <p:spPr>
          <a:xfrm>
            <a:off x="502920" y="658368"/>
            <a:ext cx="8138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50"/>
              <a:buFont typeface="Meiryo"/>
              <a:buNone/>
            </a:pPr>
            <a:r>
              <a:rPr lang="ja" sz="1150">
                <a:solidFill>
                  <a:srgbClr val="1A1A1A"/>
                </a:solidFill>
                <a:latin typeface="M PLUS 1p"/>
                <a:ea typeface="M PLUS 1p"/>
                <a:cs typeface="M PLUS 1p"/>
                <a:sym typeface="M PLUS 1p"/>
              </a:rPr>
              <a:t>営業はC・Dの当月架電と翌月フォローに集中。</a:t>
            </a:r>
            <a:r>
              <a:rPr b="1" lang="ja" sz="1150">
                <a:solidFill>
                  <a:srgbClr val="1D7FE8"/>
                </a:solidFill>
                <a:latin typeface="M PLUS 1p"/>
                <a:ea typeface="M PLUS 1p"/>
                <a:cs typeface="M PLUS 1p"/>
                <a:sym typeface="M PLUS 1p"/>
              </a:rPr>
              <a:t>テックはワーカー中心でランクごとに手段を足し引きし、EランクもDMだけは全件に届ける</a:t>
            </a:r>
            <a:endParaRPr sz="1150">
              <a:solidFill>
                <a:schemeClr val="dk1"/>
              </a:solidFill>
              <a:latin typeface="M PLUS 1p"/>
              <a:ea typeface="M PLUS 1p"/>
              <a:cs typeface="M PLUS 1p"/>
              <a:sym typeface="M PLUS 1p"/>
            </a:endParaRPr>
          </a:p>
        </p:txBody>
      </p:sp>
      <p:sp>
        <p:nvSpPr>
          <p:cNvPr id="398" name="Google Shape;398;p28"/>
          <p:cNvSpPr txBox="1"/>
          <p:nvPr/>
        </p:nvSpPr>
        <p:spPr>
          <a:xfrm>
            <a:off x="5852160" y="4846320"/>
            <a:ext cx="2926080"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8C8C8C"/>
              </a:buClr>
              <a:buSzPts val="700"/>
              <a:buFont typeface="Meiryo"/>
              <a:buNone/>
            </a:pPr>
            <a:r>
              <a:rPr lang="ja" sz="700">
                <a:solidFill>
                  <a:srgbClr val="8C8C8C"/>
                </a:solidFill>
                <a:latin typeface="Meiryo"/>
                <a:ea typeface="Meiryo"/>
                <a:cs typeface="Meiryo"/>
                <a:sym typeface="Meiryo"/>
              </a:rPr>
              <a:t>Copyright © Timee All Rights Reserved</a:t>
            </a:r>
            <a:endParaRPr sz="700">
              <a:solidFill>
                <a:schemeClr val="dk1"/>
              </a:solidFill>
              <a:latin typeface="Calibri"/>
              <a:ea typeface="Calibri"/>
              <a:cs typeface="Calibri"/>
              <a:sym typeface="Calibri"/>
            </a:endParaRPr>
          </a:p>
        </p:txBody>
      </p:sp>
      <p:sp>
        <p:nvSpPr>
          <p:cNvPr id="399" name="Google Shape;399;p28"/>
          <p:cNvSpPr txBox="1"/>
          <p:nvPr/>
        </p:nvSpPr>
        <p:spPr>
          <a:xfrm>
            <a:off x="365760" y="1280160"/>
            <a:ext cx="54864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5959"/>
              </a:buClr>
              <a:buSzPts val="950"/>
              <a:buFont typeface="Meiryo"/>
              <a:buNone/>
            </a:pPr>
            <a:r>
              <a:rPr lang="ja" sz="950">
                <a:solidFill>
                  <a:srgbClr val="595959"/>
                </a:solidFill>
                <a:latin typeface="M PLUS 1p"/>
                <a:ea typeface="M PLUS 1p"/>
                <a:cs typeface="M PLUS 1p"/>
                <a:sym typeface="M PLUS 1p"/>
              </a:rPr>
              <a:t>ランク</a:t>
            </a:r>
            <a:endParaRPr sz="950">
              <a:solidFill>
                <a:schemeClr val="dk1"/>
              </a:solidFill>
              <a:latin typeface="M PLUS 1p"/>
              <a:ea typeface="M PLUS 1p"/>
              <a:cs typeface="M PLUS 1p"/>
              <a:sym typeface="M PLUS 1p"/>
            </a:endParaRPr>
          </a:p>
        </p:txBody>
      </p:sp>
      <p:sp>
        <p:nvSpPr>
          <p:cNvPr id="400" name="Google Shape;400;p28"/>
          <p:cNvSpPr txBox="1"/>
          <p:nvPr/>
        </p:nvSpPr>
        <p:spPr>
          <a:xfrm>
            <a:off x="914400" y="1280160"/>
            <a:ext cx="155448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5959"/>
              </a:buClr>
              <a:buSzPts val="950"/>
              <a:buFont typeface="Meiryo"/>
              <a:buNone/>
            </a:pPr>
            <a:r>
              <a:rPr lang="ja" sz="950">
                <a:solidFill>
                  <a:srgbClr val="595959"/>
                </a:solidFill>
                <a:latin typeface="M PLUS 1p"/>
                <a:ea typeface="M PLUS 1p"/>
                <a:cs typeface="M PLUS 1p"/>
                <a:sym typeface="M PLUS 1p"/>
              </a:rPr>
              <a:t>営業【当月】</a:t>
            </a:r>
            <a:endParaRPr sz="950">
              <a:solidFill>
                <a:schemeClr val="dk1"/>
              </a:solidFill>
              <a:latin typeface="M PLUS 1p"/>
              <a:ea typeface="M PLUS 1p"/>
              <a:cs typeface="M PLUS 1p"/>
              <a:sym typeface="M PLUS 1p"/>
            </a:endParaRPr>
          </a:p>
        </p:txBody>
      </p:sp>
      <p:sp>
        <p:nvSpPr>
          <p:cNvPr id="401" name="Google Shape;401;p28"/>
          <p:cNvSpPr txBox="1"/>
          <p:nvPr/>
        </p:nvSpPr>
        <p:spPr>
          <a:xfrm>
            <a:off x="2514600" y="1280160"/>
            <a:ext cx="21945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5959"/>
              </a:buClr>
              <a:buSzPts val="950"/>
              <a:buFont typeface="Meiryo"/>
              <a:buNone/>
            </a:pPr>
            <a:r>
              <a:rPr lang="ja" sz="950">
                <a:solidFill>
                  <a:srgbClr val="595959"/>
                </a:solidFill>
                <a:latin typeface="M PLUS 1p"/>
                <a:ea typeface="M PLUS 1p"/>
                <a:cs typeface="M PLUS 1p"/>
                <a:sym typeface="M PLUS 1p"/>
              </a:rPr>
              <a:t>営業【翌月】</a:t>
            </a:r>
            <a:endParaRPr sz="950">
              <a:solidFill>
                <a:schemeClr val="dk1"/>
              </a:solidFill>
              <a:latin typeface="M PLUS 1p"/>
              <a:ea typeface="M PLUS 1p"/>
              <a:cs typeface="M PLUS 1p"/>
              <a:sym typeface="M PLUS 1p"/>
            </a:endParaRPr>
          </a:p>
        </p:txBody>
      </p:sp>
      <p:sp>
        <p:nvSpPr>
          <p:cNvPr id="402" name="Google Shape;402;p28"/>
          <p:cNvSpPr txBox="1"/>
          <p:nvPr/>
        </p:nvSpPr>
        <p:spPr>
          <a:xfrm>
            <a:off x="4754880" y="1280160"/>
            <a:ext cx="40233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5959"/>
              </a:buClr>
              <a:buSzPts val="950"/>
              <a:buFont typeface="Meiryo"/>
              <a:buNone/>
            </a:pPr>
            <a:r>
              <a:rPr lang="ja" sz="950">
                <a:solidFill>
                  <a:srgbClr val="595959"/>
                </a:solidFill>
                <a:latin typeface="M PLUS 1p"/>
                <a:ea typeface="M PLUS 1p"/>
                <a:cs typeface="M PLUS 1p"/>
                <a:sym typeface="M PLUS 1p"/>
              </a:rPr>
              <a:t>テック【当月・翌月共通】</a:t>
            </a:r>
            <a:endParaRPr sz="950">
              <a:solidFill>
                <a:schemeClr val="dk1"/>
              </a:solidFill>
              <a:latin typeface="M PLUS 1p"/>
              <a:ea typeface="M PLUS 1p"/>
              <a:cs typeface="M PLUS 1p"/>
              <a:sym typeface="M PLUS 1p"/>
            </a:endParaRPr>
          </a:p>
        </p:txBody>
      </p:sp>
      <p:cxnSp>
        <p:nvCxnSpPr>
          <p:cNvPr id="403" name="Google Shape;403;p28"/>
          <p:cNvCxnSpPr/>
          <p:nvPr/>
        </p:nvCxnSpPr>
        <p:spPr>
          <a:xfrm>
            <a:off x="365760" y="1536192"/>
            <a:ext cx="8412480" cy="0"/>
          </a:xfrm>
          <a:prstGeom prst="straightConnector1">
            <a:avLst/>
          </a:prstGeom>
          <a:noFill/>
          <a:ln cap="flat" cmpd="sng" w="12700">
            <a:solidFill>
              <a:srgbClr val="E0E0E0"/>
            </a:solidFill>
            <a:prstDash val="solid"/>
            <a:round/>
            <a:headEnd len="sm" w="sm" type="none"/>
            <a:tailEnd len="sm" w="sm" type="none"/>
          </a:ln>
        </p:spPr>
      </p:cxnSp>
      <p:sp>
        <p:nvSpPr>
          <p:cNvPr id="404" name="Google Shape;404;p28"/>
          <p:cNvSpPr/>
          <p:nvPr/>
        </p:nvSpPr>
        <p:spPr>
          <a:xfrm>
            <a:off x="365760" y="1609344"/>
            <a:ext cx="8412480" cy="457200"/>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28"/>
          <p:cNvSpPr/>
          <p:nvPr/>
        </p:nvSpPr>
        <p:spPr>
          <a:xfrm>
            <a:off x="457200" y="1728216"/>
            <a:ext cx="237744" cy="219456"/>
          </a:xfrm>
          <a:prstGeom prst="rect">
            <a:avLst/>
          </a:prstGeom>
          <a:solidFill>
            <a:srgbClr val="FFD100"/>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6" name="Google Shape;406;p28"/>
          <p:cNvSpPr txBox="1"/>
          <p:nvPr/>
        </p:nvSpPr>
        <p:spPr>
          <a:xfrm>
            <a:off x="457200" y="1728216"/>
            <a:ext cx="23774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000"/>
              <a:buFont typeface="Meiryo"/>
              <a:buNone/>
            </a:pPr>
            <a:r>
              <a:rPr b="1" lang="ja" sz="1000">
                <a:solidFill>
                  <a:srgbClr val="1A1A1A"/>
                </a:solidFill>
                <a:latin typeface="Meiryo"/>
                <a:ea typeface="Meiryo"/>
                <a:cs typeface="Meiryo"/>
                <a:sym typeface="Meiryo"/>
              </a:rPr>
              <a:t>A</a:t>
            </a:r>
            <a:endParaRPr sz="1000">
              <a:solidFill>
                <a:schemeClr val="dk1"/>
              </a:solidFill>
              <a:latin typeface="Calibri"/>
              <a:ea typeface="Calibri"/>
              <a:cs typeface="Calibri"/>
              <a:sym typeface="Calibri"/>
            </a:endParaRPr>
          </a:p>
        </p:txBody>
      </p:sp>
      <p:sp>
        <p:nvSpPr>
          <p:cNvPr id="407" name="Google Shape;407;p28"/>
          <p:cNvSpPr/>
          <p:nvPr/>
        </p:nvSpPr>
        <p:spPr>
          <a:xfrm>
            <a:off x="914400" y="1655064"/>
            <a:ext cx="1463040" cy="365760"/>
          </a:xfrm>
          <a:prstGeom prst="rect">
            <a:avLst/>
          </a:prstGeom>
          <a:solidFill>
            <a:srgbClr val="EDEDED"/>
          </a:solidFill>
          <a:ln cap="flat" cmpd="sng" w="12700">
            <a:solidFill>
              <a:srgbClr val="EDED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28"/>
          <p:cNvSpPr txBox="1"/>
          <p:nvPr/>
        </p:nvSpPr>
        <p:spPr>
          <a:xfrm>
            <a:off x="1005840" y="1655064"/>
            <a:ext cx="1280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5959"/>
              </a:buClr>
              <a:buSzPts val="950"/>
              <a:buFont typeface="Meiryo"/>
              <a:buNone/>
            </a:pPr>
            <a:r>
              <a:rPr lang="ja" sz="950">
                <a:solidFill>
                  <a:srgbClr val="595959"/>
                </a:solidFill>
                <a:latin typeface="M PLUS 1p"/>
                <a:ea typeface="M PLUS 1p"/>
                <a:cs typeface="M PLUS 1p"/>
                <a:sym typeface="M PLUS 1p"/>
              </a:rPr>
              <a:t>個別介入なし</a:t>
            </a:r>
            <a:endParaRPr sz="950">
              <a:solidFill>
                <a:schemeClr val="dk1"/>
              </a:solidFill>
              <a:latin typeface="M PLUS 1p"/>
              <a:ea typeface="M PLUS 1p"/>
              <a:cs typeface="M PLUS 1p"/>
              <a:sym typeface="M PLUS 1p"/>
            </a:endParaRPr>
          </a:p>
        </p:txBody>
      </p:sp>
      <p:sp>
        <p:nvSpPr>
          <p:cNvPr id="409" name="Google Shape;409;p28"/>
          <p:cNvSpPr/>
          <p:nvPr/>
        </p:nvSpPr>
        <p:spPr>
          <a:xfrm>
            <a:off x="2514600" y="1655064"/>
            <a:ext cx="2103120" cy="365760"/>
          </a:xfrm>
          <a:prstGeom prst="rect">
            <a:avLst/>
          </a:prstGeom>
          <a:solidFill>
            <a:srgbClr val="FFD100"/>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0" name="Google Shape;410;p28"/>
          <p:cNvSpPr txBox="1"/>
          <p:nvPr/>
        </p:nvSpPr>
        <p:spPr>
          <a:xfrm>
            <a:off x="2606040" y="1655064"/>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50"/>
              <a:buFont typeface="Meiryo"/>
              <a:buNone/>
            </a:pPr>
            <a:r>
              <a:rPr b="1" lang="ja" sz="950">
                <a:solidFill>
                  <a:srgbClr val="1A1A1A"/>
                </a:solidFill>
                <a:latin typeface="M PLUS 1p"/>
                <a:ea typeface="M PLUS 1p"/>
                <a:cs typeface="M PLUS 1p"/>
                <a:sym typeface="M PLUS 1p"/>
              </a:rPr>
              <a:t>電話</a:t>
            </a:r>
            <a:endParaRPr b="1" sz="950">
              <a:solidFill>
                <a:srgbClr val="1A1A1A"/>
              </a:solidFill>
              <a:latin typeface="M PLUS 1p"/>
              <a:ea typeface="M PLUS 1p"/>
              <a:cs typeface="M PLUS 1p"/>
              <a:sym typeface="M PLUS 1p"/>
            </a:endParaRPr>
          </a:p>
          <a:p>
            <a:pPr indent="0" lvl="0" marL="0" marR="0" rtl="0" algn="l">
              <a:spcBef>
                <a:spcPts val="0"/>
              </a:spcBef>
              <a:spcAft>
                <a:spcPts val="0"/>
              </a:spcAft>
              <a:buClr>
                <a:srgbClr val="1A1A1A"/>
              </a:buClr>
              <a:buSzPts val="950"/>
              <a:buFont typeface="Meiryo"/>
              <a:buNone/>
            </a:pPr>
            <a:r>
              <a:rPr b="1" lang="ja" sz="650">
                <a:solidFill>
                  <a:srgbClr val="1A1A1A"/>
                </a:solidFill>
                <a:latin typeface="M PLUS 1p"/>
                <a:ea typeface="M PLUS 1p"/>
                <a:cs typeface="M PLUS 1p"/>
                <a:sym typeface="M PLUS 1p"/>
              </a:rPr>
              <a:t>（17日時点で未継続の事業所へ架電）</a:t>
            </a:r>
            <a:endParaRPr sz="650">
              <a:solidFill>
                <a:schemeClr val="dk1"/>
              </a:solidFill>
              <a:latin typeface="M PLUS 1p"/>
              <a:ea typeface="M PLUS 1p"/>
              <a:cs typeface="M PLUS 1p"/>
              <a:sym typeface="M PLUS 1p"/>
            </a:endParaRPr>
          </a:p>
        </p:txBody>
      </p:sp>
      <p:sp>
        <p:nvSpPr>
          <p:cNvPr id="411" name="Google Shape;411;p28"/>
          <p:cNvSpPr txBox="1"/>
          <p:nvPr/>
        </p:nvSpPr>
        <p:spPr>
          <a:xfrm>
            <a:off x="4846320" y="1655064"/>
            <a:ext cx="3840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950"/>
              <a:buFont typeface="Meiryo"/>
              <a:buNone/>
            </a:pPr>
            <a:r>
              <a:rPr lang="ja" sz="950">
                <a:solidFill>
                  <a:srgbClr val="434343"/>
                </a:solidFill>
                <a:latin typeface="M PLUS 1p"/>
                <a:ea typeface="M PLUS 1p"/>
                <a:cs typeface="M PLUS 1p"/>
                <a:sym typeface="M PLUS 1p"/>
              </a:rPr>
              <a:t>日程調整メール（bookrun・営業が対応）／個別LINE案内</a:t>
            </a:r>
            <a:endParaRPr sz="950">
              <a:solidFill>
                <a:schemeClr val="dk1"/>
              </a:solidFill>
              <a:latin typeface="M PLUS 1p"/>
              <a:ea typeface="M PLUS 1p"/>
              <a:cs typeface="M PLUS 1p"/>
              <a:sym typeface="M PLUS 1p"/>
            </a:endParaRPr>
          </a:p>
        </p:txBody>
      </p:sp>
      <p:sp>
        <p:nvSpPr>
          <p:cNvPr id="412" name="Google Shape;412;p28"/>
          <p:cNvSpPr/>
          <p:nvPr/>
        </p:nvSpPr>
        <p:spPr>
          <a:xfrm>
            <a:off x="365760" y="2121408"/>
            <a:ext cx="8412480" cy="457200"/>
          </a:xfrm>
          <a:prstGeom prst="rect">
            <a:avLst/>
          </a:prstGeom>
          <a:solidFill>
            <a:srgbClr val="FAFAFA"/>
          </a:solidFill>
          <a:ln cap="flat" cmpd="sng" w="12700">
            <a:solidFill>
              <a:srgbClr val="FAFAF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28"/>
          <p:cNvSpPr/>
          <p:nvPr/>
        </p:nvSpPr>
        <p:spPr>
          <a:xfrm>
            <a:off x="457200" y="2240280"/>
            <a:ext cx="237744" cy="219456"/>
          </a:xfrm>
          <a:prstGeom prst="rect">
            <a:avLst/>
          </a:prstGeom>
          <a:solidFill>
            <a:srgbClr val="FFD100"/>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28"/>
          <p:cNvSpPr txBox="1"/>
          <p:nvPr/>
        </p:nvSpPr>
        <p:spPr>
          <a:xfrm>
            <a:off x="457200" y="2240280"/>
            <a:ext cx="23774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000"/>
              <a:buFont typeface="Meiryo"/>
              <a:buNone/>
            </a:pPr>
            <a:r>
              <a:rPr b="1" lang="ja" sz="1000">
                <a:solidFill>
                  <a:srgbClr val="1A1A1A"/>
                </a:solidFill>
                <a:latin typeface="Meiryo"/>
                <a:ea typeface="Meiryo"/>
                <a:cs typeface="Meiryo"/>
                <a:sym typeface="Meiryo"/>
              </a:rPr>
              <a:t>B</a:t>
            </a:r>
            <a:endParaRPr sz="1000">
              <a:solidFill>
                <a:schemeClr val="dk1"/>
              </a:solidFill>
              <a:latin typeface="Calibri"/>
              <a:ea typeface="Calibri"/>
              <a:cs typeface="Calibri"/>
              <a:sym typeface="Calibri"/>
            </a:endParaRPr>
          </a:p>
        </p:txBody>
      </p:sp>
      <p:sp>
        <p:nvSpPr>
          <p:cNvPr id="415" name="Google Shape;415;p28"/>
          <p:cNvSpPr/>
          <p:nvPr/>
        </p:nvSpPr>
        <p:spPr>
          <a:xfrm>
            <a:off x="914400" y="2167128"/>
            <a:ext cx="1463040" cy="365760"/>
          </a:xfrm>
          <a:prstGeom prst="rect">
            <a:avLst/>
          </a:prstGeom>
          <a:solidFill>
            <a:srgbClr val="EDEDED"/>
          </a:solidFill>
          <a:ln cap="flat" cmpd="sng" w="12700">
            <a:solidFill>
              <a:srgbClr val="EDED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28"/>
          <p:cNvSpPr txBox="1"/>
          <p:nvPr/>
        </p:nvSpPr>
        <p:spPr>
          <a:xfrm>
            <a:off x="1005840" y="2167128"/>
            <a:ext cx="1280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5959"/>
              </a:buClr>
              <a:buSzPts val="950"/>
              <a:buFont typeface="Meiryo"/>
              <a:buNone/>
            </a:pPr>
            <a:r>
              <a:rPr lang="ja" sz="950">
                <a:solidFill>
                  <a:srgbClr val="595959"/>
                </a:solidFill>
                <a:latin typeface="M PLUS 1p"/>
                <a:ea typeface="M PLUS 1p"/>
                <a:cs typeface="M PLUS 1p"/>
                <a:sym typeface="M PLUS 1p"/>
              </a:rPr>
              <a:t>個別介入なし</a:t>
            </a:r>
            <a:endParaRPr sz="950">
              <a:solidFill>
                <a:schemeClr val="dk1"/>
              </a:solidFill>
              <a:latin typeface="M PLUS 1p"/>
              <a:ea typeface="M PLUS 1p"/>
              <a:cs typeface="M PLUS 1p"/>
              <a:sym typeface="M PLUS 1p"/>
            </a:endParaRPr>
          </a:p>
        </p:txBody>
      </p:sp>
      <p:sp>
        <p:nvSpPr>
          <p:cNvPr id="417" name="Google Shape;417;p28"/>
          <p:cNvSpPr/>
          <p:nvPr/>
        </p:nvSpPr>
        <p:spPr>
          <a:xfrm>
            <a:off x="2514600" y="2167128"/>
            <a:ext cx="2103120" cy="365760"/>
          </a:xfrm>
          <a:prstGeom prst="rect">
            <a:avLst/>
          </a:prstGeom>
          <a:solidFill>
            <a:srgbClr val="FFD100"/>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28"/>
          <p:cNvSpPr txBox="1"/>
          <p:nvPr/>
        </p:nvSpPr>
        <p:spPr>
          <a:xfrm>
            <a:off x="2606040" y="2167128"/>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50"/>
              <a:buFont typeface="Meiryo"/>
              <a:buNone/>
            </a:pPr>
            <a:r>
              <a:rPr b="1" lang="ja" sz="950">
                <a:solidFill>
                  <a:srgbClr val="1A1A1A"/>
                </a:solidFill>
                <a:latin typeface="M PLUS 1p"/>
                <a:ea typeface="M PLUS 1p"/>
                <a:cs typeface="M PLUS 1p"/>
                <a:sym typeface="M PLUS 1p"/>
              </a:rPr>
              <a:t>電話</a:t>
            </a:r>
            <a:endParaRPr b="1" sz="950">
              <a:solidFill>
                <a:srgbClr val="1A1A1A"/>
              </a:solidFill>
              <a:latin typeface="M PLUS 1p"/>
              <a:ea typeface="M PLUS 1p"/>
              <a:cs typeface="M PLUS 1p"/>
              <a:sym typeface="M PLUS 1p"/>
            </a:endParaRPr>
          </a:p>
          <a:p>
            <a:pPr indent="0" lvl="0" marL="0" marR="0" rtl="0" algn="l">
              <a:spcBef>
                <a:spcPts val="0"/>
              </a:spcBef>
              <a:spcAft>
                <a:spcPts val="0"/>
              </a:spcAft>
              <a:buClr>
                <a:srgbClr val="1A1A1A"/>
              </a:buClr>
              <a:buSzPts val="950"/>
              <a:buFont typeface="Meiryo"/>
              <a:buNone/>
            </a:pPr>
            <a:r>
              <a:rPr b="1" lang="ja" sz="650">
                <a:solidFill>
                  <a:srgbClr val="1A1A1A"/>
                </a:solidFill>
                <a:latin typeface="M PLUS 1p"/>
                <a:ea typeface="M PLUS 1p"/>
                <a:cs typeface="M PLUS 1p"/>
                <a:sym typeface="M PLUS 1p"/>
              </a:rPr>
              <a:t>（17日時点で未継続の事業所へ架電）</a:t>
            </a:r>
            <a:endParaRPr sz="650">
              <a:solidFill>
                <a:schemeClr val="dk1"/>
              </a:solidFill>
              <a:latin typeface="M PLUS 1p"/>
              <a:ea typeface="M PLUS 1p"/>
              <a:cs typeface="M PLUS 1p"/>
              <a:sym typeface="M PLUS 1p"/>
            </a:endParaRPr>
          </a:p>
        </p:txBody>
      </p:sp>
      <p:sp>
        <p:nvSpPr>
          <p:cNvPr id="419" name="Google Shape;419;p28"/>
          <p:cNvSpPr txBox="1"/>
          <p:nvPr/>
        </p:nvSpPr>
        <p:spPr>
          <a:xfrm>
            <a:off x="4846320" y="2167128"/>
            <a:ext cx="3840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950"/>
              <a:buFont typeface="Meiryo"/>
              <a:buNone/>
            </a:pPr>
            <a:r>
              <a:rPr lang="ja" sz="950">
                <a:solidFill>
                  <a:srgbClr val="434343"/>
                </a:solidFill>
                <a:latin typeface="M PLUS 1p"/>
                <a:ea typeface="M PLUS 1p"/>
                <a:cs typeface="M PLUS 1p"/>
                <a:sym typeface="M PLUS 1p"/>
              </a:rPr>
              <a:t>DM（メール／ハガキ）／日程調整メール（bookrun）／資料・ノベルティ送付／個別LINE案内</a:t>
            </a:r>
            <a:endParaRPr sz="950">
              <a:solidFill>
                <a:schemeClr val="dk1"/>
              </a:solidFill>
              <a:latin typeface="M PLUS 1p"/>
              <a:ea typeface="M PLUS 1p"/>
              <a:cs typeface="M PLUS 1p"/>
              <a:sym typeface="M PLUS 1p"/>
            </a:endParaRPr>
          </a:p>
        </p:txBody>
      </p:sp>
      <p:sp>
        <p:nvSpPr>
          <p:cNvPr id="420" name="Google Shape;420;p28"/>
          <p:cNvSpPr/>
          <p:nvPr/>
        </p:nvSpPr>
        <p:spPr>
          <a:xfrm>
            <a:off x="365760" y="2633472"/>
            <a:ext cx="8412480" cy="457200"/>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28"/>
          <p:cNvSpPr/>
          <p:nvPr/>
        </p:nvSpPr>
        <p:spPr>
          <a:xfrm>
            <a:off x="457200" y="2752344"/>
            <a:ext cx="237744" cy="219456"/>
          </a:xfrm>
          <a:prstGeom prst="rect">
            <a:avLst/>
          </a:prstGeom>
          <a:solidFill>
            <a:srgbClr val="FFD100"/>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28"/>
          <p:cNvSpPr txBox="1"/>
          <p:nvPr/>
        </p:nvSpPr>
        <p:spPr>
          <a:xfrm>
            <a:off x="457200" y="2752344"/>
            <a:ext cx="23774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000"/>
              <a:buFont typeface="Meiryo"/>
              <a:buNone/>
            </a:pPr>
            <a:r>
              <a:rPr b="1" lang="ja" sz="1000">
                <a:solidFill>
                  <a:srgbClr val="1A1A1A"/>
                </a:solidFill>
                <a:latin typeface="Meiryo"/>
                <a:ea typeface="Meiryo"/>
                <a:cs typeface="Meiryo"/>
                <a:sym typeface="Meiryo"/>
              </a:rPr>
              <a:t>C</a:t>
            </a:r>
            <a:endParaRPr sz="1000">
              <a:solidFill>
                <a:schemeClr val="dk1"/>
              </a:solidFill>
              <a:latin typeface="Calibri"/>
              <a:ea typeface="Calibri"/>
              <a:cs typeface="Calibri"/>
              <a:sym typeface="Calibri"/>
            </a:endParaRPr>
          </a:p>
        </p:txBody>
      </p:sp>
      <p:sp>
        <p:nvSpPr>
          <p:cNvPr id="423" name="Google Shape;423;p28"/>
          <p:cNvSpPr/>
          <p:nvPr/>
        </p:nvSpPr>
        <p:spPr>
          <a:xfrm>
            <a:off x="914400" y="2679192"/>
            <a:ext cx="1463040" cy="365760"/>
          </a:xfrm>
          <a:prstGeom prst="rect">
            <a:avLst/>
          </a:prstGeom>
          <a:solidFill>
            <a:srgbClr val="FFD100"/>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28"/>
          <p:cNvSpPr txBox="1"/>
          <p:nvPr/>
        </p:nvSpPr>
        <p:spPr>
          <a:xfrm>
            <a:off x="1005840" y="2679192"/>
            <a:ext cx="1280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50"/>
              <a:buFont typeface="Meiryo"/>
              <a:buNone/>
            </a:pPr>
            <a:r>
              <a:rPr b="1" lang="ja" sz="950">
                <a:solidFill>
                  <a:srgbClr val="1A1A1A"/>
                </a:solidFill>
                <a:latin typeface="M PLUS 1p"/>
                <a:ea typeface="M PLUS 1p"/>
                <a:cs typeface="M PLUS 1p"/>
                <a:sym typeface="M PLUS 1p"/>
              </a:rPr>
              <a:t>電話</a:t>
            </a:r>
            <a:endParaRPr sz="950">
              <a:solidFill>
                <a:schemeClr val="dk1"/>
              </a:solidFill>
              <a:latin typeface="M PLUS 1p"/>
              <a:ea typeface="M PLUS 1p"/>
              <a:cs typeface="M PLUS 1p"/>
              <a:sym typeface="M PLUS 1p"/>
            </a:endParaRPr>
          </a:p>
        </p:txBody>
      </p:sp>
      <p:sp>
        <p:nvSpPr>
          <p:cNvPr id="425" name="Google Shape;425;p28"/>
          <p:cNvSpPr/>
          <p:nvPr/>
        </p:nvSpPr>
        <p:spPr>
          <a:xfrm>
            <a:off x="2514600" y="2679192"/>
            <a:ext cx="2103120" cy="365760"/>
          </a:xfrm>
          <a:prstGeom prst="rect">
            <a:avLst/>
          </a:prstGeom>
          <a:solidFill>
            <a:srgbClr val="FFD100"/>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28"/>
          <p:cNvSpPr txBox="1"/>
          <p:nvPr/>
        </p:nvSpPr>
        <p:spPr>
          <a:xfrm>
            <a:off x="2606040" y="2679192"/>
            <a:ext cx="19203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50"/>
              <a:buFont typeface="Meiryo"/>
              <a:buNone/>
            </a:pPr>
            <a:r>
              <a:rPr b="1" lang="ja" sz="850">
                <a:solidFill>
                  <a:srgbClr val="1A1A1A"/>
                </a:solidFill>
                <a:latin typeface="M PLUS 1p"/>
                <a:ea typeface="M PLUS 1p"/>
                <a:cs typeface="M PLUS 1p"/>
                <a:sym typeface="M PLUS 1p"/>
              </a:rPr>
              <a:t>【関東】対面商談</a:t>
            </a:r>
            <a:r>
              <a:rPr b="1" lang="ja" sz="550">
                <a:solidFill>
                  <a:srgbClr val="1A1A1A"/>
                </a:solidFill>
                <a:latin typeface="M PLUS 1p"/>
                <a:ea typeface="M PLUS 1p"/>
                <a:cs typeface="M PLUS 1p"/>
                <a:sym typeface="M PLUS 1p"/>
              </a:rPr>
              <a:t>（まずオンラインアポ前提）</a:t>
            </a:r>
            <a:endParaRPr sz="550">
              <a:solidFill>
                <a:schemeClr val="dk1"/>
              </a:solidFill>
              <a:latin typeface="M PLUS 1p"/>
              <a:ea typeface="M PLUS 1p"/>
              <a:cs typeface="M PLUS 1p"/>
              <a:sym typeface="M PLUS 1p"/>
            </a:endParaRPr>
          </a:p>
          <a:p>
            <a:pPr indent="0" lvl="0" marL="0" marR="0" rtl="0" algn="l">
              <a:spcBef>
                <a:spcPts val="0"/>
              </a:spcBef>
              <a:spcAft>
                <a:spcPts val="0"/>
              </a:spcAft>
              <a:buClr>
                <a:srgbClr val="1A1A1A"/>
              </a:buClr>
              <a:buSzPts val="950"/>
              <a:buFont typeface="Meiryo"/>
              <a:buNone/>
            </a:pPr>
            <a:r>
              <a:rPr b="1" lang="ja" sz="850">
                <a:solidFill>
                  <a:srgbClr val="1A1A1A"/>
                </a:solidFill>
                <a:latin typeface="M PLUS 1p"/>
                <a:ea typeface="M PLUS 1p"/>
                <a:cs typeface="M PLUS 1p"/>
                <a:sym typeface="M PLUS 1p"/>
              </a:rPr>
              <a:t>【地方】WEB商談</a:t>
            </a:r>
            <a:endParaRPr sz="850">
              <a:solidFill>
                <a:schemeClr val="dk1"/>
              </a:solidFill>
              <a:latin typeface="M PLUS 1p"/>
              <a:ea typeface="M PLUS 1p"/>
              <a:cs typeface="M PLUS 1p"/>
              <a:sym typeface="M PLUS 1p"/>
            </a:endParaRPr>
          </a:p>
        </p:txBody>
      </p:sp>
      <p:sp>
        <p:nvSpPr>
          <p:cNvPr id="427" name="Google Shape;427;p28"/>
          <p:cNvSpPr txBox="1"/>
          <p:nvPr/>
        </p:nvSpPr>
        <p:spPr>
          <a:xfrm>
            <a:off x="4846320" y="2679192"/>
            <a:ext cx="3840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950"/>
              <a:buFont typeface="Meiryo"/>
              <a:buNone/>
            </a:pPr>
            <a:r>
              <a:rPr lang="ja" sz="950">
                <a:solidFill>
                  <a:srgbClr val="434343"/>
                </a:solidFill>
                <a:latin typeface="M PLUS 1p"/>
                <a:ea typeface="M PLUS 1p"/>
                <a:cs typeface="M PLUS 1p"/>
                <a:sym typeface="M PLUS 1p"/>
              </a:rPr>
              <a:t>DM（メール／ハガキ）／日程調整メール（bookrun）／資料・ノベルティ送付／個別LINE案内</a:t>
            </a:r>
            <a:endParaRPr sz="950">
              <a:solidFill>
                <a:schemeClr val="dk1"/>
              </a:solidFill>
              <a:latin typeface="M PLUS 1p"/>
              <a:ea typeface="M PLUS 1p"/>
              <a:cs typeface="M PLUS 1p"/>
              <a:sym typeface="M PLUS 1p"/>
            </a:endParaRPr>
          </a:p>
        </p:txBody>
      </p:sp>
      <p:sp>
        <p:nvSpPr>
          <p:cNvPr id="428" name="Google Shape;428;p28"/>
          <p:cNvSpPr/>
          <p:nvPr/>
        </p:nvSpPr>
        <p:spPr>
          <a:xfrm>
            <a:off x="365760" y="3145536"/>
            <a:ext cx="8412480" cy="457200"/>
          </a:xfrm>
          <a:prstGeom prst="rect">
            <a:avLst/>
          </a:prstGeom>
          <a:solidFill>
            <a:srgbClr val="FAFAFA"/>
          </a:solidFill>
          <a:ln cap="flat" cmpd="sng" w="12700">
            <a:solidFill>
              <a:srgbClr val="FAFAF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28"/>
          <p:cNvSpPr/>
          <p:nvPr/>
        </p:nvSpPr>
        <p:spPr>
          <a:xfrm>
            <a:off x="457200" y="3264408"/>
            <a:ext cx="237744" cy="219456"/>
          </a:xfrm>
          <a:prstGeom prst="rect">
            <a:avLst/>
          </a:prstGeom>
          <a:solidFill>
            <a:srgbClr val="FFD100"/>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0" name="Google Shape;430;p28"/>
          <p:cNvSpPr txBox="1"/>
          <p:nvPr/>
        </p:nvSpPr>
        <p:spPr>
          <a:xfrm>
            <a:off x="457200" y="3264408"/>
            <a:ext cx="23774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000"/>
              <a:buFont typeface="Meiryo"/>
              <a:buNone/>
            </a:pPr>
            <a:r>
              <a:rPr b="1" lang="ja" sz="1000">
                <a:solidFill>
                  <a:srgbClr val="1A1A1A"/>
                </a:solidFill>
                <a:latin typeface="Meiryo"/>
                <a:ea typeface="Meiryo"/>
                <a:cs typeface="Meiryo"/>
                <a:sym typeface="Meiryo"/>
              </a:rPr>
              <a:t>D</a:t>
            </a:r>
            <a:endParaRPr sz="1000">
              <a:solidFill>
                <a:schemeClr val="dk1"/>
              </a:solidFill>
              <a:latin typeface="Calibri"/>
              <a:ea typeface="Calibri"/>
              <a:cs typeface="Calibri"/>
              <a:sym typeface="Calibri"/>
            </a:endParaRPr>
          </a:p>
        </p:txBody>
      </p:sp>
      <p:sp>
        <p:nvSpPr>
          <p:cNvPr id="431" name="Google Shape;431;p28"/>
          <p:cNvSpPr/>
          <p:nvPr/>
        </p:nvSpPr>
        <p:spPr>
          <a:xfrm>
            <a:off x="914400" y="3191256"/>
            <a:ext cx="1463040" cy="365760"/>
          </a:xfrm>
          <a:prstGeom prst="rect">
            <a:avLst/>
          </a:prstGeom>
          <a:solidFill>
            <a:srgbClr val="FFD100"/>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2" name="Google Shape;432;p28"/>
          <p:cNvSpPr txBox="1"/>
          <p:nvPr/>
        </p:nvSpPr>
        <p:spPr>
          <a:xfrm>
            <a:off x="1005840" y="3191256"/>
            <a:ext cx="1280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50"/>
              <a:buFont typeface="Meiryo"/>
              <a:buNone/>
            </a:pPr>
            <a:r>
              <a:rPr b="1" lang="ja" sz="950">
                <a:solidFill>
                  <a:srgbClr val="1A1A1A"/>
                </a:solidFill>
                <a:latin typeface="M PLUS 1p"/>
                <a:ea typeface="M PLUS 1p"/>
                <a:cs typeface="M PLUS 1p"/>
                <a:sym typeface="M PLUS 1p"/>
              </a:rPr>
              <a:t>電話</a:t>
            </a:r>
            <a:endParaRPr sz="950">
              <a:solidFill>
                <a:schemeClr val="dk1"/>
              </a:solidFill>
              <a:latin typeface="M PLUS 1p"/>
              <a:ea typeface="M PLUS 1p"/>
              <a:cs typeface="M PLUS 1p"/>
              <a:sym typeface="M PLUS 1p"/>
            </a:endParaRPr>
          </a:p>
        </p:txBody>
      </p:sp>
      <p:sp>
        <p:nvSpPr>
          <p:cNvPr id="433" name="Google Shape;433;p28"/>
          <p:cNvSpPr/>
          <p:nvPr/>
        </p:nvSpPr>
        <p:spPr>
          <a:xfrm>
            <a:off x="2514600" y="3191256"/>
            <a:ext cx="2103120" cy="365760"/>
          </a:xfrm>
          <a:prstGeom prst="rect">
            <a:avLst/>
          </a:prstGeom>
          <a:solidFill>
            <a:srgbClr val="FFD100"/>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28"/>
          <p:cNvSpPr txBox="1"/>
          <p:nvPr/>
        </p:nvSpPr>
        <p:spPr>
          <a:xfrm>
            <a:off x="2606050" y="3191250"/>
            <a:ext cx="2011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950"/>
              <a:buFont typeface="Meiryo"/>
              <a:buNone/>
            </a:pPr>
            <a:r>
              <a:rPr b="1" lang="ja" sz="850">
                <a:solidFill>
                  <a:srgbClr val="1A1A1A"/>
                </a:solidFill>
                <a:latin typeface="M PLUS 1p"/>
                <a:ea typeface="M PLUS 1p"/>
                <a:cs typeface="M PLUS 1p"/>
                <a:sym typeface="M PLUS 1p"/>
              </a:rPr>
              <a:t>【関東】対面商談</a:t>
            </a:r>
            <a:r>
              <a:rPr b="1" lang="ja" sz="550">
                <a:solidFill>
                  <a:srgbClr val="1A1A1A"/>
                </a:solidFill>
                <a:latin typeface="M PLUS 1p"/>
                <a:ea typeface="M PLUS 1p"/>
                <a:cs typeface="M PLUS 1p"/>
                <a:sym typeface="M PLUS 1p"/>
              </a:rPr>
              <a:t>（まずオンラインアポ前提）</a:t>
            </a:r>
            <a:endParaRPr sz="550">
              <a:solidFill>
                <a:schemeClr val="dk1"/>
              </a:solidFill>
              <a:latin typeface="M PLUS 1p"/>
              <a:ea typeface="M PLUS 1p"/>
              <a:cs typeface="M PLUS 1p"/>
              <a:sym typeface="M PLUS 1p"/>
            </a:endParaRPr>
          </a:p>
          <a:p>
            <a:pPr indent="0" lvl="0" marL="0" rtl="0" algn="l">
              <a:spcBef>
                <a:spcPts val="0"/>
              </a:spcBef>
              <a:spcAft>
                <a:spcPts val="0"/>
              </a:spcAft>
              <a:buClr>
                <a:srgbClr val="1A1A1A"/>
              </a:buClr>
              <a:buSzPts val="950"/>
              <a:buFont typeface="Meiryo"/>
              <a:buNone/>
            </a:pPr>
            <a:r>
              <a:rPr b="1" lang="ja" sz="850">
                <a:solidFill>
                  <a:srgbClr val="1A1A1A"/>
                </a:solidFill>
                <a:latin typeface="M PLUS 1p"/>
                <a:ea typeface="M PLUS 1p"/>
                <a:cs typeface="M PLUS 1p"/>
                <a:sym typeface="M PLUS 1p"/>
              </a:rPr>
              <a:t>【地方】WEB商談</a:t>
            </a:r>
            <a:endParaRPr b="1" sz="650">
              <a:solidFill>
                <a:srgbClr val="1A1A1A"/>
              </a:solidFill>
              <a:latin typeface="M PLUS 1p"/>
              <a:ea typeface="M PLUS 1p"/>
              <a:cs typeface="M PLUS 1p"/>
              <a:sym typeface="M PLUS 1p"/>
            </a:endParaRPr>
          </a:p>
        </p:txBody>
      </p:sp>
      <p:sp>
        <p:nvSpPr>
          <p:cNvPr id="435" name="Google Shape;435;p28"/>
          <p:cNvSpPr txBox="1"/>
          <p:nvPr/>
        </p:nvSpPr>
        <p:spPr>
          <a:xfrm>
            <a:off x="4846320" y="3191256"/>
            <a:ext cx="3840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950"/>
              <a:buFont typeface="Meiryo"/>
              <a:buNone/>
            </a:pPr>
            <a:r>
              <a:rPr lang="ja" sz="950">
                <a:solidFill>
                  <a:srgbClr val="434343"/>
                </a:solidFill>
                <a:latin typeface="M PLUS 1p"/>
                <a:ea typeface="M PLUS 1p"/>
                <a:cs typeface="M PLUS 1p"/>
                <a:sym typeface="M PLUS 1p"/>
              </a:rPr>
              <a:t>DM（メール／ハガキ）／日程調整メール（bookrun）／資料・ノベルティ送付</a:t>
            </a:r>
            <a:endParaRPr sz="950">
              <a:solidFill>
                <a:schemeClr val="dk1"/>
              </a:solidFill>
              <a:latin typeface="M PLUS 1p"/>
              <a:ea typeface="M PLUS 1p"/>
              <a:cs typeface="M PLUS 1p"/>
              <a:sym typeface="M PLUS 1p"/>
            </a:endParaRPr>
          </a:p>
        </p:txBody>
      </p:sp>
      <p:sp>
        <p:nvSpPr>
          <p:cNvPr id="436" name="Google Shape;436;p28"/>
          <p:cNvSpPr/>
          <p:nvPr/>
        </p:nvSpPr>
        <p:spPr>
          <a:xfrm>
            <a:off x="365760" y="3657600"/>
            <a:ext cx="8412480" cy="457200"/>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28"/>
          <p:cNvSpPr txBox="1"/>
          <p:nvPr/>
        </p:nvSpPr>
        <p:spPr>
          <a:xfrm>
            <a:off x="457275" y="3762697"/>
            <a:ext cx="237600" cy="219600"/>
          </a:xfrm>
          <a:prstGeom prst="rect">
            <a:avLst/>
          </a:prstGeom>
          <a:solidFill>
            <a:srgbClr val="FFD100"/>
          </a:solidFill>
          <a:ln cap="flat" cmpd="sng" w="9525">
            <a:solidFill>
              <a:srgbClr val="FFD100"/>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Meiryo"/>
              <a:buNone/>
            </a:pPr>
            <a:r>
              <a:rPr b="1" lang="ja" sz="1000">
                <a:solidFill>
                  <a:schemeClr val="dk1"/>
                </a:solidFill>
                <a:latin typeface="Meiryo"/>
                <a:ea typeface="Meiryo"/>
                <a:cs typeface="Meiryo"/>
                <a:sym typeface="Meiryo"/>
              </a:rPr>
              <a:t>E</a:t>
            </a:r>
            <a:endParaRPr sz="1000">
              <a:solidFill>
                <a:schemeClr val="dk1"/>
              </a:solidFill>
              <a:latin typeface="Calibri"/>
              <a:ea typeface="Calibri"/>
              <a:cs typeface="Calibri"/>
              <a:sym typeface="Calibri"/>
            </a:endParaRPr>
          </a:p>
        </p:txBody>
      </p:sp>
      <p:sp>
        <p:nvSpPr>
          <p:cNvPr id="438" name="Google Shape;438;p28"/>
          <p:cNvSpPr/>
          <p:nvPr/>
        </p:nvSpPr>
        <p:spPr>
          <a:xfrm>
            <a:off x="914400" y="3703320"/>
            <a:ext cx="1463040" cy="365760"/>
          </a:xfrm>
          <a:prstGeom prst="rect">
            <a:avLst/>
          </a:prstGeom>
          <a:solidFill>
            <a:srgbClr val="EDEDED"/>
          </a:solidFill>
          <a:ln cap="flat" cmpd="sng" w="12700">
            <a:solidFill>
              <a:srgbClr val="EDED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9" name="Google Shape;439;p28"/>
          <p:cNvSpPr txBox="1"/>
          <p:nvPr/>
        </p:nvSpPr>
        <p:spPr>
          <a:xfrm>
            <a:off x="1005840" y="3703320"/>
            <a:ext cx="1280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5959"/>
              </a:buClr>
              <a:buSzPts val="950"/>
              <a:buFont typeface="Meiryo"/>
              <a:buNone/>
            </a:pPr>
            <a:r>
              <a:rPr lang="ja" sz="950">
                <a:solidFill>
                  <a:srgbClr val="595959"/>
                </a:solidFill>
                <a:latin typeface="M PLUS 1p"/>
                <a:ea typeface="M PLUS 1p"/>
                <a:cs typeface="M PLUS 1p"/>
                <a:sym typeface="M PLUS 1p"/>
              </a:rPr>
              <a:t>個別介入なし</a:t>
            </a:r>
            <a:endParaRPr sz="950">
              <a:solidFill>
                <a:schemeClr val="dk1"/>
              </a:solidFill>
              <a:latin typeface="M PLUS 1p"/>
              <a:ea typeface="M PLUS 1p"/>
              <a:cs typeface="M PLUS 1p"/>
              <a:sym typeface="M PLUS 1p"/>
            </a:endParaRPr>
          </a:p>
        </p:txBody>
      </p:sp>
      <p:sp>
        <p:nvSpPr>
          <p:cNvPr id="440" name="Google Shape;440;p28"/>
          <p:cNvSpPr/>
          <p:nvPr/>
        </p:nvSpPr>
        <p:spPr>
          <a:xfrm>
            <a:off x="2514600" y="3703320"/>
            <a:ext cx="2103120" cy="365760"/>
          </a:xfrm>
          <a:prstGeom prst="rect">
            <a:avLst/>
          </a:prstGeom>
          <a:solidFill>
            <a:srgbClr val="EDEDED"/>
          </a:solidFill>
          <a:ln cap="flat" cmpd="sng" w="12700">
            <a:solidFill>
              <a:srgbClr val="EDED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28"/>
          <p:cNvSpPr txBox="1"/>
          <p:nvPr/>
        </p:nvSpPr>
        <p:spPr>
          <a:xfrm>
            <a:off x="2606040" y="3703320"/>
            <a:ext cx="1920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5959"/>
              </a:buClr>
              <a:buSzPts val="950"/>
              <a:buFont typeface="Meiryo"/>
              <a:buNone/>
            </a:pPr>
            <a:r>
              <a:rPr lang="ja" sz="950">
                <a:solidFill>
                  <a:srgbClr val="595959"/>
                </a:solidFill>
                <a:latin typeface="M PLUS 1p"/>
                <a:ea typeface="M PLUS 1p"/>
                <a:cs typeface="M PLUS 1p"/>
                <a:sym typeface="M PLUS 1p"/>
              </a:rPr>
              <a:t>個別介入なし</a:t>
            </a:r>
            <a:endParaRPr sz="950">
              <a:solidFill>
                <a:schemeClr val="dk1"/>
              </a:solidFill>
              <a:latin typeface="M PLUS 1p"/>
              <a:ea typeface="M PLUS 1p"/>
              <a:cs typeface="M PLUS 1p"/>
              <a:sym typeface="M PLUS 1p"/>
            </a:endParaRPr>
          </a:p>
        </p:txBody>
      </p:sp>
      <p:sp>
        <p:nvSpPr>
          <p:cNvPr id="442" name="Google Shape;442;p28"/>
          <p:cNvSpPr txBox="1"/>
          <p:nvPr/>
        </p:nvSpPr>
        <p:spPr>
          <a:xfrm>
            <a:off x="4846320" y="3703320"/>
            <a:ext cx="3840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34343"/>
              </a:buClr>
              <a:buSzPts val="950"/>
              <a:buFont typeface="Meiryo"/>
              <a:buNone/>
            </a:pPr>
            <a:r>
              <a:rPr lang="ja" sz="950">
                <a:solidFill>
                  <a:srgbClr val="434343"/>
                </a:solidFill>
                <a:latin typeface="M PLUS 1p"/>
                <a:ea typeface="M PLUS 1p"/>
                <a:cs typeface="M PLUS 1p"/>
                <a:sym typeface="M PLUS 1p"/>
              </a:rPr>
              <a:t>DM（メール／ハガキ）のみ</a:t>
            </a:r>
            <a:endParaRPr sz="950">
              <a:solidFill>
                <a:schemeClr val="dk1"/>
              </a:solidFill>
              <a:latin typeface="M PLUS 1p"/>
              <a:ea typeface="M PLUS 1p"/>
              <a:cs typeface="M PLUS 1p"/>
              <a:sym typeface="M PLUS 1p"/>
            </a:endParaRPr>
          </a:p>
        </p:txBody>
      </p:sp>
      <p:sp>
        <p:nvSpPr>
          <p:cNvPr id="443" name="Google Shape;443;p28"/>
          <p:cNvSpPr/>
          <p:nvPr/>
        </p:nvSpPr>
        <p:spPr>
          <a:xfrm>
            <a:off x="365760" y="4224528"/>
            <a:ext cx="8412480" cy="566928"/>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28"/>
          <p:cNvSpPr/>
          <p:nvPr/>
        </p:nvSpPr>
        <p:spPr>
          <a:xfrm>
            <a:off x="365760" y="4224528"/>
            <a:ext cx="54864" cy="566928"/>
          </a:xfrm>
          <a:prstGeom prst="rect">
            <a:avLst/>
          </a:prstGeom>
          <a:solidFill>
            <a:srgbClr val="FFD100"/>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5" name="Google Shape;445;p28"/>
          <p:cNvSpPr txBox="1"/>
          <p:nvPr/>
        </p:nvSpPr>
        <p:spPr>
          <a:xfrm>
            <a:off x="548640" y="4261104"/>
            <a:ext cx="81381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34343"/>
              </a:buClr>
              <a:buSzPts val="800"/>
              <a:buFont typeface="Meiryo"/>
              <a:buNone/>
            </a:pPr>
            <a:r>
              <a:rPr b="1" lang="ja" sz="800">
                <a:solidFill>
                  <a:srgbClr val="434343"/>
                </a:solidFill>
                <a:latin typeface="M PLUS 1p"/>
                <a:ea typeface="M PLUS 1p"/>
                <a:cs typeface="M PLUS 1p"/>
                <a:sym typeface="M PLUS 1p"/>
              </a:rPr>
              <a:t>対応者・運用メモ　</a:t>
            </a:r>
            <a:r>
              <a:rPr lang="ja" sz="800">
                <a:solidFill>
                  <a:srgbClr val="434343"/>
                </a:solidFill>
                <a:latin typeface="M PLUS 1p"/>
                <a:ea typeface="M PLUS 1p"/>
                <a:cs typeface="M PLUS 1p"/>
                <a:sym typeface="M PLUS 1p"/>
              </a:rPr>
              <a:t>架電：小泉・髙橋・営業経験ありワーカー（人材営業業界の経験1年以上）。対面商談：関東のアクセス可エリアはテレアポ→商談、地方はWEB商談。トークスクリプトは架電・対面・WEBで別途作成。　テック：対応者はワーカー中心（Aランクの日程調整メールは営業）。個別LINEは質問を受け付けない公式アカウントを新規開設（営業時間外の問い合わせは自動排除、既存アカウント・他チームとのバッティングは要確認）。送付物候補：箱ティッシュ／壁掛けカレンダー／マグネット／ステッカー。訪問先へのポスティング・FAX DMも併用。</a:t>
            </a:r>
            <a:endParaRPr sz="800">
              <a:solidFill>
                <a:schemeClr val="dk1"/>
              </a:solidFill>
              <a:latin typeface="M PLUS 1p"/>
              <a:ea typeface="M PLUS 1p"/>
              <a:cs typeface="M PLUS 1p"/>
              <a:sym typeface="M PLUS 1p"/>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0" name="Shape 450"/>
        <p:cNvGrpSpPr/>
        <p:nvPr/>
      </p:nvGrpSpPr>
      <p:grpSpPr>
        <a:xfrm>
          <a:off x="0" y="0"/>
          <a:ext cx="0" cy="0"/>
          <a:chOff x="0" y="0"/>
          <a:chExt cx="0" cy="0"/>
        </a:xfrm>
      </p:grpSpPr>
      <p:sp>
        <p:nvSpPr>
          <p:cNvPr id="451" name="Google Shape;451;p29"/>
          <p:cNvSpPr txBox="1"/>
          <p:nvPr/>
        </p:nvSpPr>
        <p:spPr>
          <a:xfrm>
            <a:off x="365760" y="182880"/>
            <a:ext cx="75895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Meiryo"/>
              <a:buNone/>
            </a:pPr>
            <a:r>
              <a:rPr b="1" lang="ja" sz="2000">
                <a:solidFill>
                  <a:srgbClr val="1A1A1A"/>
                </a:solidFill>
                <a:latin typeface="M PLUS 1p"/>
                <a:ea typeface="M PLUS 1p"/>
                <a:cs typeface="M PLUS 1p"/>
                <a:sym typeface="M PLUS 1p"/>
              </a:rPr>
              <a:t>ロードマップ｜9〜10月で検証、11月以降は主戦術化</a:t>
            </a:r>
            <a:endParaRPr sz="2000">
              <a:solidFill>
                <a:schemeClr val="dk1"/>
              </a:solidFill>
              <a:latin typeface="M PLUS 1p"/>
              <a:ea typeface="M PLUS 1p"/>
              <a:cs typeface="M PLUS 1p"/>
              <a:sym typeface="M PLUS 1p"/>
            </a:endParaRPr>
          </a:p>
        </p:txBody>
      </p:sp>
      <p:sp>
        <p:nvSpPr>
          <p:cNvPr id="452" name="Google Shape;452;p29"/>
          <p:cNvSpPr txBox="1"/>
          <p:nvPr/>
        </p:nvSpPr>
        <p:spPr>
          <a:xfrm>
            <a:off x="8046720" y="164592"/>
            <a:ext cx="7315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A1A1A"/>
              </a:buClr>
              <a:buSzPts val="1400"/>
              <a:buFont typeface="Meiryo"/>
              <a:buNone/>
            </a:pPr>
            <a:r>
              <a:rPr b="1" lang="ja" sz="1400">
                <a:solidFill>
                  <a:srgbClr val="1A1A1A"/>
                </a:solidFill>
                <a:latin typeface="M PLUS 1p"/>
                <a:ea typeface="M PLUS 1p"/>
                <a:cs typeface="M PLUS 1p"/>
                <a:sym typeface="M PLUS 1p"/>
              </a:rPr>
              <a:t>Timee</a:t>
            </a:r>
            <a:endParaRPr sz="1400">
              <a:solidFill>
                <a:schemeClr val="dk1"/>
              </a:solidFill>
              <a:latin typeface="M PLUS 1p"/>
              <a:ea typeface="M PLUS 1p"/>
              <a:cs typeface="M PLUS 1p"/>
              <a:sym typeface="M PLUS 1p"/>
            </a:endParaRPr>
          </a:p>
        </p:txBody>
      </p:sp>
      <p:sp>
        <p:nvSpPr>
          <p:cNvPr id="453" name="Google Shape;453;p29"/>
          <p:cNvSpPr/>
          <p:nvPr/>
        </p:nvSpPr>
        <p:spPr>
          <a:xfrm>
            <a:off x="365760" y="658368"/>
            <a:ext cx="8412480" cy="457200"/>
          </a:xfrm>
          <a:prstGeom prst="rect">
            <a:avLst/>
          </a:prstGeom>
          <a:solidFill>
            <a:srgbClr val="FFF6D9"/>
          </a:solidFill>
          <a:ln cap="flat" cmpd="sng" w="12700">
            <a:solidFill>
              <a:srgbClr val="FFF6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454" name="Google Shape;454;p29"/>
          <p:cNvSpPr txBox="1"/>
          <p:nvPr/>
        </p:nvSpPr>
        <p:spPr>
          <a:xfrm>
            <a:off x="502920" y="658368"/>
            <a:ext cx="8138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50"/>
              <a:buFont typeface="Meiryo"/>
              <a:buNone/>
            </a:pPr>
            <a:r>
              <a:rPr lang="ja" sz="1150">
                <a:solidFill>
                  <a:srgbClr val="1A1A1A"/>
                </a:solidFill>
                <a:latin typeface="M PLUS 1p"/>
                <a:ea typeface="M PLUS 1p"/>
                <a:cs typeface="M PLUS 1p"/>
                <a:sym typeface="M PLUS 1p"/>
              </a:rPr>
              <a:t>9〜10月はスコアを実運用しながら項目を見直す期間。</a:t>
            </a:r>
            <a:endParaRPr sz="1150">
              <a:solidFill>
                <a:srgbClr val="1A1A1A"/>
              </a:solidFill>
              <a:latin typeface="M PLUS 1p"/>
              <a:ea typeface="M PLUS 1p"/>
              <a:cs typeface="M PLUS 1p"/>
              <a:sym typeface="M PLUS 1p"/>
            </a:endParaRPr>
          </a:p>
          <a:p>
            <a:pPr indent="0" lvl="0" marL="0" marR="0" rtl="0" algn="l">
              <a:spcBef>
                <a:spcPts val="0"/>
              </a:spcBef>
              <a:spcAft>
                <a:spcPts val="0"/>
              </a:spcAft>
              <a:buClr>
                <a:srgbClr val="1A1A1A"/>
              </a:buClr>
              <a:buSzPts val="1150"/>
              <a:buFont typeface="Meiryo"/>
              <a:buNone/>
            </a:pPr>
            <a:r>
              <a:rPr b="1" lang="ja" sz="1150">
                <a:solidFill>
                  <a:srgbClr val="1D7FE8"/>
                </a:solidFill>
                <a:latin typeface="M PLUS 1p"/>
                <a:ea typeface="M PLUS 1p"/>
                <a:cs typeface="M PLUS 1p"/>
                <a:sym typeface="M PLUS 1p"/>
              </a:rPr>
              <a:t>11月以降はONBの主戦術として全対象顧客に適用し、仕組みとして回す</a:t>
            </a:r>
            <a:endParaRPr sz="1150">
              <a:solidFill>
                <a:schemeClr val="dk1"/>
              </a:solidFill>
              <a:latin typeface="M PLUS 1p"/>
              <a:ea typeface="M PLUS 1p"/>
              <a:cs typeface="M PLUS 1p"/>
              <a:sym typeface="M PLUS 1p"/>
            </a:endParaRPr>
          </a:p>
        </p:txBody>
      </p:sp>
      <p:sp>
        <p:nvSpPr>
          <p:cNvPr id="455" name="Google Shape;455;p29"/>
          <p:cNvSpPr txBox="1"/>
          <p:nvPr/>
        </p:nvSpPr>
        <p:spPr>
          <a:xfrm>
            <a:off x="5852160" y="4846320"/>
            <a:ext cx="2926080" cy="18288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8C8C8C"/>
              </a:buClr>
              <a:buSzPts val="700"/>
              <a:buFont typeface="Meiryo"/>
              <a:buNone/>
            </a:pPr>
            <a:r>
              <a:rPr lang="ja" sz="700">
                <a:solidFill>
                  <a:srgbClr val="8C8C8C"/>
                </a:solidFill>
                <a:latin typeface="Meiryo"/>
                <a:ea typeface="Meiryo"/>
                <a:cs typeface="Meiryo"/>
                <a:sym typeface="Meiryo"/>
              </a:rPr>
              <a:t>Copyright © Timee All Rights Reserved</a:t>
            </a:r>
            <a:endParaRPr sz="700">
              <a:solidFill>
                <a:schemeClr val="dk1"/>
              </a:solidFill>
              <a:latin typeface="Calibri"/>
              <a:ea typeface="Calibri"/>
              <a:cs typeface="Calibri"/>
              <a:sym typeface="Calibri"/>
            </a:endParaRPr>
          </a:p>
        </p:txBody>
      </p:sp>
      <p:sp>
        <p:nvSpPr>
          <p:cNvPr id="456" name="Google Shape;456;p29"/>
          <p:cNvSpPr/>
          <p:nvPr/>
        </p:nvSpPr>
        <p:spPr>
          <a:xfrm>
            <a:off x="365760" y="1298448"/>
            <a:ext cx="2011680" cy="502920"/>
          </a:xfrm>
          <a:prstGeom prst="chevron">
            <a:avLst>
              <a:gd fmla="val 50000" name="adj"/>
            </a:avLst>
          </a:prstGeom>
          <a:solidFill>
            <a:srgbClr val="FFD100"/>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457" name="Google Shape;457;p29"/>
          <p:cNvSpPr txBox="1"/>
          <p:nvPr/>
        </p:nvSpPr>
        <p:spPr>
          <a:xfrm>
            <a:off x="640080" y="1298448"/>
            <a:ext cx="1554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00"/>
              <a:buFont typeface="Meiryo"/>
              <a:buNone/>
            </a:pPr>
            <a:r>
              <a:rPr b="1" lang="ja" sz="1100">
                <a:solidFill>
                  <a:srgbClr val="1A1A1A"/>
                </a:solidFill>
                <a:latin typeface="M PLUS 1p"/>
                <a:ea typeface="M PLUS 1p"/>
                <a:cs typeface="M PLUS 1p"/>
                <a:sym typeface="M PLUS 1p"/>
              </a:rPr>
              <a:t>9月　</a:t>
            </a:r>
            <a:endParaRPr b="1" sz="1100">
              <a:solidFill>
                <a:srgbClr val="1A1A1A"/>
              </a:solidFill>
              <a:latin typeface="M PLUS 1p"/>
              <a:ea typeface="M PLUS 1p"/>
              <a:cs typeface="M PLUS 1p"/>
              <a:sym typeface="M PLUS 1p"/>
            </a:endParaRPr>
          </a:p>
          <a:p>
            <a:pPr indent="0" lvl="0" marL="0" marR="0" rtl="0" algn="l">
              <a:spcBef>
                <a:spcPts val="0"/>
              </a:spcBef>
              <a:spcAft>
                <a:spcPts val="0"/>
              </a:spcAft>
              <a:buClr>
                <a:srgbClr val="1A1A1A"/>
              </a:buClr>
              <a:buSzPts val="1100"/>
              <a:buFont typeface="Meiryo"/>
              <a:buNone/>
            </a:pPr>
            <a:r>
              <a:rPr lang="ja" sz="950">
                <a:solidFill>
                  <a:srgbClr val="1A1A1A"/>
                </a:solidFill>
                <a:latin typeface="M PLUS 1p"/>
                <a:ea typeface="M PLUS 1p"/>
                <a:cs typeface="M PLUS 1p"/>
                <a:sym typeface="M PLUS 1p"/>
              </a:rPr>
              <a:t>実運用開始・検証</a:t>
            </a:r>
            <a:endParaRPr sz="1100">
              <a:solidFill>
                <a:schemeClr val="dk1"/>
              </a:solidFill>
              <a:latin typeface="M PLUS 1p"/>
              <a:ea typeface="M PLUS 1p"/>
              <a:cs typeface="M PLUS 1p"/>
              <a:sym typeface="M PLUS 1p"/>
            </a:endParaRPr>
          </a:p>
        </p:txBody>
      </p:sp>
      <p:sp>
        <p:nvSpPr>
          <p:cNvPr id="458" name="Google Shape;458;p29"/>
          <p:cNvSpPr/>
          <p:nvPr/>
        </p:nvSpPr>
        <p:spPr>
          <a:xfrm>
            <a:off x="2468880" y="1298448"/>
            <a:ext cx="2011680" cy="502920"/>
          </a:xfrm>
          <a:prstGeom prst="chevron">
            <a:avLst>
              <a:gd fmla="val 50000" name="adj"/>
            </a:avLst>
          </a:prstGeom>
          <a:solidFill>
            <a:srgbClr val="FFD100"/>
          </a:solidFill>
          <a:ln cap="flat" cmpd="sng" w="12700">
            <a:solidFill>
              <a:srgbClr val="FFD1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459" name="Google Shape;459;p29"/>
          <p:cNvSpPr txBox="1"/>
          <p:nvPr/>
        </p:nvSpPr>
        <p:spPr>
          <a:xfrm>
            <a:off x="2743200" y="1298448"/>
            <a:ext cx="1554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100"/>
              <a:buFont typeface="Meiryo"/>
              <a:buNone/>
            </a:pPr>
            <a:r>
              <a:rPr b="1" lang="ja" sz="1100">
                <a:solidFill>
                  <a:srgbClr val="1A1A1A"/>
                </a:solidFill>
                <a:latin typeface="M PLUS 1p"/>
                <a:ea typeface="M PLUS 1p"/>
                <a:cs typeface="M PLUS 1p"/>
                <a:sym typeface="M PLUS 1p"/>
              </a:rPr>
              <a:t>10月　</a:t>
            </a:r>
            <a:endParaRPr b="1" sz="1100">
              <a:solidFill>
                <a:srgbClr val="1A1A1A"/>
              </a:solidFill>
              <a:latin typeface="M PLUS 1p"/>
              <a:ea typeface="M PLUS 1p"/>
              <a:cs typeface="M PLUS 1p"/>
              <a:sym typeface="M PLUS 1p"/>
            </a:endParaRPr>
          </a:p>
          <a:p>
            <a:pPr indent="0" lvl="0" marL="0" marR="0" rtl="0" algn="l">
              <a:spcBef>
                <a:spcPts val="0"/>
              </a:spcBef>
              <a:spcAft>
                <a:spcPts val="0"/>
              </a:spcAft>
              <a:buClr>
                <a:srgbClr val="1A1A1A"/>
              </a:buClr>
              <a:buSzPts val="1100"/>
              <a:buFont typeface="Meiryo"/>
              <a:buNone/>
            </a:pPr>
            <a:r>
              <a:rPr lang="ja" sz="950">
                <a:solidFill>
                  <a:srgbClr val="1A1A1A"/>
                </a:solidFill>
                <a:latin typeface="M PLUS 1p"/>
                <a:ea typeface="M PLUS 1p"/>
                <a:cs typeface="M PLUS 1p"/>
                <a:sym typeface="M PLUS 1p"/>
              </a:rPr>
              <a:t>スコア項目の見直し・検証</a:t>
            </a:r>
            <a:endParaRPr sz="1100">
              <a:solidFill>
                <a:schemeClr val="dk1"/>
              </a:solidFill>
              <a:latin typeface="M PLUS 1p"/>
              <a:ea typeface="M PLUS 1p"/>
              <a:cs typeface="M PLUS 1p"/>
              <a:sym typeface="M PLUS 1p"/>
            </a:endParaRPr>
          </a:p>
        </p:txBody>
      </p:sp>
      <p:sp>
        <p:nvSpPr>
          <p:cNvPr id="460" name="Google Shape;460;p29"/>
          <p:cNvSpPr/>
          <p:nvPr/>
        </p:nvSpPr>
        <p:spPr>
          <a:xfrm>
            <a:off x="4572000" y="1298448"/>
            <a:ext cx="2011680" cy="502920"/>
          </a:xfrm>
          <a:prstGeom prst="chevron">
            <a:avLst>
              <a:gd fmla="val 50000" name="adj"/>
            </a:avLst>
          </a:prstGeom>
          <a:solidFill>
            <a:srgbClr val="1A1A1A"/>
          </a:solidFill>
          <a:ln cap="flat" cmpd="sng" w="12700">
            <a:solidFill>
              <a:srgbClr val="1A1A1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461" name="Google Shape;461;p29"/>
          <p:cNvSpPr txBox="1"/>
          <p:nvPr/>
        </p:nvSpPr>
        <p:spPr>
          <a:xfrm>
            <a:off x="4846320" y="1298448"/>
            <a:ext cx="1554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Meiryo"/>
              <a:buNone/>
            </a:pPr>
            <a:r>
              <a:rPr b="1" lang="ja" sz="1100">
                <a:solidFill>
                  <a:srgbClr val="FFFFFF"/>
                </a:solidFill>
                <a:latin typeface="M PLUS 1p"/>
                <a:ea typeface="M PLUS 1p"/>
                <a:cs typeface="M PLUS 1p"/>
                <a:sym typeface="M PLUS 1p"/>
              </a:rPr>
              <a:t>11月〜12月　</a:t>
            </a:r>
            <a:endParaRPr b="1" sz="1100">
              <a:solidFill>
                <a:srgbClr val="FFFFFF"/>
              </a:solidFill>
              <a:latin typeface="M PLUS 1p"/>
              <a:ea typeface="M PLUS 1p"/>
              <a:cs typeface="M PLUS 1p"/>
              <a:sym typeface="M PLUS 1p"/>
            </a:endParaRPr>
          </a:p>
          <a:p>
            <a:pPr indent="0" lvl="0" marL="0" marR="0" rtl="0" algn="l">
              <a:spcBef>
                <a:spcPts val="0"/>
              </a:spcBef>
              <a:spcAft>
                <a:spcPts val="0"/>
              </a:spcAft>
              <a:buClr>
                <a:srgbClr val="FFFFFF"/>
              </a:buClr>
              <a:buSzPts val="1100"/>
              <a:buFont typeface="Meiryo"/>
              <a:buNone/>
            </a:pPr>
            <a:r>
              <a:rPr lang="ja" sz="950">
                <a:solidFill>
                  <a:srgbClr val="FFFFFF"/>
                </a:solidFill>
                <a:latin typeface="M PLUS 1p"/>
                <a:ea typeface="M PLUS 1p"/>
                <a:cs typeface="M PLUS 1p"/>
                <a:sym typeface="M PLUS 1p"/>
              </a:rPr>
              <a:t>主戦術として本格運用</a:t>
            </a:r>
            <a:endParaRPr sz="1100">
              <a:solidFill>
                <a:schemeClr val="dk1"/>
              </a:solidFill>
              <a:latin typeface="M PLUS 1p"/>
              <a:ea typeface="M PLUS 1p"/>
              <a:cs typeface="M PLUS 1p"/>
              <a:sym typeface="M PLUS 1p"/>
            </a:endParaRPr>
          </a:p>
        </p:txBody>
      </p:sp>
      <p:sp>
        <p:nvSpPr>
          <p:cNvPr id="462" name="Google Shape;462;p29"/>
          <p:cNvSpPr/>
          <p:nvPr/>
        </p:nvSpPr>
        <p:spPr>
          <a:xfrm>
            <a:off x="6675120" y="1298448"/>
            <a:ext cx="2103120" cy="502920"/>
          </a:xfrm>
          <a:prstGeom prst="chevron">
            <a:avLst>
              <a:gd fmla="val 50000" name="adj"/>
            </a:avLst>
          </a:prstGeom>
          <a:solidFill>
            <a:srgbClr val="1A1A1A"/>
          </a:solidFill>
          <a:ln cap="flat" cmpd="sng" w="12700">
            <a:solidFill>
              <a:srgbClr val="1A1A1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463" name="Google Shape;463;p29"/>
          <p:cNvSpPr txBox="1"/>
          <p:nvPr/>
        </p:nvSpPr>
        <p:spPr>
          <a:xfrm>
            <a:off x="6949440" y="1298448"/>
            <a:ext cx="16459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Meiryo"/>
              <a:buNone/>
            </a:pPr>
            <a:r>
              <a:rPr b="1" lang="ja" sz="1100">
                <a:solidFill>
                  <a:srgbClr val="FFFFFF"/>
                </a:solidFill>
                <a:latin typeface="M PLUS 1p"/>
                <a:ea typeface="M PLUS 1p"/>
                <a:cs typeface="M PLUS 1p"/>
                <a:sym typeface="M PLUS 1p"/>
              </a:rPr>
              <a:t>2027年1月〜　</a:t>
            </a:r>
            <a:endParaRPr b="1" sz="1100">
              <a:solidFill>
                <a:srgbClr val="FFFFFF"/>
              </a:solidFill>
              <a:latin typeface="M PLUS 1p"/>
              <a:ea typeface="M PLUS 1p"/>
              <a:cs typeface="M PLUS 1p"/>
              <a:sym typeface="M PLUS 1p"/>
            </a:endParaRPr>
          </a:p>
          <a:p>
            <a:pPr indent="0" lvl="0" marL="0" marR="0" rtl="0" algn="l">
              <a:spcBef>
                <a:spcPts val="0"/>
              </a:spcBef>
              <a:spcAft>
                <a:spcPts val="0"/>
              </a:spcAft>
              <a:buClr>
                <a:srgbClr val="FFFFFF"/>
              </a:buClr>
              <a:buSzPts val="1100"/>
              <a:buFont typeface="Meiryo"/>
              <a:buNone/>
            </a:pPr>
            <a:r>
              <a:rPr lang="ja" sz="950">
                <a:solidFill>
                  <a:srgbClr val="FFFFFF"/>
                </a:solidFill>
                <a:latin typeface="M PLUS 1p"/>
                <a:ea typeface="M PLUS 1p"/>
                <a:cs typeface="M PLUS 1p"/>
                <a:sym typeface="M PLUS 1p"/>
              </a:rPr>
              <a:t>仕組み化・横展開</a:t>
            </a:r>
            <a:endParaRPr sz="1100">
              <a:solidFill>
                <a:schemeClr val="dk1"/>
              </a:solidFill>
              <a:latin typeface="M PLUS 1p"/>
              <a:ea typeface="M PLUS 1p"/>
              <a:cs typeface="M PLUS 1p"/>
              <a:sym typeface="M PLUS 1p"/>
            </a:endParaRPr>
          </a:p>
        </p:txBody>
      </p:sp>
      <p:sp>
        <p:nvSpPr>
          <p:cNvPr id="464" name="Google Shape;464;p29"/>
          <p:cNvSpPr/>
          <p:nvPr/>
        </p:nvSpPr>
        <p:spPr>
          <a:xfrm>
            <a:off x="365760" y="1892808"/>
            <a:ext cx="1920240" cy="1371600"/>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465" name="Google Shape;465;p29"/>
          <p:cNvSpPr txBox="1"/>
          <p:nvPr/>
        </p:nvSpPr>
        <p:spPr>
          <a:xfrm>
            <a:off x="457200" y="1965960"/>
            <a:ext cx="1737360" cy="1261872"/>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434343"/>
              </a:buClr>
              <a:buSzPts val="850"/>
              <a:buFont typeface="M PLUS 1p"/>
              <a:buChar char="•"/>
            </a:pPr>
            <a:r>
              <a:rPr lang="ja" sz="850">
                <a:solidFill>
                  <a:srgbClr val="434343"/>
                </a:solidFill>
                <a:latin typeface="M PLUS 1p"/>
                <a:ea typeface="M PLUS 1p"/>
                <a:cs typeface="M PLUS 1p"/>
                <a:sym typeface="M PLUS 1p"/>
              </a:rPr>
              <a:t>現行5項目で採点し、ランク別に施策を実行</a:t>
            </a:r>
            <a:endParaRPr sz="850">
              <a:solidFill>
                <a:schemeClr val="dk1"/>
              </a:solidFill>
              <a:latin typeface="M PLUS 1p"/>
              <a:ea typeface="M PLUS 1p"/>
              <a:cs typeface="M PLUS 1p"/>
              <a:sym typeface="M PLUS 1p"/>
            </a:endParaRPr>
          </a:p>
          <a:p>
            <a:pPr indent="-342900" lvl="0" marL="342900" marR="0" rtl="0" algn="l">
              <a:spcBef>
                <a:spcPts val="300"/>
              </a:spcBef>
              <a:spcAft>
                <a:spcPts val="0"/>
              </a:spcAft>
              <a:buClr>
                <a:srgbClr val="434343"/>
              </a:buClr>
              <a:buSzPts val="850"/>
              <a:buFont typeface="M PLUS 1p"/>
              <a:buChar char="•"/>
            </a:pPr>
            <a:r>
              <a:rPr lang="ja" sz="850">
                <a:solidFill>
                  <a:srgbClr val="434343"/>
                </a:solidFill>
                <a:latin typeface="M PLUS 1p"/>
                <a:ea typeface="M PLUS 1p"/>
                <a:cs typeface="M PLUS 1p"/>
                <a:sym typeface="M PLUS 1p"/>
              </a:rPr>
              <a:t>ランク別の実績継続率で判定ロジックを検証</a:t>
            </a:r>
            <a:endParaRPr sz="850">
              <a:solidFill>
                <a:schemeClr val="dk1"/>
              </a:solidFill>
              <a:latin typeface="M PLUS 1p"/>
              <a:ea typeface="M PLUS 1p"/>
              <a:cs typeface="M PLUS 1p"/>
              <a:sym typeface="M PLUS 1p"/>
            </a:endParaRPr>
          </a:p>
          <a:p>
            <a:pPr indent="-342900" lvl="0" marL="342900" marR="0" rtl="0" algn="l">
              <a:spcBef>
                <a:spcPts val="300"/>
              </a:spcBef>
              <a:spcAft>
                <a:spcPts val="0"/>
              </a:spcAft>
              <a:buClr>
                <a:srgbClr val="434343"/>
              </a:buClr>
              <a:buSzPts val="850"/>
              <a:buFont typeface="M PLUS 1p"/>
              <a:buChar char="•"/>
            </a:pPr>
            <a:r>
              <a:rPr lang="ja" sz="850">
                <a:solidFill>
                  <a:srgbClr val="434343"/>
                </a:solidFill>
                <a:latin typeface="M PLUS 1p"/>
                <a:ea typeface="M PLUS 1p"/>
                <a:cs typeface="M PLUS 1p"/>
                <a:sym typeface="M PLUS 1p"/>
              </a:rPr>
              <a:t>アクション完遂率（実行後の継続）を計測</a:t>
            </a:r>
            <a:endParaRPr sz="850">
              <a:solidFill>
                <a:schemeClr val="dk1"/>
              </a:solidFill>
              <a:latin typeface="M PLUS 1p"/>
              <a:ea typeface="M PLUS 1p"/>
              <a:cs typeface="M PLUS 1p"/>
              <a:sym typeface="M PLUS 1p"/>
            </a:endParaRPr>
          </a:p>
          <a:p>
            <a:pPr indent="-342900" lvl="0" marL="342900" marR="0" rtl="0" algn="l">
              <a:spcBef>
                <a:spcPts val="300"/>
              </a:spcBef>
              <a:spcAft>
                <a:spcPts val="0"/>
              </a:spcAft>
              <a:buClr>
                <a:srgbClr val="434343"/>
              </a:buClr>
              <a:buSzPts val="850"/>
              <a:buFont typeface="M PLUS 1p"/>
              <a:buChar char="•"/>
            </a:pPr>
            <a:r>
              <a:rPr lang="ja" sz="850">
                <a:solidFill>
                  <a:srgbClr val="434343"/>
                </a:solidFill>
                <a:latin typeface="M PLUS 1p"/>
                <a:ea typeface="M PLUS 1p"/>
                <a:cs typeface="M PLUS 1p"/>
                <a:sym typeface="M PLUS 1p"/>
              </a:rPr>
              <a:t>トークスクリプト・LINE公式・送付物を整備</a:t>
            </a:r>
            <a:endParaRPr sz="850">
              <a:solidFill>
                <a:schemeClr val="dk1"/>
              </a:solidFill>
              <a:latin typeface="M PLUS 1p"/>
              <a:ea typeface="M PLUS 1p"/>
              <a:cs typeface="M PLUS 1p"/>
              <a:sym typeface="M PLUS 1p"/>
            </a:endParaRPr>
          </a:p>
        </p:txBody>
      </p:sp>
      <p:sp>
        <p:nvSpPr>
          <p:cNvPr id="466" name="Google Shape;466;p29"/>
          <p:cNvSpPr/>
          <p:nvPr/>
        </p:nvSpPr>
        <p:spPr>
          <a:xfrm>
            <a:off x="2468880" y="1892808"/>
            <a:ext cx="1920240" cy="1371600"/>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467" name="Google Shape;467;p29"/>
          <p:cNvSpPr txBox="1"/>
          <p:nvPr/>
        </p:nvSpPr>
        <p:spPr>
          <a:xfrm>
            <a:off x="2560320" y="1965960"/>
            <a:ext cx="1737360" cy="1261872"/>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434343"/>
              </a:buClr>
              <a:buSzPts val="850"/>
              <a:buFont typeface="M PLUS 1p"/>
              <a:buChar char="•"/>
            </a:pPr>
            <a:r>
              <a:rPr lang="ja" sz="850">
                <a:solidFill>
                  <a:srgbClr val="434343"/>
                </a:solidFill>
                <a:latin typeface="M PLUS 1p"/>
                <a:ea typeface="M PLUS 1p"/>
                <a:cs typeface="M PLUS 1p"/>
                <a:sym typeface="M PLUS 1p"/>
              </a:rPr>
              <a:t>9月実績を基に配点・閾値を調整</a:t>
            </a:r>
            <a:endParaRPr sz="850">
              <a:solidFill>
                <a:schemeClr val="dk1"/>
              </a:solidFill>
              <a:latin typeface="M PLUS 1p"/>
              <a:ea typeface="M PLUS 1p"/>
              <a:cs typeface="M PLUS 1p"/>
              <a:sym typeface="M PLUS 1p"/>
            </a:endParaRPr>
          </a:p>
          <a:p>
            <a:pPr indent="-342900" lvl="0" marL="342900" marR="0" rtl="0" algn="l">
              <a:spcBef>
                <a:spcPts val="300"/>
              </a:spcBef>
              <a:spcAft>
                <a:spcPts val="0"/>
              </a:spcAft>
              <a:buClr>
                <a:srgbClr val="434343"/>
              </a:buClr>
              <a:buSzPts val="850"/>
              <a:buFont typeface="M PLUS 1p"/>
              <a:buChar char="•"/>
            </a:pPr>
            <a:r>
              <a:rPr lang="ja" sz="850">
                <a:solidFill>
                  <a:srgbClr val="434343"/>
                </a:solidFill>
                <a:latin typeface="M PLUS 1p"/>
                <a:ea typeface="M PLUS 1p"/>
                <a:cs typeface="M PLUS 1p"/>
                <a:sym typeface="M PLUS 1p"/>
              </a:rPr>
              <a:t>候補項目を追加検証</a:t>
            </a:r>
            <a:br>
              <a:rPr lang="ja" sz="850">
                <a:solidFill>
                  <a:srgbClr val="434343"/>
                </a:solidFill>
                <a:latin typeface="M PLUS 1p"/>
                <a:ea typeface="M PLUS 1p"/>
                <a:cs typeface="M PLUS 1p"/>
                <a:sym typeface="M PLUS 1p"/>
              </a:rPr>
            </a:br>
            <a:r>
              <a:rPr lang="ja" sz="850">
                <a:solidFill>
                  <a:srgbClr val="434343"/>
                </a:solidFill>
                <a:latin typeface="M PLUS 1p"/>
                <a:ea typeface="M PLUS 1p"/>
                <a:cs typeface="M PLUS 1p"/>
                <a:sym typeface="M PLUS 1p"/>
              </a:rPr>
              <a:t>（右下）</a:t>
            </a:r>
            <a:endParaRPr sz="850">
              <a:solidFill>
                <a:schemeClr val="dk1"/>
              </a:solidFill>
              <a:latin typeface="M PLUS 1p"/>
              <a:ea typeface="M PLUS 1p"/>
              <a:cs typeface="M PLUS 1p"/>
              <a:sym typeface="M PLUS 1p"/>
            </a:endParaRPr>
          </a:p>
          <a:p>
            <a:pPr indent="-342900" lvl="0" marL="342900" marR="0" rtl="0" algn="l">
              <a:spcBef>
                <a:spcPts val="300"/>
              </a:spcBef>
              <a:spcAft>
                <a:spcPts val="0"/>
              </a:spcAft>
              <a:buClr>
                <a:srgbClr val="434343"/>
              </a:buClr>
              <a:buSzPts val="850"/>
              <a:buFont typeface="M PLUS 1p"/>
              <a:buChar char="•"/>
            </a:pPr>
            <a:r>
              <a:rPr lang="ja" sz="850">
                <a:solidFill>
                  <a:srgbClr val="434343"/>
                </a:solidFill>
                <a:latin typeface="M PLUS 1p"/>
                <a:ea typeface="M PLUS 1p"/>
                <a:cs typeface="M PLUS 1p"/>
                <a:sym typeface="M PLUS 1p"/>
              </a:rPr>
              <a:t>効かない項目は外し、5項目前後を維持</a:t>
            </a:r>
            <a:endParaRPr sz="850">
              <a:solidFill>
                <a:schemeClr val="dk1"/>
              </a:solidFill>
              <a:latin typeface="M PLUS 1p"/>
              <a:ea typeface="M PLUS 1p"/>
              <a:cs typeface="M PLUS 1p"/>
              <a:sym typeface="M PLUS 1p"/>
            </a:endParaRPr>
          </a:p>
          <a:p>
            <a:pPr indent="-342900" lvl="0" marL="342900" marR="0" rtl="0" algn="l">
              <a:spcBef>
                <a:spcPts val="300"/>
              </a:spcBef>
              <a:spcAft>
                <a:spcPts val="0"/>
              </a:spcAft>
              <a:buClr>
                <a:srgbClr val="434343"/>
              </a:buClr>
              <a:buSzPts val="850"/>
              <a:buFont typeface="M PLUS 1p"/>
              <a:buChar char="•"/>
            </a:pPr>
            <a:r>
              <a:rPr lang="ja" sz="850">
                <a:solidFill>
                  <a:srgbClr val="434343"/>
                </a:solidFill>
                <a:latin typeface="M PLUS 1p"/>
                <a:ea typeface="M PLUS 1p"/>
                <a:cs typeface="M PLUS 1p"/>
                <a:sym typeface="M PLUS 1p"/>
              </a:rPr>
              <a:t>定量ゴール・当月KPI・翌月KPI・モニタリング環境を確定</a:t>
            </a:r>
            <a:endParaRPr sz="850">
              <a:solidFill>
                <a:schemeClr val="dk1"/>
              </a:solidFill>
              <a:latin typeface="M PLUS 1p"/>
              <a:ea typeface="M PLUS 1p"/>
              <a:cs typeface="M PLUS 1p"/>
              <a:sym typeface="M PLUS 1p"/>
            </a:endParaRPr>
          </a:p>
        </p:txBody>
      </p:sp>
      <p:sp>
        <p:nvSpPr>
          <p:cNvPr id="468" name="Google Shape;468;p29"/>
          <p:cNvSpPr/>
          <p:nvPr/>
        </p:nvSpPr>
        <p:spPr>
          <a:xfrm>
            <a:off x="4572000" y="1892808"/>
            <a:ext cx="1920240" cy="1371600"/>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469" name="Google Shape;469;p29"/>
          <p:cNvSpPr txBox="1"/>
          <p:nvPr/>
        </p:nvSpPr>
        <p:spPr>
          <a:xfrm>
            <a:off x="4663440" y="1965960"/>
            <a:ext cx="1737360" cy="1261872"/>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434343"/>
              </a:buClr>
              <a:buSzPts val="850"/>
              <a:buFont typeface="M PLUS 1p"/>
              <a:buChar char="•"/>
            </a:pPr>
            <a:r>
              <a:rPr lang="ja" sz="850">
                <a:solidFill>
                  <a:srgbClr val="434343"/>
                </a:solidFill>
                <a:latin typeface="M PLUS 1p"/>
                <a:ea typeface="M PLUS 1p"/>
                <a:cs typeface="M PLUS 1p"/>
                <a:sym typeface="M PLUS 1p"/>
              </a:rPr>
              <a:t>当月新規・翌月未継続の全顧客にスコア運用を適用</a:t>
            </a:r>
            <a:endParaRPr sz="850">
              <a:solidFill>
                <a:schemeClr val="dk1"/>
              </a:solidFill>
              <a:latin typeface="M PLUS 1p"/>
              <a:ea typeface="M PLUS 1p"/>
              <a:cs typeface="M PLUS 1p"/>
              <a:sym typeface="M PLUS 1p"/>
            </a:endParaRPr>
          </a:p>
          <a:p>
            <a:pPr indent="-342900" lvl="0" marL="342900" marR="0" rtl="0" algn="l">
              <a:spcBef>
                <a:spcPts val="300"/>
              </a:spcBef>
              <a:spcAft>
                <a:spcPts val="0"/>
              </a:spcAft>
              <a:buClr>
                <a:srgbClr val="434343"/>
              </a:buClr>
              <a:buSzPts val="850"/>
              <a:buFont typeface="M PLUS 1p"/>
              <a:buChar char="•"/>
            </a:pPr>
            <a:r>
              <a:rPr lang="ja" sz="850">
                <a:solidFill>
                  <a:srgbClr val="434343"/>
                </a:solidFill>
                <a:latin typeface="M PLUS 1p"/>
                <a:ea typeface="M PLUS 1p"/>
                <a:cs typeface="M PLUS 1p"/>
                <a:sym typeface="M PLUS 1p"/>
              </a:rPr>
              <a:t>A・Bヨミへの一律架電を停止し、工数をC・Dへ再配分</a:t>
            </a:r>
            <a:endParaRPr sz="850">
              <a:solidFill>
                <a:schemeClr val="dk1"/>
              </a:solidFill>
              <a:latin typeface="M PLUS 1p"/>
              <a:ea typeface="M PLUS 1p"/>
              <a:cs typeface="M PLUS 1p"/>
              <a:sym typeface="M PLUS 1p"/>
            </a:endParaRPr>
          </a:p>
          <a:p>
            <a:pPr indent="-342900" lvl="0" marL="342900" marR="0" rtl="0" algn="l">
              <a:spcBef>
                <a:spcPts val="300"/>
              </a:spcBef>
              <a:spcAft>
                <a:spcPts val="0"/>
              </a:spcAft>
              <a:buClr>
                <a:srgbClr val="434343"/>
              </a:buClr>
              <a:buSzPts val="850"/>
              <a:buFont typeface="M PLUS 1p"/>
              <a:buChar char="•"/>
            </a:pPr>
            <a:r>
              <a:rPr lang="ja" sz="850">
                <a:solidFill>
                  <a:srgbClr val="434343"/>
                </a:solidFill>
                <a:latin typeface="M PLUS 1p"/>
                <a:ea typeface="M PLUS 1p"/>
                <a:cs typeface="M PLUS 1p"/>
                <a:sym typeface="M PLUS 1p"/>
              </a:rPr>
              <a:t>架電・送付・LINEをワーカー体制で定常運用</a:t>
            </a:r>
            <a:endParaRPr sz="850">
              <a:solidFill>
                <a:schemeClr val="dk1"/>
              </a:solidFill>
              <a:latin typeface="M PLUS 1p"/>
              <a:ea typeface="M PLUS 1p"/>
              <a:cs typeface="M PLUS 1p"/>
              <a:sym typeface="M PLUS 1p"/>
            </a:endParaRPr>
          </a:p>
          <a:p>
            <a:pPr indent="-342900" lvl="0" marL="342900" marR="0" rtl="0" algn="l">
              <a:spcBef>
                <a:spcPts val="300"/>
              </a:spcBef>
              <a:spcAft>
                <a:spcPts val="0"/>
              </a:spcAft>
              <a:buClr>
                <a:srgbClr val="434343"/>
              </a:buClr>
              <a:buSzPts val="850"/>
              <a:buFont typeface="M PLUS 1p"/>
              <a:buChar char="•"/>
            </a:pPr>
            <a:r>
              <a:rPr lang="ja" sz="850">
                <a:solidFill>
                  <a:srgbClr val="434343"/>
                </a:solidFill>
                <a:latin typeface="M PLUS 1p"/>
                <a:ea typeface="M PLUS 1p"/>
                <a:cs typeface="M PLUS 1p"/>
                <a:sym typeface="M PLUS 1p"/>
              </a:rPr>
              <a:t>月次でランク別継続率とKPIをレビュー</a:t>
            </a:r>
            <a:endParaRPr sz="850">
              <a:solidFill>
                <a:schemeClr val="dk1"/>
              </a:solidFill>
              <a:latin typeface="M PLUS 1p"/>
              <a:ea typeface="M PLUS 1p"/>
              <a:cs typeface="M PLUS 1p"/>
              <a:sym typeface="M PLUS 1p"/>
            </a:endParaRPr>
          </a:p>
        </p:txBody>
      </p:sp>
      <p:sp>
        <p:nvSpPr>
          <p:cNvPr id="470" name="Google Shape;470;p29"/>
          <p:cNvSpPr/>
          <p:nvPr/>
        </p:nvSpPr>
        <p:spPr>
          <a:xfrm>
            <a:off x="6675120" y="1892808"/>
            <a:ext cx="2011680" cy="1371600"/>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471" name="Google Shape;471;p29"/>
          <p:cNvSpPr txBox="1"/>
          <p:nvPr/>
        </p:nvSpPr>
        <p:spPr>
          <a:xfrm>
            <a:off x="6766560" y="1965960"/>
            <a:ext cx="1828800" cy="1261872"/>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434343"/>
              </a:buClr>
              <a:buSzPts val="850"/>
              <a:buFont typeface="M PLUS 1p"/>
              <a:buChar char="•"/>
            </a:pPr>
            <a:r>
              <a:rPr lang="ja" sz="850">
                <a:solidFill>
                  <a:srgbClr val="434343"/>
                </a:solidFill>
                <a:latin typeface="M PLUS 1p"/>
                <a:ea typeface="M PLUS 1p"/>
                <a:cs typeface="M PLUS 1p"/>
                <a:sym typeface="M PLUS 1p"/>
              </a:rPr>
              <a:t>スコア更新・リスト抽出・アラートを自動化</a:t>
            </a:r>
            <a:endParaRPr sz="850">
              <a:solidFill>
                <a:schemeClr val="dk1"/>
              </a:solidFill>
              <a:latin typeface="M PLUS 1p"/>
              <a:ea typeface="M PLUS 1p"/>
              <a:cs typeface="M PLUS 1p"/>
              <a:sym typeface="M PLUS 1p"/>
            </a:endParaRPr>
          </a:p>
          <a:p>
            <a:pPr indent="-342900" lvl="0" marL="342900" marR="0" rtl="0" algn="l">
              <a:spcBef>
                <a:spcPts val="300"/>
              </a:spcBef>
              <a:spcAft>
                <a:spcPts val="0"/>
              </a:spcAft>
              <a:buClr>
                <a:srgbClr val="434343"/>
              </a:buClr>
              <a:buSzPts val="850"/>
              <a:buFont typeface="M PLUS 1p"/>
              <a:buChar char="•"/>
            </a:pPr>
            <a:r>
              <a:rPr lang="ja" sz="850">
                <a:solidFill>
                  <a:srgbClr val="434343"/>
                </a:solidFill>
                <a:latin typeface="M PLUS 1p"/>
                <a:ea typeface="M PLUS 1p"/>
                <a:cs typeface="M PLUS 1p"/>
                <a:sym typeface="M PLUS 1p"/>
              </a:rPr>
              <a:t>介入の型（トーク・送付・商談）をマニュアル化</a:t>
            </a:r>
            <a:endParaRPr sz="850">
              <a:solidFill>
                <a:schemeClr val="dk1"/>
              </a:solidFill>
              <a:latin typeface="M PLUS 1p"/>
              <a:ea typeface="M PLUS 1p"/>
              <a:cs typeface="M PLUS 1p"/>
              <a:sym typeface="M PLUS 1p"/>
            </a:endParaRPr>
          </a:p>
          <a:p>
            <a:pPr indent="-342900" lvl="0" marL="342900" marR="0" rtl="0" algn="l">
              <a:spcBef>
                <a:spcPts val="300"/>
              </a:spcBef>
              <a:spcAft>
                <a:spcPts val="0"/>
              </a:spcAft>
              <a:buClr>
                <a:srgbClr val="434343"/>
              </a:buClr>
              <a:buSzPts val="850"/>
              <a:buFont typeface="M PLUS 1p"/>
              <a:buChar char="•"/>
            </a:pPr>
            <a:r>
              <a:rPr lang="ja" sz="850">
                <a:solidFill>
                  <a:srgbClr val="434343"/>
                </a:solidFill>
                <a:latin typeface="M PLUS 1p"/>
                <a:ea typeface="M PLUS 1p"/>
                <a:cs typeface="M PLUS 1p"/>
                <a:sym typeface="M PLUS 1p"/>
              </a:rPr>
              <a:t>他メンバー・他チームへ横展開</a:t>
            </a:r>
            <a:endParaRPr sz="850">
              <a:solidFill>
                <a:schemeClr val="dk1"/>
              </a:solidFill>
              <a:latin typeface="M PLUS 1p"/>
              <a:ea typeface="M PLUS 1p"/>
              <a:cs typeface="M PLUS 1p"/>
              <a:sym typeface="M PLUS 1p"/>
            </a:endParaRPr>
          </a:p>
          <a:p>
            <a:pPr indent="-342900" lvl="0" marL="342900" marR="0" rtl="0" algn="l">
              <a:spcBef>
                <a:spcPts val="300"/>
              </a:spcBef>
              <a:spcAft>
                <a:spcPts val="0"/>
              </a:spcAft>
              <a:buClr>
                <a:srgbClr val="434343"/>
              </a:buClr>
              <a:buSzPts val="850"/>
              <a:buFont typeface="M PLUS 1p"/>
              <a:buChar char="•"/>
            </a:pPr>
            <a:r>
              <a:rPr lang="ja" sz="850">
                <a:solidFill>
                  <a:srgbClr val="434343"/>
                </a:solidFill>
                <a:latin typeface="M PLUS 1p"/>
                <a:ea typeface="M PLUS 1p"/>
                <a:cs typeface="M PLUS 1p"/>
                <a:sym typeface="M PLUS 1p"/>
              </a:rPr>
              <a:t>継続率の変化を見て項目・配点を四半期ごとに見直す</a:t>
            </a:r>
            <a:endParaRPr sz="850">
              <a:solidFill>
                <a:schemeClr val="dk1"/>
              </a:solidFill>
              <a:latin typeface="M PLUS 1p"/>
              <a:ea typeface="M PLUS 1p"/>
              <a:cs typeface="M PLUS 1p"/>
              <a:sym typeface="M PLUS 1p"/>
            </a:endParaRPr>
          </a:p>
        </p:txBody>
      </p:sp>
      <p:sp>
        <p:nvSpPr>
          <p:cNvPr id="472" name="Google Shape;472;p29"/>
          <p:cNvSpPr/>
          <p:nvPr/>
        </p:nvSpPr>
        <p:spPr>
          <a:xfrm>
            <a:off x="365760" y="3401568"/>
            <a:ext cx="4114800" cy="310896"/>
          </a:xfrm>
          <a:prstGeom prst="rect">
            <a:avLst/>
          </a:prstGeom>
          <a:solidFill>
            <a:srgbClr val="1A1A1A"/>
          </a:solidFill>
          <a:ln cap="flat" cmpd="sng" w="12700">
            <a:solidFill>
              <a:srgbClr val="1A1A1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473" name="Google Shape;473;p29"/>
          <p:cNvSpPr txBox="1"/>
          <p:nvPr/>
        </p:nvSpPr>
        <p:spPr>
          <a:xfrm>
            <a:off x="502920" y="3401568"/>
            <a:ext cx="38404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eiryo"/>
              <a:buNone/>
            </a:pPr>
            <a:r>
              <a:rPr b="1" lang="ja" sz="1200">
                <a:solidFill>
                  <a:srgbClr val="FFFFFF"/>
                </a:solidFill>
                <a:latin typeface="M PLUS 1p"/>
                <a:ea typeface="M PLUS 1p"/>
                <a:cs typeface="M PLUS 1p"/>
                <a:sym typeface="M PLUS 1p"/>
              </a:rPr>
              <a:t>各フェーズの判断ポイント</a:t>
            </a:r>
            <a:endParaRPr sz="1200">
              <a:solidFill>
                <a:schemeClr val="dk1"/>
              </a:solidFill>
              <a:latin typeface="M PLUS 1p"/>
              <a:ea typeface="M PLUS 1p"/>
              <a:cs typeface="M PLUS 1p"/>
              <a:sym typeface="M PLUS 1p"/>
            </a:endParaRPr>
          </a:p>
        </p:txBody>
      </p:sp>
      <p:sp>
        <p:nvSpPr>
          <p:cNvPr id="474" name="Google Shape;474;p29"/>
          <p:cNvSpPr/>
          <p:nvPr/>
        </p:nvSpPr>
        <p:spPr>
          <a:xfrm>
            <a:off x="365760" y="3712464"/>
            <a:ext cx="4114800" cy="1051560"/>
          </a:xfrm>
          <a:prstGeom prst="rect">
            <a:avLst/>
          </a:prstGeom>
          <a:solidFill>
            <a:srgbClr val="F5F5F5"/>
          </a:solidFill>
          <a:ln cap="flat" cmpd="sng" w="12700">
            <a:solidFill>
              <a:srgbClr val="F5F5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475" name="Google Shape;475;p29"/>
          <p:cNvSpPr txBox="1"/>
          <p:nvPr/>
        </p:nvSpPr>
        <p:spPr>
          <a:xfrm>
            <a:off x="502920" y="3767328"/>
            <a:ext cx="384048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34343"/>
              </a:buClr>
              <a:buSzPts val="850"/>
              <a:buFont typeface="Meiryo"/>
              <a:buNone/>
            </a:pPr>
            <a:r>
              <a:rPr b="1" lang="ja" sz="850">
                <a:solidFill>
                  <a:srgbClr val="434343"/>
                </a:solidFill>
                <a:latin typeface="M PLUS 1p"/>
                <a:ea typeface="M PLUS 1p"/>
                <a:cs typeface="M PLUS 1p"/>
                <a:sym typeface="M PLUS 1p"/>
              </a:rPr>
              <a:t>9月末：</a:t>
            </a:r>
            <a:r>
              <a:rPr lang="ja" sz="850">
                <a:solidFill>
                  <a:srgbClr val="434343"/>
                </a:solidFill>
                <a:latin typeface="M PLUS 1p"/>
                <a:ea typeface="M PLUS 1p"/>
                <a:cs typeface="M PLUS 1p"/>
                <a:sym typeface="M PLUS 1p"/>
              </a:rPr>
              <a:t>ランク順に継続率が並ぶか（A＞B＞C＞D＞E）。並ばない項目は見直し対象</a:t>
            </a:r>
            <a:endParaRPr sz="850">
              <a:solidFill>
                <a:schemeClr val="dk1"/>
              </a:solidFill>
              <a:latin typeface="M PLUS 1p"/>
              <a:ea typeface="M PLUS 1p"/>
              <a:cs typeface="M PLUS 1p"/>
              <a:sym typeface="M PLUS 1p"/>
            </a:endParaRPr>
          </a:p>
          <a:p>
            <a:pPr indent="0" lvl="0" marL="0" marR="0" rtl="0" algn="l">
              <a:spcBef>
                <a:spcPts val="300"/>
              </a:spcBef>
              <a:spcAft>
                <a:spcPts val="0"/>
              </a:spcAft>
              <a:buClr>
                <a:srgbClr val="434343"/>
              </a:buClr>
              <a:buSzPts val="850"/>
              <a:buFont typeface="Meiryo"/>
              <a:buNone/>
            </a:pPr>
            <a:r>
              <a:rPr b="1" lang="ja" sz="850">
                <a:solidFill>
                  <a:srgbClr val="434343"/>
                </a:solidFill>
                <a:latin typeface="M PLUS 1p"/>
                <a:ea typeface="M PLUS 1p"/>
                <a:cs typeface="M PLUS 1p"/>
                <a:sym typeface="M PLUS 1p"/>
              </a:rPr>
              <a:t>10月末：</a:t>
            </a:r>
            <a:r>
              <a:rPr lang="ja" sz="850">
                <a:solidFill>
                  <a:srgbClr val="434343"/>
                </a:solidFill>
                <a:latin typeface="M PLUS 1p"/>
                <a:ea typeface="M PLUS 1p"/>
                <a:cs typeface="M PLUS 1p"/>
                <a:sym typeface="M PLUS 1p"/>
              </a:rPr>
              <a:t>見直し後の配点で継続率差が維持・拡大するか。KPI目標値を確定</a:t>
            </a:r>
            <a:endParaRPr sz="850">
              <a:solidFill>
                <a:schemeClr val="dk1"/>
              </a:solidFill>
              <a:latin typeface="M PLUS 1p"/>
              <a:ea typeface="M PLUS 1p"/>
              <a:cs typeface="M PLUS 1p"/>
              <a:sym typeface="M PLUS 1p"/>
            </a:endParaRPr>
          </a:p>
          <a:p>
            <a:pPr indent="0" lvl="0" marL="0" marR="0" rtl="0" algn="l">
              <a:spcBef>
                <a:spcPts val="300"/>
              </a:spcBef>
              <a:spcAft>
                <a:spcPts val="0"/>
              </a:spcAft>
              <a:buClr>
                <a:srgbClr val="434343"/>
              </a:buClr>
              <a:buSzPts val="850"/>
              <a:buFont typeface="Meiryo"/>
              <a:buNone/>
            </a:pPr>
            <a:r>
              <a:rPr b="1" lang="ja" sz="850">
                <a:solidFill>
                  <a:srgbClr val="434343"/>
                </a:solidFill>
                <a:latin typeface="M PLUS 1p"/>
                <a:ea typeface="M PLUS 1p"/>
                <a:cs typeface="M PLUS 1p"/>
                <a:sym typeface="M PLUS 1p"/>
              </a:rPr>
              <a:t>11月以降：</a:t>
            </a:r>
            <a:r>
              <a:rPr lang="ja" sz="850">
                <a:solidFill>
                  <a:srgbClr val="434343"/>
                </a:solidFill>
                <a:latin typeface="M PLUS 1p"/>
                <a:ea typeface="M PLUS 1p"/>
                <a:cs typeface="M PLUS 1p"/>
                <a:sym typeface="M PLUS 1p"/>
              </a:rPr>
              <a:t>月次で翌月継続率・アクション完遂率を確認し、継続／変更を判断</a:t>
            </a:r>
            <a:endParaRPr sz="850">
              <a:solidFill>
                <a:schemeClr val="dk1"/>
              </a:solidFill>
              <a:latin typeface="M PLUS 1p"/>
              <a:ea typeface="M PLUS 1p"/>
              <a:cs typeface="M PLUS 1p"/>
              <a:sym typeface="M PLUS 1p"/>
            </a:endParaRPr>
          </a:p>
        </p:txBody>
      </p:sp>
      <p:sp>
        <p:nvSpPr>
          <p:cNvPr id="476" name="Google Shape;476;p29"/>
          <p:cNvSpPr/>
          <p:nvPr/>
        </p:nvSpPr>
        <p:spPr>
          <a:xfrm>
            <a:off x="4663440" y="3401568"/>
            <a:ext cx="4114800" cy="310896"/>
          </a:xfrm>
          <a:prstGeom prst="rect">
            <a:avLst/>
          </a:prstGeom>
          <a:solidFill>
            <a:srgbClr val="1A1A1A"/>
          </a:solidFill>
          <a:ln cap="flat" cmpd="sng" w="12700">
            <a:solidFill>
              <a:srgbClr val="1A1A1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477" name="Google Shape;477;p29"/>
          <p:cNvSpPr txBox="1"/>
          <p:nvPr/>
        </p:nvSpPr>
        <p:spPr>
          <a:xfrm>
            <a:off x="4800600" y="3401568"/>
            <a:ext cx="38404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Meiryo"/>
              <a:buNone/>
            </a:pPr>
            <a:r>
              <a:rPr b="1" lang="ja" sz="1200">
                <a:solidFill>
                  <a:srgbClr val="FFFFFF"/>
                </a:solidFill>
                <a:latin typeface="M PLUS 1p"/>
                <a:ea typeface="M PLUS 1p"/>
                <a:cs typeface="M PLUS 1p"/>
                <a:sym typeface="M PLUS 1p"/>
              </a:rPr>
              <a:t>スコア項目の見直し候補（9〜10月に検証）</a:t>
            </a:r>
            <a:endParaRPr sz="1200">
              <a:solidFill>
                <a:schemeClr val="dk1"/>
              </a:solidFill>
              <a:latin typeface="M PLUS 1p"/>
              <a:ea typeface="M PLUS 1p"/>
              <a:cs typeface="M PLUS 1p"/>
              <a:sym typeface="M PLUS 1p"/>
            </a:endParaRPr>
          </a:p>
        </p:txBody>
      </p:sp>
      <p:sp>
        <p:nvSpPr>
          <p:cNvPr id="478" name="Google Shape;478;p29"/>
          <p:cNvSpPr/>
          <p:nvPr/>
        </p:nvSpPr>
        <p:spPr>
          <a:xfrm>
            <a:off x="4663440" y="3712464"/>
            <a:ext cx="4114800" cy="1051560"/>
          </a:xfrm>
          <a:prstGeom prst="rect">
            <a:avLst/>
          </a:prstGeom>
          <a:solidFill>
            <a:srgbClr val="FFF6D9"/>
          </a:solidFill>
          <a:ln cap="flat" cmpd="sng" w="12700">
            <a:solidFill>
              <a:srgbClr val="FFF6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 PLUS 1p"/>
              <a:ea typeface="M PLUS 1p"/>
              <a:cs typeface="M PLUS 1p"/>
              <a:sym typeface="M PLUS 1p"/>
            </a:endParaRPr>
          </a:p>
        </p:txBody>
      </p:sp>
      <p:sp>
        <p:nvSpPr>
          <p:cNvPr id="479" name="Google Shape;479;p29"/>
          <p:cNvSpPr txBox="1"/>
          <p:nvPr/>
        </p:nvSpPr>
        <p:spPr>
          <a:xfrm>
            <a:off x="4800600" y="3767328"/>
            <a:ext cx="3840480" cy="960120"/>
          </a:xfrm>
          <a:prstGeom prst="rect">
            <a:avLst/>
          </a:prstGeom>
          <a:noFill/>
          <a:ln>
            <a:noFill/>
          </a:ln>
        </p:spPr>
        <p:txBody>
          <a:bodyPr anchorCtr="0" anchor="t" bIns="0" lIns="0" spcFirstLastPara="1" rIns="0" wrap="square" tIns="0">
            <a:noAutofit/>
          </a:bodyPr>
          <a:lstStyle/>
          <a:p>
            <a:pPr indent="-171450" lvl="0" marL="171450" marR="0" rtl="0" algn="l">
              <a:spcBef>
                <a:spcPts val="0"/>
              </a:spcBef>
              <a:spcAft>
                <a:spcPts val="0"/>
              </a:spcAft>
              <a:buClr>
                <a:schemeClr val="dk1"/>
              </a:buClr>
              <a:buSzPts val="850"/>
              <a:buFont typeface="Arial"/>
              <a:buChar char="•"/>
            </a:pPr>
            <a:r>
              <a:rPr b="1" lang="ja" sz="850">
                <a:solidFill>
                  <a:schemeClr val="dk1"/>
                </a:solidFill>
                <a:latin typeface="M PLUS 1p"/>
                <a:ea typeface="M PLUS 1p"/>
                <a:cs typeface="M PLUS 1p"/>
                <a:sym typeface="M PLUS 1p"/>
              </a:rPr>
              <a:t>募集の質</a:t>
            </a:r>
            <a:r>
              <a:rPr lang="ja" sz="850">
                <a:solidFill>
                  <a:schemeClr val="dk1"/>
                </a:solidFill>
                <a:latin typeface="M PLUS 1p"/>
                <a:ea typeface="M PLUS 1p"/>
                <a:cs typeface="M PLUS 1p"/>
                <a:sym typeface="M PLUS 1p"/>
              </a:rPr>
              <a:t>：複数ひな形・写真4枚以上・AIひな形の活用有無</a:t>
            </a:r>
            <a:endParaRPr sz="850">
              <a:solidFill>
                <a:schemeClr val="dk1"/>
              </a:solidFill>
              <a:latin typeface="M PLUS 1p"/>
              <a:ea typeface="M PLUS 1p"/>
              <a:cs typeface="M PLUS 1p"/>
              <a:sym typeface="M PLUS 1p"/>
            </a:endParaRPr>
          </a:p>
          <a:p>
            <a:pPr indent="-171450" lvl="0" marL="171450" marR="0" rtl="0" algn="l">
              <a:spcBef>
                <a:spcPts val="0"/>
              </a:spcBef>
              <a:spcAft>
                <a:spcPts val="0"/>
              </a:spcAft>
              <a:buClr>
                <a:schemeClr val="dk1"/>
              </a:buClr>
              <a:buSzPts val="850"/>
              <a:buFont typeface="Arial"/>
              <a:buChar char="•"/>
            </a:pPr>
            <a:r>
              <a:rPr b="1" lang="ja" sz="850">
                <a:solidFill>
                  <a:schemeClr val="dk1"/>
                </a:solidFill>
                <a:latin typeface="M PLUS 1p"/>
                <a:ea typeface="M PLUS 1p"/>
                <a:cs typeface="M PLUS 1p"/>
                <a:sym typeface="M PLUS 1p"/>
              </a:rPr>
              <a:t>稼働体験</a:t>
            </a:r>
            <a:r>
              <a:rPr lang="ja" sz="850">
                <a:solidFill>
                  <a:schemeClr val="dk1"/>
                </a:solidFill>
                <a:latin typeface="M PLUS 1p"/>
                <a:ea typeface="M PLUS 1p"/>
                <a:cs typeface="M PLUS 1p"/>
                <a:sym typeface="M PLUS 1p"/>
              </a:rPr>
              <a:t>：初稼働3時間程度か、トラブル・キャンセルの有無</a:t>
            </a:r>
            <a:endParaRPr sz="850">
              <a:solidFill>
                <a:schemeClr val="dk1"/>
              </a:solidFill>
              <a:latin typeface="M PLUS 1p"/>
              <a:ea typeface="M PLUS 1p"/>
              <a:cs typeface="M PLUS 1p"/>
              <a:sym typeface="M PLUS 1p"/>
            </a:endParaRPr>
          </a:p>
          <a:p>
            <a:pPr indent="-171450" lvl="0" marL="171450" marR="0" rtl="0" algn="l">
              <a:spcBef>
                <a:spcPts val="0"/>
              </a:spcBef>
              <a:spcAft>
                <a:spcPts val="0"/>
              </a:spcAft>
              <a:buClr>
                <a:schemeClr val="dk1"/>
              </a:buClr>
              <a:buSzPts val="850"/>
              <a:buFont typeface="Arial"/>
              <a:buChar char="•"/>
            </a:pPr>
            <a:r>
              <a:rPr b="1" lang="ja" sz="850">
                <a:solidFill>
                  <a:schemeClr val="dk1"/>
                </a:solidFill>
                <a:latin typeface="M PLUS 1p"/>
                <a:ea typeface="M PLUS 1p"/>
                <a:cs typeface="M PLUS 1p"/>
                <a:sym typeface="M PLUS 1p"/>
              </a:rPr>
              <a:t>稼働後エンゲージメント</a:t>
            </a:r>
            <a:r>
              <a:rPr lang="ja" sz="850">
                <a:solidFill>
                  <a:schemeClr val="dk1"/>
                </a:solidFill>
                <a:latin typeface="M PLUS 1p"/>
                <a:ea typeface="M PLUS 1p"/>
                <a:cs typeface="M PLUS 1p"/>
                <a:sym typeface="M PLUS 1p"/>
              </a:rPr>
              <a:t>：レビュー実施の有無、お気に入りワーカー数</a:t>
            </a:r>
            <a:endParaRPr sz="850">
              <a:solidFill>
                <a:schemeClr val="dk1"/>
              </a:solidFill>
              <a:latin typeface="M PLUS 1p"/>
              <a:ea typeface="M PLUS 1p"/>
              <a:cs typeface="M PLUS 1p"/>
              <a:sym typeface="M PLUS 1p"/>
            </a:endParaRPr>
          </a:p>
          <a:p>
            <a:pPr indent="-171450" lvl="0" marL="171450" marR="0" rtl="0" algn="l">
              <a:spcBef>
                <a:spcPts val="0"/>
              </a:spcBef>
              <a:spcAft>
                <a:spcPts val="0"/>
              </a:spcAft>
              <a:buClr>
                <a:schemeClr val="dk1"/>
              </a:buClr>
              <a:buSzPts val="850"/>
              <a:buFont typeface="Arial"/>
              <a:buChar char="•"/>
            </a:pPr>
            <a:r>
              <a:rPr b="1" lang="ja" sz="850">
                <a:solidFill>
                  <a:schemeClr val="dk1"/>
                </a:solidFill>
                <a:latin typeface="M PLUS 1p"/>
                <a:ea typeface="M PLUS 1p"/>
                <a:cs typeface="M PLUS 1p"/>
                <a:sym typeface="M PLUS 1p"/>
              </a:rPr>
              <a:t>利用の習慣化</a:t>
            </a:r>
            <a:r>
              <a:rPr lang="ja" sz="850">
                <a:solidFill>
                  <a:schemeClr val="dk1"/>
                </a:solidFill>
                <a:latin typeface="M PLUS 1p"/>
                <a:ea typeface="M PLUS 1p"/>
                <a:cs typeface="M PLUS 1p"/>
                <a:sym typeface="M PLUS 1p"/>
              </a:rPr>
              <a:t>：最終ログインからの経過時間</a:t>
            </a:r>
            <a:endParaRPr>
              <a:latin typeface="M PLUS 1p"/>
              <a:ea typeface="M PLUS 1p"/>
              <a:cs typeface="M PLUS 1p"/>
              <a:sym typeface="M PLUS 1p"/>
            </a:endParaRPr>
          </a:p>
          <a:p>
            <a:pPr indent="0" lvl="0" marL="0" marR="0" rtl="0" algn="l">
              <a:spcBef>
                <a:spcPts val="0"/>
              </a:spcBef>
              <a:spcAft>
                <a:spcPts val="0"/>
              </a:spcAft>
              <a:buClr>
                <a:srgbClr val="8C8C8C"/>
              </a:buClr>
              <a:buSzPts val="850"/>
              <a:buFont typeface="Meiryo"/>
              <a:buNone/>
            </a:pPr>
            <a:r>
              <a:rPr lang="ja" sz="850">
                <a:solidFill>
                  <a:srgbClr val="8C8C8C"/>
                </a:solidFill>
                <a:latin typeface="M PLUS 1p"/>
                <a:ea typeface="M PLUS 1p"/>
                <a:cs typeface="M PLUS 1p"/>
                <a:sym typeface="M PLUS 1p"/>
              </a:rPr>
              <a:t>※候補は現時点の仮置き。9月実績で継続率差が出た項目のみ採用する</a:t>
            </a:r>
            <a:endParaRPr sz="850">
              <a:solidFill>
                <a:schemeClr val="dk1"/>
              </a:solidFill>
              <a:latin typeface="M PLUS 1p"/>
              <a:ea typeface="M PLUS 1p"/>
              <a:cs typeface="M PLUS 1p"/>
              <a:sym typeface="M PLUS 1p"/>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100"/>
        </a:solidFill>
      </p:bgPr>
    </p:bg>
    <p:spTree>
      <p:nvGrpSpPr>
        <p:cNvPr id="484" name="Shape 484"/>
        <p:cNvGrpSpPr/>
        <p:nvPr/>
      </p:nvGrpSpPr>
      <p:grpSpPr>
        <a:xfrm>
          <a:off x="0" y="0"/>
          <a:ext cx="0" cy="0"/>
          <a:chOff x="0" y="0"/>
          <a:chExt cx="0" cy="0"/>
        </a:xfrm>
      </p:grpSpPr>
      <p:sp>
        <p:nvSpPr>
          <p:cNvPr id="485" name="Google Shape;485;p30"/>
          <p:cNvSpPr txBox="1"/>
          <p:nvPr/>
        </p:nvSpPr>
        <p:spPr>
          <a:xfrm>
            <a:off x="365760" y="310896"/>
            <a:ext cx="1828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4000"/>
              <a:buFont typeface="Meiryo"/>
              <a:buNone/>
            </a:pPr>
            <a:r>
              <a:t/>
            </a:r>
            <a:endParaRPr b="0" i="0" sz="4000" u="none" cap="none" strike="noStrike">
              <a:solidFill>
                <a:schemeClr val="dk1"/>
              </a:solidFill>
              <a:latin typeface="Calibri"/>
              <a:ea typeface="Calibri"/>
              <a:cs typeface="Calibri"/>
              <a:sym typeface="Calibri"/>
            </a:endParaRPr>
          </a:p>
        </p:txBody>
      </p:sp>
      <p:sp>
        <p:nvSpPr>
          <p:cNvPr id="486" name="Google Shape;486;p30"/>
          <p:cNvSpPr txBox="1"/>
          <p:nvPr/>
        </p:nvSpPr>
        <p:spPr>
          <a:xfrm>
            <a:off x="365760" y="1371600"/>
            <a:ext cx="8229600" cy="1737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4800"/>
              <a:buFont typeface="Meiryo"/>
              <a:buNone/>
            </a:pPr>
            <a:r>
              <a:rPr b="1" lang="ja" sz="3500">
                <a:solidFill>
                  <a:srgbClr val="1A1A1A"/>
                </a:solidFill>
                <a:latin typeface="M PLUS 1p"/>
                <a:ea typeface="M PLUS 1p"/>
                <a:cs typeface="M PLUS 1p"/>
                <a:sym typeface="M PLUS 1p"/>
              </a:rPr>
              <a:t>運用変更</a:t>
            </a:r>
            <a:endParaRPr i="0" sz="3500" u="none" cap="none" strike="noStrike">
              <a:solidFill>
                <a:schemeClr val="dk1"/>
              </a:solidFill>
              <a:latin typeface="M PLUS 1p"/>
              <a:ea typeface="M PLUS 1p"/>
              <a:cs typeface="M PLUS 1p"/>
              <a:sym typeface="M PLUS 1p"/>
            </a:endParaRPr>
          </a:p>
        </p:txBody>
      </p:sp>
      <p:sp>
        <p:nvSpPr>
          <p:cNvPr id="487" name="Google Shape;487;p30"/>
          <p:cNvSpPr txBox="1"/>
          <p:nvPr/>
        </p:nvSpPr>
        <p:spPr>
          <a:xfrm>
            <a:off x="365760" y="3611880"/>
            <a:ext cx="84126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700"/>
              <a:buFont typeface="Meiryo"/>
              <a:buNone/>
            </a:pPr>
            <a:r>
              <a:t/>
            </a:r>
            <a:endParaRPr sz="1700">
              <a:solidFill>
                <a:schemeClr val="dk1"/>
              </a:solidFill>
              <a:latin typeface="M PLUS 1p"/>
              <a:ea typeface="M PLUS 1p"/>
              <a:cs typeface="M PLUS 1p"/>
              <a:sym typeface="M PLUS 1p"/>
            </a:endParaRPr>
          </a:p>
        </p:txBody>
      </p:sp>
      <p:sp>
        <p:nvSpPr>
          <p:cNvPr id="488" name="Google Shape;488;p30"/>
          <p:cNvSpPr txBox="1"/>
          <p:nvPr/>
        </p:nvSpPr>
        <p:spPr>
          <a:xfrm>
            <a:off x="365760" y="4297680"/>
            <a:ext cx="84126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100"/>
              <a:buFont typeface="Meiryo"/>
              <a:buNone/>
            </a:pPr>
            <a:r>
              <a:t/>
            </a:r>
            <a:endParaRPr sz="1100">
              <a:solidFill>
                <a:schemeClr val="dk1"/>
              </a:solidFill>
              <a:latin typeface="M PLUS 1p"/>
              <a:ea typeface="M PLUS 1p"/>
              <a:cs typeface="M PLUS 1p"/>
              <a:sym typeface="M PLUS 1p"/>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3" name="Shape 493"/>
        <p:cNvGrpSpPr/>
        <p:nvPr/>
      </p:nvGrpSpPr>
      <p:grpSpPr>
        <a:xfrm>
          <a:off x="0" y="0"/>
          <a:ext cx="0" cy="0"/>
          <a:chOff x="0" y="0"/>
          <a:chExt cx="0" cy="0"/>
        </a:xfrm>
      </p:grpSpPr>
      <p:sp>
        <p:nvSpPr>
          <p:cNvPr id="494" name="Google Shape;494;p31"/>
          <p:cNvSpPr/>
          <p:nvPr/>
        </p:nvSpPr>
        <p:spPr>
          <a:xfrm>
            <a:off x="342900" y="200025"/>
            <a:ext cx="8458200" cy="371475"/>
          </a:xfrm>
          <a:prstGeom prst="rect">
            <a:avLst/>
          </a:prstGeom>
          <a:noFill/>
          <a:ln>
            <a:noFill/>
          </a:ln>
        </p:spPr>
        <p:txBody>
          <a:bodyPr anchorCtr="0" anchor="t" bIns="27425" lIns="54850" spcFirstLastPara="1" rIns="54850" wrap="square" tIns="27425">
            <a:noAutofit/>
          </a:bodyPr>
          <a:lstStyle/>
          <a:p>
            <a:pPr indent="0" lvl="0" marL="0" marR="0" rtl="0" algn="l">
              <a:spcBef>
                <a:spcPts val="0"/>
              </a:spcBef>
              <a:spcAft>
                <a:spcPts val="0"/>
              </a:spcAft>
              <a:buNone/>
            </a:pPr>
            <a:r>
              <a:rPr b="1" lang="ja" sz="1900">
                <a:solidFill>
                  <a:srgbClr val="202020"/>
                </a:solidFill>
                <a:latin typeface="Noto Sans JP"/>
                <a:ea typeface="Noto Sans JP"/>
                <a:cs typeface="Noto Sans JP"/>
                <a:sym typeface="Noto Sans JP"/>
              </a:rPr>
              <a:t>ONBスコアリング施策の As-Is / To-Be</a:t>
            </a:r>
            <a:endParaRPr sz="800"/>
          </a:p>
        </p:txBody>
      </p:sp>
      <p:sp>
        <p:nvSpPr>
          <p:cNvPr id="495" name="Google Shape;495;p31"/>
          <p:cNvSpPr/>
          <p:nvPr/>
        </p:nvSpPr>
        <p:spPr>
          <a:xfrm>
            <a:off x="342900" y="645795"/>
            <a:ext cx="8458200" cy="365760"/>
          </a:xfrm>
          <a:prstGeom prst="rect">
            <a:avLst/>
          </a:prstGeom>
          <a:noFill/>
          <a:ln>
            <a:noFill/>
          </a:ln>
        </p:spPr>
        <p:txBody>
          <a:bodyPr anchorCtr="0" anchor="t" bIns="27425" lIns="54850" spcFirstLastPara="1" rIns="54850" wrap="square" tIns="27425">
            <a:noAutofit/>
          </a:bodyPr>
          <a:lstStyle/>
          <a:p>
            <a:pPr indent="0" lvl="0" marL="0" marR="0" rtl="0" algn="l">
              <a:spcBef>
                <a:spcPts val="0"/>
              </a:spcBef>
              <a:spcAft>
                <a:spcPts val="0"/>
              </a:spcAft>
              <a:buNone/>
            </a:pPr>
            <a:r>
              <a:rPr b="1" lang="ja" sz="1200">
                <a:solidFill>
                  <a:srgbClr val="087EDB"/>
                </a:solidFill>
                <a:latin typeface="Noto Sans JP"/>
                <a:ea typeface="Noto Sans JP"/>
                <a:cs typeface="Noto Sans JP"/>
                <a:sym typeface="Noto Sans JP"/>
              </a:rPr>
              <a:t>提案：顧客の達成状態を共通項目で計測し、未達項目に応じた標準アクションを実行する</a:t>
            </a:r>
            <a:endParaRPr sz="800"/>
          </a:p>
        </p:txBody>
      </p:sp>
      <p:sp>
        <p:nvSpPr>
          <p:cNvPr id="496" name="Google Shape;496;p31"/>
          <p:cNvSpPr/>
          <p:nvPr/>
        </p:nvSpPr>
        <p:spPr>
          <a:xfrm>
            <a:off x="342900" y="4886325"/>
            <a:ext cx="8458200" cy="142875"/>
          </a:xfrm>
          <a:prstGeom prst="rect">
            <a:avLst/>
          </a:prstGeom>
          <a:noFill/>
          <a:ln>
            <a:noFill/>
          </a:ln>
        </p:spPr>
        <p:txBody>
          <a:bodyPr anchorCtr="0" anchor="t" bIns="27425" lIns="54850" spcFirstLastPara="1" rIns="54850" wrap="square" tIns="27425">
            <a:noAutofit/>
          </a:bodyPr>
          <a:lstStyle/>
          <a:p>
            <a:pPr indent="0" lvl="0" marL="0" marR="0" rtl="0" algn="l">
              <a:spcBef>
                <a:spcPts val="0"/>
              </a:spcBef>
              <a:spcAft>
                <a:spcPts val="0"/>
              </a:spcAft>
              <a:buNone/>
            </a:pPr>
            <a:r>
              <a:rPr b="0" lang="ja" sz="700">
                <a:solidFill>
                  <a:srgbClr val="777777"/>
                </a:solidFill>
                <a:latin typeface="Noto Sans JP"/>
                <a:ea typeface="Noto Sans JP"/>
                <a:cs typeface="Noto Sans JP"/>
                <a:sym typeface="Noto Sans JP"/>
              </a:rPr>
              <a:t>ONBスコアリング施策 改定提案　　1 / 3</a:t>
            </a:r>
            <a:endParaRPr sz="800"/>
          </a:p>
        </p:txBody>
      </p:sp>
      <p:graphicFrame>
        <p:nvGraphicFramePr>
          <p:cNvPr id="497" name="Google Shape;497;p31"/>
          <p:cNvGraphicFramePr/>
          <p:nvPr/>
        </p:nvGraphicFramePr>
        <p:xfrm>
          <a:off x="342900" y="1143000"/>
          <a:ext cx="3000000" cy="3000000"/>
        </p:xfrm>
        <a:graphic>
          <a:graphicData uri="http://schemas.openxmlformats.org/drawingml/2006/table">
            <a:tbl>
              <a:tblPr>
                <a:noFill/>
                <a:tableStyleId>{4D1902DF-5F7D-472D-8D0B-F0FF43A86CE1}</a:tableStyleId>
              </a:tblPr>
              <a:tblGrid>
                <a:gridCol w="1085850"/>
                <a:gridCol w="3571875"/>
                <a:gridCol w="3800475"/>
              </a:tblGrid>
              <a:tr h="302875">
                <a:tc>
                  <a:txBody>
                    <a:bodyPr/>
                    <a:lstStyle/>
                    <a:p>
                      <a:pPr indent="0" lvl="0" marL="0" marR="0" rtl="0" algn="l">
                        <a:spcBef>
                          <a:spcPts val="0"/>
                        </a:spcBef>
                        <a:spcAft>
                          <a:spcPts val="0"/>
                        </a:spcAft>
                        <a:buClr>
                          <a:srgbClr val="FFFFFF"/>
                        </a:buClr>
                        <a:buSzPts val="1100"/>
                        <a:buFont typeface="Noto Sans JP"/>
                        <a:buNone/>
                      </a:pPr>
                      <a:r>
                        <a:rPr b="1" lang="ja" sz="1100" u="none" cap="none" strike="noStrike">
                          <a:solidFill>
                            <a:srgbClr val="FFFFFF"/>
                          </a:solidFill>
                          <a:latin typeface="Noto Sans JP"/>
                          <a:ea typeface="Noto Sans JP"/>
                          <a:cs typeface="Noto Sans JP"/>
                          <a:sym typeface="Noto Sans JP"/>
                        </a:rPr>
                        <a:t>比較軸</a:t>
                      </a:r>
                      <a:endParaRPr sz="800"/>
                    </a:p>
                  </a:txBody>
                  <a:tcPr marT="68575" marB="57150" marR="91450" marL="102875" anchor="ctr">
                    <a:solidFill>
                      <a:srgbClr val="202020"/>
                    </a:solidFill>
                  </a:tcPr>
                </a:tc>
                <a:tc>
                  <a:txBody>
                    <a:bodyPr/>
                    <a:lstStyle/>
                    <a:p>
                      <a:pPr indent="0" lvl="0" marL="0" marR="0" rtl="0" algn="l">
                        <a:spcBef>
                          <a:spcPts val="0"/>
                        </a:spcBef>
                        <a:spcAft>
                          <a:spcPts val="0"/>
                        </a:spcAft>
                        <a:buClr>
                          <a:srgbClr val="FFFFFF"/>
                        </a:buClr>
                        <a:buSzPts val="1100"/>
                        <a:buFont typeface="Noto Sans JP"/>
                        <a:buNone/>
                      </a:pPr>
                      <a:r>
                        <a:rPr b="1" lang="ja" sz="1100">
                          <a:solidFill>
                            <a:srgbClr val="FFFFFF"/>
                          </a:solidFill>
                          <a:latin typeface="Noto Sans JP"/>
                          <a:ea typeface="Noto Sans JP"/>
                          <a:cs typeface="Noto Sans JP"/>
                          <a:sym typeface="Noto Sans JP"/>
                        </a:rPr>
                        <a:t>As-Is｜継続確率に応じたランク運用</a:t>
                      </a:r>
                      <a:endParaRPr sz="800"/>
                    </a:p>
                  </a:txBody>
                  <a:tcPr marT="68575" marB="57150" marR="91450" marL="102875" anchor="ctr">
                    <a:solidFill>
                      <a:srgbClr val="202020"/>
                    </a:solidFill>
                  </a:tcPr>
                </a:tc>
                <a:tc>
                  <a:txBody>
                    <a:bodyPr/>
                    <a:lstStyle/>
                    <a:p>
                      <a:pPr indent="0" lvl="0" marL="0" marR="0" rtl="0" algn="l">
                        <a:spcBef>
                          <a:spcPts val="0"/>
                        </a:spcBef>
                        <a:spcAft>
                          <a:spcPts val="0"/>
                        </a:spcAft>
                        <a:buClr>
                          <a:srgbClr val="202020"/>
                        </a:buClr>
                        <a:buSzPts val="1100"/>
                        <a:buFont typeface="Noto Sans JP"/>
                        <a:buNone/>
                      </a:pPr>
                      <a:r>
                        <a:rPr b="1" lang="ja" sz="1100">
                          <a:solidFill>
                            <a:srgbClr val="202020"/>
                          </a:solidFill>
                          <a:latin typeface="Noto Sans JP"/>
                          <a:ea typeface="Noto Sans JP"/>
                          <a:cs typeface="Noto Sans JP"/>
                          <a:sym typeface="Noto Sans JP"/>
                        </a:rPr>
                        <a:t>To-Be｜星取・診断・FCTを分離</a:t>
                      </a:r>
                      <a:endParaRPr sz="800"/>
                    </a:p>
                  </a:txBody>
                  <a:tcPr marT="68575" marB="57150" marR="91450" marL="102875" anchor="ctr">
                    <a:solidFill>
                      <a:srgbClr val="FFD900"/>
                    </a:solidFill>
                  </a:tcPr>
                </a:tc>
              </a:tr>
              <a:tr h="571500">
                <a:tc>
                  <a:txBody>
                    <a:bodyPr/>
                    <a:lstStyle/>
                    <a:p>
                      <a:pPr indent="0" lvl="0" marL="0" marR="0" rtl="0" algn="l">
                        <a:spcBef>
                          <a:spcPts val="0"/>
                        </a:spcBef>
                        <a:spcAft>
                          <a:spcPts val="0"/>
                        </a:spcAft>
                        <a:buClr>
                          <a:srgbClr val="202020"/>
                        </a:buClr>
                        <a:buSzPts val="1100"/>
                        <a:buFont typeface="Noto Sans JP"/>
                        <a:buNone/>
                      </a:pPr>
                      <a:r>
                        <a:rPr b="1" lang="ja" sz="1100">
                          <a:solidFill>
                            <a:srgbClr val="202020"/>
                          </a:solidFill>
                          <a:latin typeface="Noto Sans JP"/>
                          <a:ea typeface="Noto Sans JP"/>
                          <a:cs typeface="Noto Sans JP"/>
                          <a:sym typeface="Noto Sans JP"/>
                        </a:rPr>
                        <a:t>顧客の見方</a:t>
                      </a:r>
                      <a:endParaRPr sz="800"/>
                    </a:p>
                  </a:txBody>
                  <a:tcPr marT="68575" marB="57150" marR="91450" marL="102875" anchor="ctr">
                    <a:solidFill>
                      <a:srgbClr val="F0F0F0"/>
                    </a:solidFill>
                  </a:tcPr>
                </a:tc>
                <a:tc>
                  <a:txBody>
                    <a:bodyPr/>
                    <a:lstStyle/>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当月新規・翌月未継続を</a:t>
                      </a:r>
                      <a:r>
                        <a:rPr lang="ja" sz="1100">
                          <a:solidFill>
                            <a:srgbClr val="202020"/>
                          </a:solidFill>
                          <a:latin typeface="Noto Sans JP"/>
                          <a:ea typeface="Noto Sans JP"/>
                          <a:cs typeface="Noto Sans JP"/>
                          <a:sym typeface="Noto Sans JP"/>
                        </a:rPr>
                        <a:t>それぞれ</a:t>
                      </a:r>
                      <a:r>
                        <a:rPr b="0" lang="ja" sz="1100">
                          <a:solidFill>
                            <a:srgbClr val="202020"/>
                          </a:solidFill>
                          <a:latin typeface="Noto Sans JP"/>
                          <a:ea typeface="Noto Sans JP"/>
                          <a:cs typeface="Noto Sans JP"/>
                          <a:sym typeface="Noto Sans JP"/>
                        </a:rPr>
                        <a:t>5項目で採点</a:t>
                      </a:r>
                      <a:endParaRPr sz="800"/>
                    </a:p>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A〜Eの5ランクに分類</a:t>
                      </a:r>
                      <a:endParaRPr sz="800"/>
                    </a:p>
                  </a:txBody>
                  <a:tcPr marT="68575" marB="57150" marR="91450" marL="102875" anchor="ctr">
                    <a:solidFill>
                      <a:srgbClr val="F8F8F8"/>
                    </a:solidFill>
                  </a:tcPr>
                </a:tc>
                <a:tc>
                  <a:txBody>
                    <a:bodyPr/>
                    <a:lstStyle/>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全対象顧客を共通の星取項目で計測</a:t>
                      </a:r>
                      <a:endParaRPr sz="800"/>
                    </a:p>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A〜Eランクを終了し、達成状況を表示</a:t>
                      </a:r>
                      <a:endParaRPr sz="800"/>
                    </a:p>
                  </a:txBody>
                  <a:tcPr marT="68575" marB="57150" marR="91450" marL="102875" anchor="ctr">
                    <a:solidFill>
                      <a:srgbClr val="FFF9E4"/>
                    </a:solidFill>
                  </a:tcPr>
                </a:tc>
              </a:tr>
              <a:tr h="714375">
                <a:tc>
                  <a:txBody>
                    <a:bodyPr/>
                    <a:lstStyle/>
                    <a:p>
                      <a:pPr indent="0" lvl="0" marL="0" marR="0" rtl="0" algn="l">
                        <a:spcBef>
                          <a:spcPts val="0"/>
                        </a:spcBef>
                        <a:spcAft>
                          <a:spcPts val="0"/>
                        </a:spcAft>
                        <a:buClr>
                          <a:srgbClr val="202020"/>
                        </a:buClr>
                        <a:buSzPts val="1100"/>
                        <a:buFont typeface="Noto Sans JP"/>
                        <a:buNone/>
                      </a:pPr>
                      <a:r>
                        <a:rPr b="1" lang="ja" sz="1100">
                          <a:solidFill>
                            <a:srgbClr val="202020"/>
                          </a:solidFill>
                          <a:latin typeface="Noto Sans JP"/>
                          <a:ea typeface="Noto Sans JP"/>
                          <a:cs typeface="Noto Sans JP"/>
                          <a:sym typeface="Noto Sans JP"/>
                        </a:rPr>
                        <a:t>現場の動き</a:t>
                      </a:r>
                      <a:endParaRPr sz="800"/>
                    </a:p>
                  </a:txBody>
                  <a:tcPr marT="68575" marB="57150" marR="91450" marL="102875" anchor="ctr">
                    <a:solidFill>
                      <a:srgbClr val="F0F0F0"/>
                    </a:solidFill>
                  </a:tcPr>
                </a:tc>
                <a:tc>
                  <a:txBody>
                    <a:bodyPr/>
                    <a:lstStyle/>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A/B：当月介入なし、</a:t>
                      </a:r>
                      <a:r>
                        <a:rPr lang="ja" sz="1100">
                          <a:solidFill>
                            <a:srgbClr val="202020"/>
                          </a:solidFill>
                          <a:latin typeface="Noto Sans JP"/>
                          <a:ea typeface="Noto Sans JP"/>
                          <a:cs typeface="Noto Sans JP"/>
                          <a:sym typeface="Noto Sans JP"/>
                        </a:rPr>
                        <a:t>月末まで</a:t>
                      </a:r>
                      <a:r>
                        <a:rPr b="0" lang="ja" sz="1100">
                          <a:solidFill>
                            <a:srgbClr val="202020"/>
                          </a:solidFill>
                          <a:latin typeface="Noto Sans JP"/>
                          <a:ea typeface="Noto Sans JP"/>
                          <a:cs typeface="Noto Sans JP"/>
                          <a:sym typeface="Noto Sans JP"/>
                        </a:rPr>
                        <a:t>未継続なら架電</a:t>
                      </a:r>
                      <a:endParaRPr sz="800"/>
                    </a:p>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C/D：対面・WEB商談</a:t>
                      </a:r>
                      <a:endParaRPr sz="800"/>
                    </a:p>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E</a:t>
                      </a:r>
                      <a:r>
                        <a:rPr lang="ja" sz="1100">
                          <a:solidFill>
                            <a:srgbClr val="202020"/>
                          </a:solidFill>
                          <a:latin typeface="Noto Sans JP"/>
                          <a:ea typeface="Noto Sans JP"/>
                          <a:cs typeface="Noto Sans JP"/>
                          <a:sym typeface="Noto Sans JP"/>
                        </a:rPr>
                        <a:t>     </a:t>
                      </a:r>
                      <a:r>
                        <a:rPr b="0" lang="ja" sz="1100">
                          <a:solidFill>
                            <a:srgbClr val="202020"/>
                          </a:solidFill>
                          <a:latin typeface="Noto Sans JP"/>
                          <a:ea typeface="Noto Sans JP"/>
                          <a:cs typeface="Noto Sans JP"/>
                          <a:sym typeface="Noto Sans JP"/>
                        </a:rPr>
                        <a:t>：介入なし</a:t>
                      </a:r>
                      <a:endParaRPr sz="800"/>
                    </a:p>
                  </a:txBody>
                  <a:tcPr marT="68575" marB="57150" marR="91450" marL="102875" anchor="ctr">
                    <a:solidFill>
                      <a:srgbClr val="F8F8F8"/>
                    </a:solidFill>
                  </a:tcPr>
                </a:tc>
                <a:tc>
                  <a:txBody>
                    <a:bodyPr/>
                    <a:lstStyle/>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星の未達項目から標準アクションを選択</a:t>
                      </a:r>
                      <a:endParaRPr sz="800"/>
                    </a:p>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診断情報で人的介入対象を絞る</a:t>
                      </a:r>
                      <a:endParaRPr sz="800"/>
                    </a:p>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その他はメール・資料／ノベルティ送付等</a:t>
                      </a:r>
                      <a:endParaRPr sz="800"/>
                    </a:p>
                  </a:txBody>
                  <a:tcPr marT="68575" marB="57150" marR="91450" marL="102875" anchor="ctr">
                    <a:solidFill>
                      <a:srgbClr val="FFF9E4"/>
                    </a:solidFill>
                  </a:tcPr>
                </a:tc>
              </a:tr>
              <a:tr h="571500">
                <a:tc>
                  <a:txBody>
                    <a:bodyPr/>
                    <a:lstStyle/>
                    <a:p>
                      <a:pPr indent="0" lvl="0" marL="0" marR="0" rtl="0" algn="l">
                        <a:spcBef>
                          <a:spcPts val="0"/>
                        </a:spcBef>
                        <a:spcAft>
                          <a:spcPts val="0"/>
                        </a:spcAft>
                        <a:buClr>
                          <a:srgbClr val="202020"/>
                        </a:buClr>
                        <a:buSzPts val="1100"/>
                        <a:buFont typeface="Noto Sans JP"/>
                        <a:buNone/>
                      </a:pPr>
                      <a:r>
                        <a:rPr b="1" lang="ja" sz="1100">
                          <a:solidFill>
                            <a:srgbClr val="202020"/>
                          </a:solidFill>
                          <a:latin typeface="Noto Sans JP"/>
                          <a:ea typeface="Noto Sans JP"/>
                          <a:cs typeface="Noto Sans JP"/>
                          <a:sym typeface="Noto Sans JP"/>
                        </a:rPr>
                        <a:t>判断・予測</a:t>
                      </a:r>
                      <a:endParaRPr sz="800"/>
                    </a:p>
                  </a:txBody>
                  <a:tcPr marT="68575" marB="57150" marR="91450" marL="102875" anchor="ctr">
                    <a:solidFill>
                      <a:srgbClr val="F0F0F0"/>
                    </a:solidFill>
                  </a:tcPr>
                </a:tc>
                <a:tc>
                  <a:txBody>
                    <a:bodyPr/>
                    <a:lstStyle/>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A〜F</a:t>
                      </a:r>
                      <a:r>
                        <a:rPr lang="ja" sz="1100">
                          <a:solidFill>
                            <a:srgbClr val="202020"/>
                          </a:solidFill>
                          <a:latin typeface="Noto Sans JP"/>
                          <a:ea typeface="Noto Sans JP"/>
                          <a:cs typeface="Noto Sans JP"/>
                          <a:sym typeface="Noto Sans JP"/>
                        </a:rPr>
                        <a:t>ヒト</a:t>
                      </a:r>
                      <a:r>
                        <a:rPr b="0" lang="ja" sz="1100">
                          <a:solidFill>
                            <a:srgbClr val="202020"/>
                          </a:solidFill>
                          <a:latin typeface="Noto Sans JP"/>
                          <a:ea typeface="Noto Sans JP"/>
                          <a:cs typeface="Noto Sans JP"/>
                          <a:sym typeface="Noto Sans JP"/>
                        </a:rPr>
                        <a:t>ヨミとA〜E</a:t>
                      </a:r>
                      <a:r>
                        <a:rPr lang="ja" sz="1100">
                          <a:solidFill>
                            <a:srgbClr val="202020"/>
                          </a:solidFill>
                          <a:latin typeface="Noto Sans JP"/>
                          <a:ea typeface="Noto Sans JP"/>
                          <a:cs typeface="Noto Sans JP"/>
                          <a:sym typeface="Noto Sans JP"/>
                        </a:rPr>
                        <a:t>スコア</a:t>
                      </a:r>
                      <a:r>
                        <a:rPr b="0" lang="ja" sz="1100">
                          <a:solidFill>
                            <a:srgbClr val="202020"/>
                          </a:solidFill>
                          <a:latin typeface="Noto Sans JP"/>
                          <a:ea typeface="Noto Sans JP"/>
                          <a:cs typeface="Noto Sans JP"/>
                          <a:sym typeface="Noto Sans JP"/>
                        </a:rPr>
                        <a:t>ランクが併存</a:t>
                      </a:r>
                      <a:endParaRPr sz="800"/>
                    </a:p>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優先順位と介入方法をランクで判断</a:t>
                      </a:r>
                      <a:endParaRPr sz="800"/>
                    </a:p>
                  </a:txBody>
                  <a:tcPr marT="68575" marB="57150" marR="91450" marL="102875" anchor="ctr">
                    <a:solidFill>
                      <a:srgbClr val="F8F8F8"/>
                    </a:solidFill>
                  </a:tcPr>
                </a:tc>
                <a:tc>
                  <a:txBody>
                    <a:bodyPr/>
                    <a:lstStyle/>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既存A〜F掲載ヨミは診断情報として維持</a:t>
                      </a:r>
                      <a:endParaRPr sz="800"/>
                    </a:p>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10月の正式FCTはヨミベースを継続</a:t>
                      </a:r>
                      <a:endParaRPr sz="800"/>
                    </a:p>
                  </a:txBody>
                  <a:tcPr marT="68575" marB="57150" marR="91450" marL="102875" anchor="ctr">
                    <a:solidFill>
                      <a:srgbClr val="FFF9E4"/>
                    </a:solidFill>
                  </a:tcPr>
                </a:tc>
              </a:tr>
              <a:tr h="571500">
                <a:tc>
                  <a:txBody>
                    <a:bodyPr/>
                    <a:lstStyle/>
                    <a:p>
                      <a:pPr indent="0" lvl="0" marL="0" marR="0" rtl="0" algn="l">
                        <a:spcBef>
                          <a:spcPts val="0"/>
                        </a:spcBef>
                        <a:spcAft>
                          <a:spcPts val="0"/>
                        </a:spcAft>
                        <a:buClr>
                          <a:srgbClr val="202020"/>
                        </a:buClr>
                        <a:buSzPts val="1100"/>
                        <a:buFont typeface="Noto Sans JP"/>
                        <a:buNone/>
                      </a:pPr>
                      <a:r>
                        <a:rPr b="1" lang="ja" sz="1100">
                          <a:solidFill>
                            <a:srgbClr val="202020"/>
                          </a:solidFill>
                          <a:latin typeface="Noto Sans JP"/>
                          <a:ea typeface="Noto Sans JP"/>
                          <a:cs typeface="Noto Sans JP"/>
                          <a:sym typeface="Noto Sans JP"/>
                        </a:rPr>
                        <a:t>上位層の管理</a:t>
                      </a:r>
                      <a:endParaRPr sz="800"/>
                    </a:p>
                  </a:txBody>
                  <a:tcPr marT="68575" marB="57150" marR="91450" marL="102875" anchor="ctr">
                    <a:solidFill>
                      <a:srgbClr val="F0F0F0"/>
                    </a:solidFill>
                  </a:tcPr>
                </a:tc>
                <a:tc>
                  <a:txBody>
                    <a:bodyPr/>
                    <a:lstStyle/>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ランク別の継続率とTGT達成状況を確認</a:t>
                      </a:r>
                      <a:endParaRPr sz="800"/>
                    </a:p>
                  </a:txBody>
                  <a:tcPr marT="68575" marB="57150" marR="91450" marL="102875" anchor="ctr">
                    <a:solidFill>
                      <a:srgbClr val="F8F8F8"/>
                    </a:solidFill>
                  </a:tcPr>
                </a:tc>
                <a:tc>
                  <a:txBody>
                    <a:bodyPr/>
                    <a:lstStyle/>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星の達成率・実行率・顧客行動率を管理</a:t>
                      </a:r>
                      <a:endParaRPr sz="800"/>
                    </a:p>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達成数別継続率を過去ベースTGTと比較</a:t>
                      </a:r>
                      <a:endParaRPr sz="800"/>
                    </a:p>
                  </a:txBody>
                  <a:tcPr marT="68575" marB="57150" marR="91450" marL="102875" anchor="ctr">
                    <a:solidFill>
                      <a:srgbClr val="FFF9E4"/>
                    </a:solidFill>
                  </a:tcPr>
                </a:tc>
              </a:tr>
            </a:tbl>
          </a:graphicData>
        </a:graphic>
      </p:graphicFrame>
      <p:sp>
        <p:nvSpPr>
          <p:cNvPr id="498" name="Google Shape;498;p31"/>
          <p:cNvSpPr/>
          <p:nvPr/>
        </p:nvSpPr>
        <p:spPr>
          <a:xfrm>
            <a:off x="342900" y="4034790"/>
            <a:ext cx="1371600" cy="200025"/>
          </a:xfrm>
          <a:prstGeom prst="rect">
            <a:avLst/>
          </a:prstGeom>
          <a:noFill/>
          <a:ln>
            <a:noFill/>
          </a:ln>
        </p:spPr>
        <p:txBody>
          <a:bodyPr anchorCtr="0" anchor="t" bIns="27425" lIns="54850" spcFirstLastPara="1" rIns="54850" wrap="square" tIns="27425">
            <a:noAutofit/>
          </a:bodyPr>
          <a:lstStyle/>
          <a:p>
            <a:pPr indent="0" lvl="0" marL="0" marR="0" rtl="0" algn="l">
              <a:spcBef>
                <a:spcPts val="0"/>
              </a:spcBef>
              <a:spcAft>
                <a:spcPts val="0"/>
              </a:spcAft>
              <a:buNone/>
            </a:pPr>
            <a:r>
              <a:rPr b="1" lang="ja" sz="1200">
                <a:solidFill>
                  <a:srgbClr val="202020"/>
                </a:solidFill>
                <a:latin typeface="Noto Sans JP"/>
                <a:ea typeface="Noto Sans JP"/>
                <a:cs typeface="Noto Sans JP"/>
                <a:sym typeface="Noto Sans JP"/>
              </a:rPr>
              <a:t>見直しの背景</a:t>
            </a:r>
            <a:endParaRPr sz="800"/>
          </a:p>
        </p:txBody>
      </p:sp>
      <p:sp>
        <p:nvSpPr>
          <p:cNvPr id="499" name="Google Shape;499;p31"/>
          <p:cNvSpPr/>
          <p:nvPr/>
        </p:nvSpPr>
        <p:spPr>
          <a:xfrm>
            <a:off x="1714500" y="4040505"/>
            <a:ext cx="7086600" cy="228600"/>
          </a:xfrm>
          <a:prstGeom prst="rect">
            <a:avLst/>
          </a:prstGeom>
          <a:noFill/>
          <a:ln>
            <a:noFill/>
          </a:ln>
        </p:spPr>
        <p:txBody>
          <a:bodyPr anchorCtr="0" anchor="t" bIns="27425" lIns="54850" spcFirstLastPara="1" rIns="54850" wrap="square" tIns="27425">
            <a:noAutofit/>
          </a:bodyPr>
          <a:lstStyle/>
          <a:p>
            <a:pPr indent="0" lvl="0" marL="0" marR="0" rtl="0" algn="l">
              <a:spcBef>
                <a:spcPts val="0"/>
              </a:spcBef>
              <a:spcAft>
                <a:spcPts val="0"/>
              </a:spcAft>
              <a:buNone/>
            </a:pPr>
            <a:r>
              <a:rPr b="1" lang="ja" sz="1100">
                <a:solidFill>
                  <a:srgbClr val="202020"/>
                </a:solidFill>
                <a:latin typeface="Noto Sans JP"/>
                <a:ea typeface="Noto Sans JP"/>
                <a:cs typeface="Noto Sans JP"/>
                <a:sym typeface="Noto Sans JP"/>
              </a:rPr>
              <a:t>ヨミ実施率 43%　／　対面商談のアポ取得率 1桁%　／　2種類のランクで判断が複雑化</a:t>
            </a:r>
            <a:endParaRPr sz="800"/>
          </a:p>
        </p:txBody>
      </p:sp>
      <p:sp>
        <p:nvSpPr>
          <p:cNvPr id="500" name="Google Shape;500;p31"/>
          <p:cNvSpPr/>
          <p:nvPr/>
        </p:nvSpPr>
        <p:spPr>
          <a:xfrm>
            <a:off x="342900" y="4360545"/>
            <a:ext cx="8458200" cy="411480"/>
          </a:xfrm>
          <a:prstGeom prst="rect">
            <a:avLst/>
          </a:prstGeom>
          <a:noFill/>
          <a:ln>
            <a:noFill/>
          </a:ln>
        </p:spPr>
        <p:txBody>
          <a:bodyPr anchorCtr="0" anchor="t" bIns="27425" lIns="54850" spcFirstLastPara="1" rIns="54850" wrap="square" tIns="27425">
            <a:noAutofit/>
          </a:bodyPr>
          <a:lstStyle/>
          <a:p>
            <a:pPr indent="0" lvl="0" marL="0" marR="0" rtl="0" algn="l">
              <a:spcBef>
                <a:spcPts val="0"/>
              </a:spcBef>
              <a:spcAft>
                <a:spcPts val="0"/>
              </a:spcAft>
              <a:buNone/>
            </a:pPr>
            <a:r>
              <a:rPr b="0" lang="ja" sz="1000">
                <a:solidFill>
                  <a:srgbClr val="202020"/>
                </a:solidFill>
                <a:latin typeface="Noto Sans JP"/>
                <a:ea typeface="Noto Sans JP"/>
                <a:cs typeface="Noto Sans JP"/>
                <a:sym typeface="Noto Sans JP"/>
              </a:rPr>
              <a:t>8月はEの継続率74.6%がDの39.0%を上回る。9月提示値では順序が正常化したが、D・EはTGT未達。</a:t>
            </a:r>
            <a:endParaRPr sz="800"/>
          </a:p>
          <a:p>
            <a:pPr indent="0" lvl="0" marL="0" marR="0" rtl="0" algn="l">
              <a:spcBef>
                <a:spcPts val="0"/>
              </a:spcBef>
              <a:spcAft>
                <a:spcPts val="0"/>
              </a:spcAft>
              <a:buNone/>
            </a:pPr>
            <a:r>
              <a:rPr b="0" lang="ja" sz="1000">
                <a:solidFill>
                  <a:srgbClr val="202020"/>
                </a:solidFill>
                <a:latin typeface="Noto Sans JP"/>
                <a:ea typeface="Noto Sans JP"/>
                <a:cs typeface="Noto Sans JP"/>
                <a:sym typeface="Noto Sans JP"/>
              </a:rPr>
              <a:t>配点の改善に加え、営業アクションと顧客行動が変わる設計が必要。</a:t>
            </a:r>
            <a:endParaRPr sz="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5" name="Shape 505"/>
        <p:cNvGrpSpPr/>
        <p:nvPr/>
      </p:nvGrpSpPr>
      <p:grpSpPr>
        <a:xfrm>
          <a:off x="0" y="0"/>
          <a:ext cx="0" cy="0"/>
          <a:chOff x="0" y="0"/>
          <a:chExt cx="0" cy="0"/>
        </a:xfrm>
      </p:grpSpPr>
      <p:sp>
        <p:nvSpPr>
          <p:cNvPr id="506" name="Google Shape;506;p32"/>
          <p:cNvSpPr/>
          <p:nvPr/>
        </p:nvSpPr>
        <p:spPr>
          <a:xfrm>
            <a:off x="342900" y="200025"/>
            <a:ext cx="8458200" cy="371475"/>
          </a:xfrm>
          <a:prstGeom prst="rect">
            <a:avLst/>
          </a:prstGeom>
          <a:noFill/>
          <a:ln>
            <a:noFill/>
          </a:ln>
        </p:spPr>
        <p:txBody>
          <a:bodyPr anchorCtr="0" anchor="t" bIns="27425" lIns="54850" spcFirstLastPara="1" rIns="54850" wrap="square" tIns="27425">
            <a:noAutofit/>
          </a:bodyPr>
          <a:lstStyle/>
          <a:p>
            <a:pPr indent="0" lvl="0" marL="0" marR="0" rtl="0" algn="l">
              <a:spcBef>
                <a:spcPts val="0"/>
              </a:spcBef>
              <a:spcAft>
                <a:spcPts val="0"/>
              </a:spcAft>
              <a:buNone/>
            </a:pPr>
            <a:r>
              <a:rPr b="1" lang="ja" sz="1900">
                <a:solidFill>
                  <a:srgbClr val="202020"/>
                </a:solidFill>
                <a:latin typeface="Noto Sans JP"/>
                <a:ea typeface="Noto Sans JP"/>
                <a:cs typeface="Noto Sans JP"/>
                <a:sym typeface="Noto Sans JP"/>
              </a:rPr>
              <a:t>To-Be：現場の判断と完了条件</a:t>
            </a:r>
            <a:endParaRPr sz="800"/>
          </a:p>
        </p:txBody>
      </p:sp>
      <p:sp>
        <p:nvSpPr>
          <p:cNvPr id="507" name="Google Shape;507;p32"/>
          <p:cNvSpPr/>
          <p:nvPr/>
        </p:nvSpPr>
        <p:spPr>
          <a:xfrm>
            <a:off x="342900" y="645795"/>
            <a:ext cx="8458200" cy="365760"/>
          </a:xfrm>
          <a:prstGeom prst="rect">
            <a:avLst/>
          </a:prstGeom>
          <a:noFill/>
          <a:ln>
            <a:noFill/>
          </a:ln>
        </p:spPr>
        <p:txBody>
          <a:bodyPr anchorCtr="0" anchor="t" bIns="27425" lIns="54850" spcFirstLastPara="1" rIns="54850" wrap="square" tIns="27425">
            <a:noAutofit/>
          </a:bodyPr>
          <a:lstStyle/>
          <a:p>
            <a:pPr indent="0" lvl="0" marL="0" marR="0" rtl="0" algn="l">
              <a:spcBef>
                <a:spcPts val="0"/>
              </a:spcBef>
              <a:spcAft>
                <a:spcPts val="0"/>
              </a:spcAft>
              <a:buNone/>
            </a:pPr>
            <a:r>
              <a:rPr b="1" lang="ja" sz="1200">
                <a:solidFill>
                  <a:srgbClr val="087EDB"/>
                </a:solidFill>
                <a:latin typeface="Noto Sans JP"/>
                <a:ea typeface="Noto Sans JP"/>
                <a:cs typeface="Noto Sans JP"/>
                <a:sym typeface="Noto Sans JP"/>
              </a:rPr>
              <a:t>「何を達成させるか」「誰から動くか」「どう予測するか」を、それぞれ別の情報で判断する</a:t>
            </a:r>
            <a:endParaRPr sz="800"/>
          </a:p>
        </p:txBody>
      </p:sp>
      <p:sp>
        <p:nvSpPr>
          <p:cNvPr id="508" name="Google Shape;508;p32"/>
          <p:cNvSpPr/>
          <p:nvPr/>
        </p:nvSpPr>
        <p:spPr>
          <a:xfrm>
            <a:off x="342900" y="4886325"/>
            <a:ext cx="8458200" cy="142875"/>
          </a:xfrm>
          <a:prstGeom prst="rect">
            <a:avLst/>
          </a:prstGeom>
          <a:noFill/>
          <a:ln>
            <a:noFill/>
          </a:ln>
        </p:spPr>
        <p:txBody>
          <a:bodyPr anchorCtr="0" anchor="t" bIns="27425" lIns="54850" spcFirstLastPara="1" rIns="54850" wrap="square" tIns="27425">
            <a:noAutofit/>
          </a:bodyPr>
          <a:lstStyle/>
          <a:p>
            <a:pPr indent="0" lvl="0" marL="0" marR="0" rtl="0" algn="l">
              <a:spcBef>
                <a:spcPts val="0"/>
              </a:spcBef>
              <a:spcAft>
                <a:spcPts val="0"/>
              </a:spcAft>
              <a:buNone/>
            </a:pPr>
            <a:r>
              <a:rPr b="0" lang="ja" sz="700">
                <a:solidFill>
                  <a:srgbClr val="777777"/>
                </a:solidFill>
                <a:latin typeface="Noto Sans JP"/>
                <a:ea typeface="Noto Sans JP"/>
                <a:cs typeface="Noto Sans JP"/>
                <a:sym typeface="Noto Sans JP"/>
              </a:rPr>
              <a:t>ONBスコアリング施策 改定提案　　2 / 3</a:t>
            </a:r>
            <a:endParaRPr sz="800"/>
          </a:p>
        </p:txBody>
      </p:sp>
      <p:graphicFrame>
        <p:nvGraphicFramePr>
          <p:cNvPr id="509" name="Google Shape;509;p32"/>
          <p:cNvGraphicFramePr/>
          <p:nvPr/>
        </p:nvGraphicFramePr>
        <p:xfrm>
          <a:off x="342900" y="1114425"/>
          <a:ext cx="3000000" cy="3000000"/>
        </p:xfrm>
        <a:graphic>
          <a:graphicData uri="http://schemas.openxmlformats.org/drawingml/2006/table">
            <a:tbl>
              <a:tblPr>
                <a:noFill/>
                <a:tableStyleId>{4D1902DF-5F7D-472D-8D0B-F0FF43A86CE1}</a:tableStyleId>
              </a:tblPr>
              <a:tblGrid>
                <a:gridCol w="1485900"/>
                <a:gridCol w="3657600"/>
                <a:gridCol w="3314700"/>
              </a:tblGrid>
              <a:tr h="285750">
                <a:tc>
                  <a:txBody>
                    <a:bodyPr/>
                    <a:lstStyle/>
                    <a:p>
                      <a:pPr indent="0" lvl="0" marL="0" marR="0" rtl="0" algn="l">
                        <a:spcBef>
                          <a:spcPts val="0"/>
                        </a:spcBef>
                        <a:spcAft>
                          <a:spcPts val="0"/>
                        </a:spcAft>
                        <a:buClr>
                          <a:srgbClr val="FFFFFF"/>
                        </a:buClr>
                        <a:buSzPts val="1100"/>
                        <a:buFont typeface="Noto Sans JP"/>
                        <a:buNone/>
                      </a:pPr>
                      <a:r>
                        <a:rPr b="1" lang="ja" sz="1100">
                          <a:solidFill>
                            <a:srgbClr val="FFFFFF"/>
                          </a:solidFill>
                          <a:latin typeface="Noto Sans JP"/>
                          <a:ea typeface="Noto Sans JP"/>
                          <a:cs typeface="Noto Sans JP"/>
                          <a:sym typeface="Noto Sans JP"/>
                        </a:rPr>
                        <a:t>役割</a:t>
                      </a:r>
                      <a:endParaRPr sz="800"/>
                    </a:p>
                  </a:txBody>
                  <a:tcPr marT="68575" marB="57150" marR="91450" marL="102875" anchor="ctr">
                    <a:solidFill>
                      <a:srgbClr val="202020"/>
                    </a:solidFill>
                  </a:tcPr>
                </a:tc>
                <a:tc>
                  <a:txBody>
                    <a:bodyPr/>
                    <a:lstStyle/>
                    <a:p>
                      <a:pPr indent="0" lvl="0" marL="0" marR="0" rtl="0" algn="l">
                        <a:spcBef>
                          <a:spcPts val="0"/>
                        </a:spcBef>
                        <a:spcAft>
                          <a:spcPts val="0"/>
                        </a:spcAft>
                        <a:buClr>
                          <a:srgbClr val="FFFFFF"/>
                        </a:buClr>
                        <a:buSzPts val="1100"/>
                        <a:buFont typeface="Noto Sans JP"/>
                        <a:buNone/>
                      </a:pPr>
                      <a:r>
                        <a:rPr b="1" lang="ja" sz="1100">
                          <a:solidFill>
                            <a:srgbClr val="FFFFFF"/>
                          </a:solidFill>
                          <a:latin typeface="Noto Sans JP"/>
                          <a:ea typeface="Noto Sans JP"/>
                          <a:cs typeface="Noto Sans JP"/>
                          <a:sym typeface="Noto Sans JP"/>
                        </a:rPr>
                        <a:t>扱う情報</a:t>
                      </a:r>
                      <a:endParaRPr sz="800"/>
                    </a:p>
                  </a:txBody>
                  <a:tcPr marT="68575" marB="57150" marR="91450" marL="102875" anchor="ctr">
                    <a:solidFill>
                      <a:srgbClr val="202020"/>
                    </a:solidFill>
                  </a:tcPr>
                </a:tc>
                <a:tc>
                  <a:txBody>
                    <a:bodyPr/>
                    <a:lstStyle/>
                    <a:p>
                      <a:pPr indent="0" lvl="0" marL="0" marR="0" rtl="0" algn="l">
                        <a:spcBef>
                          <a:spcPts val="0"/>
                        </a:spcBef>
                        <a:spcAft>
                          <a:spcPts val="0"/>
                        </a:spcAft>
                        <a:buClr>
                          <a:srgbClr val="202020"/>
                        </a:buClr>
                        <a:buSzPts val="1100"/>
                        <a:buFont typeface="Noto Sans JP"/>
                        <a:buNone/>
                      </a:pPr>
                      <a:r>
                        <a:rPr b="1" lang="ja" sz="1100">
                          <a:solidFill>
                            <a:srgbClr val="202020"/>
                          </a:solidFill>
                          <a:latin typeface="Noto Sans JP"/>
                          <a:ea typeface="Noto Sans JP"/>
                          <a:cs typeface="Noto Sans JP"/>
                          <a:sym typeface="Noto Sans JP"/>
                        </a:rPr>
                        <a:t>運用ルール</a:t>
                      </a:r>
                      <a:endParaRPr sz="800"/>
                    </a:p>
                  </a:txBody>
                  <a:tcPr marT="68575" marB="57150" marR="91450" marL="102875" anchor="ctr">
                    <a:solidFill>
                      <a:srgbClr val="FFD900"/>
                    </a:solidFill>
                  </a:tcPr>
                </a:tc>
              </a:tr>
              <a:tr h="571500">
                <a:tc>
                  <a:txBody>
                    <a:bodyPr/>
                    <a:lstStyle/>
                    <a:p>
                      <a:pPr indent="0" lvl="0" marL="0" marR="0" rtl="0" algn="l">
                        <a:spcBef>
                          <a:spcPts val="0"/>
                        </a:spcBef>
                        <a:spcAft>
                          <a:spcPts val="0"/>
                        </a:spcAft>
                        <a:buClr>
                          <a:srgbClr val="202020"/>
                        </a:buClr>
                        <a:buSzPts val="1100"/>
                        <a:buFont typeface="Noto Sans JP"/>
                        <a:buNone/>
                      </a:pPr>
                      <a:r>
                        <a:rPr b="1" lang="ja" sz="1100">
                          <a:solidFill>
                            <a:srgbClr val="202020"/>
                          </a:solidFill>
                          <a:latin typeface="Noto Sans JP"/>
                          <a:ea typeface="Noto Sans JP"/>
                          <a:cs typeface="Noto Sans JP"/>
                          <a:sym typeface="Noto Sans JP"/>
                        </a:rPr>
                        <a:t>星取</a:t>
                      </a:r>
                      <a:endParaRPr sz="800"/>
                    </a:p>
                    <a:p>
                      <a:pPr indent="0" lvl="0" marL="0" marR="0" rtl="0" algn="l">
                        <a:spcBef>
                          <a:spcPts val="0"/>
                        </a:spcBef>
                        <a:spcAft>
                          <a:spcPts val="0"/>
                        </a:spcAft>
                        <a:buClr>
                          <a:srgbClr val="202020"/>
                        </a:buClr>
                        <a:buSzPts val="1100"/>
                        <a:buFont typeface="Noto Sans JP"/>
                        <a:buNone/>
                      </a:pPr>
                      <a:r>
                        <a:rPr b="1" lang="ja" sz="1100">
                          <a:solidFill>
                            <a:srgbClr val="202020"/>
                          </a:solidFill>
                          <a:latin typeface="Noto Sans JP"/>
                          <a:ea typeface="Noto Sans JP"/>
                          <a:cs typeface="Noto Sans JP"/>
                          <a:sym typeface="Noto Sans JP"/>
                        </a:rPr>
                        <a:t>何を達成させるか</a:t>
                      </a:r>
                      <a:endParaRPr sz="800"/>
                    </a:p>
                  </a:txBody>
                  <a:tcPr marT="68575" marB="57150" marR="91450" marL="102875" anchor="ctr">
                    <a:solidFill>
                      <a:srgbClr val="F0F0F0"/>
                    </a:solidFill>
                  </a:tcPr>
                </a:tc>
                <a:tc>
                  <a:txBody>
                    <a:bodyPr/>
                    <a:lstStyle/>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営業が働きかけられる顧客行動</a:t>
                      </a:r>
                      <a:endParaRPr sz="800"/>
                    </a:p>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例：2回目掲載・計画掲載・自走での再掲載</a:t>
                      </a:r>
                      <a:endParaRPr sz="800"/>
                    </a:p>
                  </a:txBody>
                  <a:tcPr marT="68575" marB="57150" marR="91450" marL="102875" anchor="ctr">
                    <a:solidFill>
                      <a:srgbClr val="F8F8F8"/>
                    </a:solidFill>
                  </a:tcPr>
                </a:tc>
                <a:tc>
                  <a:txBody>
                    <a:bodyPr/>
                    <a:lstStyle/>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全対象顧客の達成／未達を計測</a:t>
                      </a:r>
                      <a:endParaRPr sz="800"/>
                    </a:p>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未検証項目は推奨アクションとして扱う</a:t>
                      </a:r>
                      <a:endParaRPr sz="800"/>
                    </a:p>
                  </a:txBody>
                  <a:tcPr marT="68575" marB="57150" marR="91450" marL="102875" anchor="ctr">
                    <a:solidFill>
                      <a:srgbClr val="FFF9E4"/>
                    </a:solidFill>
                  </a:tcPr>
                </a:tc>
              </a:tr>
              <a:tr h="571500">
                <a:tc>
                  <a:txBody>
                    <a:bodyPr/>
                    <a:lstStyle/>
                    <a:p>
                      <a:pPr indent="0" lvl="0" marL="0" marR="0" rtl="0" algn="l">
                        <a:spcBef>
                          <a:spcPts val="0"/>
                        </a:spcBef>
                        <a:spcAft>
                          <a:spcPts val="0"/>
                        </a:spcAft>
                        <a:buClr>
                          <a:srgbClr val="202020"/>
                        </a:buClr>
                        <a:buSzPts val="1100"/>
                        <a:buFont typeface="Noto Sans JP"/>
                        <a:buNone/>
                      </a:pPr>
                      <a:r>
                        <a:rPr b="1" lang="ja" sz="1100">
                          <a:solidFill>
                            <a:srgbClr val="202020"/>
                          </a:solidFill>
                          <a:latin typeface="Noto Sans JP"/>
                          <a:ea typeface="Noto Sans JP"/>
                          <a:cs typeface="Noto Sans JP"/>
                          <a:sym typeface="Noto Sans JP"/>
                        </a:rPr>
                        <a:t>診断情報</a:t>
                      </a:r>
                      <a:endParaRPr sz="800"/>
                    </a:p>
                    <a:p>
                      <a:pPr indent="0" lvl="0" marL="0" marR="0" rtl="0" algn="l">
                        <a:spcBef>
                          <a:spcPts val="0"/>
                        </a:spcBef>
                        <a:spcAft>
                          <a:spcPts val="0"/>
                        </a:spcAft>
                        <a:buClr>
                          <a:srgbClr val="202020"/>
                        </a:buClr>
                        <a:buSzPts val="1100"/>
                        <a:buFont typeface="Noto Sans JP"/>
                        <a:buNone/>
                      </a:pPr>
                      <a:r>
                        <a:rPr b="1" lang="ja" sz="1100">
                          <a:solidFill>
                            <a:srgbClr val="202020"/>
                          </a:solidFill>
                          <a:latin typeface="Noto Sans JP"/>
                          <a:ea typeface="Noto Sans JP"/>
                          <a:cs typeface="Noto Sans JP"/>
                          <a:sym typeface="Noto Sans JP"/>
                        </a:rPr>
                        <a:t>誰から動くか</a:t>
                      </a:r>
                      <a:endParaRPr sz="800"/>
                    </a:p>
                  </a:txBody>
                  <a:tcPr marT="68575" marB="57150" marR="91450" marL="102875" anchor="ctr">
                    <a:solidFill>
                      <a:srgbClr val="F0F0F0"/>
                    </a:solidFill>
                  </a:tcPr>
                </a:tc>
                <a:tc>
                  <a:txBody>
                    <a:bodyPr/>
                    <a:lstStyle/>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既存A〜F掲載ヨミ、星の未達、リスクアラート</a:t>
                      </a:r>
                      <a:endParaRPr sz="800"/>
                    </a:p>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初回掲載時期等は星取・卒業条件から除外</a:t>
                      </a:r>
                      <a:endParaRPr sz="800"/>
                    </a:p>
                  </a:txBody>
                  <a:tcPr marT="68575" marB="57150" marR="91450" marL="102875" anchor="ctr">
                    <a:solidFill>
                      <a:srgbClr val="F8F8F8"/>
                    </a:solidFill>
                  </a:tcPr>
                </a:tc>
                <a:tc>
                  <a:txBody>
                    <a:bodyPr/>
                    <a:lstStyle/>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人的介入の優先順位を判断</a:t>
                      </a:r>
                      <a:endParaRPr sz="800"/>
                    </a:p>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ヨミは入力率と実績との乖離も管理</a:t>
                      </a:r>
                      <a:endParaRPr sz="800"/>
                    </a:p>
                  </a:txBody>
                  <a:tcPr marT="68575" marB="57150" marR="91450" marL="102875" anchor="ctr">
                    <a:solidFill>
                      <a:srgbClr val="FFF9E4"/>
                    </a:solidFill>
                  </a:tcPr>
                </a:tc>
              </a:tr>
              <a:tr h="571500">
                <a:tc>
                  <a:txBody>
                    <a:bodyPr/>
                    <a:lstStyle/>
                    <a:p>
                      <a:pPr indent="0" lvl="0" marL="0" marR="0" rtl="0" algn="l">
                        <a:spcBef>
                          <a:spcPts val="0"/>
                        </a:spcBef>
                        <a:spcAft>
                          <a:spcPts val="0"/>
                        </a:spcAft>
                        <a:buClr>
                          <a:srgbClr val="202020"/>
                        </a:buClr>
                        <a:buSzPts val="1100"/>
                        <a:buFont typeface="Noto Sans JP"/>
                        <a:buNone/>
                      </a:pPr>
                      <a:r>
                        <a:rPr b="1" lang="ja" sz="1100">
                          <a:solidFill>
                            <a:srgbClr val="202020"/>
                          </a:solidFill>
                          <a:latin typeface="Noto Sans JP"/>
                          <a:ea typeface="Noto Sans JP"/>
                          <a:cs typeface="Noto Sans JP"/>
                          <a:sym typeface="Noto Sans JP"/>
                        </a:rPr>
                        <a:t>FCT</a:t>
                      </a:r>
                      <a:endParaRPr sz="800"/>
                    </a:p>
                    <a:p>
                      <a:pPr indent="0" lvl="0" marL="0" marR="0" rtl="0" algn="l">
                        <a:spcBef>
                          <a:spcPts val="0"/>
                        </a:spcBef>
                        <a:spcAft>
                          <a:spcPts val="0"/>
                        </a:spcAft>
                        <a:buClr>
                          <a:srgbClr val="202020"/>
                        </a:buClr>
                        <a:buSzPts val="1100"/>
                        <a:buFont typeface="Noto Sans JP"/>
                        <a:buNone/>
                      </a:pPr>
                      <a:r>
                        <a:rPr b="1" lang="ja" sz="1100">
                          <a:solidFill>
                            <a:srgbClr val="202020"/>
                          </a:solidFill>
                          <a:latin typeface="Noto Sans JP"/>
                          <a:ea typeface="Noto Sans JP"/>
                          <a:cs typeface="Noto Sans JP"/>
                          <a:sym typeface="Noto Sans JP"/>
                        </a:rPr>
                        <a:t>着地をどう予測する</a:t>
                      </a:r>
                      <a:endParaRPr sz="800"/>
                    </a:p>
                  </a:txBody>
                  <a:tcPr marT="68575" marB="57150" marR="91450" marL="102875" anchor="ctr">
                    <a:solidFill>
                      <a:srgbClr val="F0F0F0"/>
                    </a:solidFill>
                  </a:tcPr>
                </a:tc>
                <a:tc>
                  <a:txBody>
                    <a:bodyPr/>
                    <a:lstStyle/>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既存A〜F掲載ヨミベースの翌月継続率予測</a:t>
                      </a:r>
                      <a:endParaRPr sz="800"/>
                    </a:p>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星取ベースの数値は参考値として並走</a:t>
                      </a:r>
                      <a:endParaRPr sz="800"/>
                    </a:p>
                  </a:txBody>
                  <a:tcPr marT="68575" marB="57150" marR="91450" marL="102875" anchor="ctr">
                    <a:solidFill>
                      <a:srgbClr val="F8F8F8"/>
                    </a:solidFill>
                  </a:tcPr>
                </a:tc>
                <a:tc>
                  <a:txBody>
                    <a:bodyPr/>
                    <a:lstStyle/>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10月はヨミベースを正式値として維持</a:t>
                      </a:r>
                      <a:endParaRPr sz="800"/>
                    </a:p>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関係性の検証後に切り替えを判断</a:t>
                      </a:r>
                      <a:endParaRPr sz="800"/>
                    </a:p>
                  </a:txBody>
                  <a:tcPr marT="68575" marB="57150" marR="91450" marL="102875" anchor="ctr">
                    <a:solidFill>
                      <a:srgbClr val="FFF9E4"/>
                    </a:solidFill>
                  </a:tcPr>
                </a:tc>
              </a:tr>
            </a:tbl>
          </a:graphicData>
        </a:graphic>
      </p:graphicFrame>
      <p:sp>
        <p:nvSpPr>
          <p:cNvPr id="510" name="Google Shape;510;p32"/>
          <p:cNvSpPr/>
          <p:nvPr/>
        </p:nvSpPr>
        <p:spPr>
          <a:xfrm>
            <a:off x="342900" y="3286125"/>
            <a:ext cx="8458200" cy="228600"/>
          </a:xfrm>
          <a:prstGeom prst="rect">
            <a:avLst/>
          </a:prstGeom>
          <a:noFill/>
          <a:ln>
            <a:noFill/>
          </a:ln>
        </p:spPr>
        <p:txBody>
          <a:bodyPr anchorCtr="0" anchor="t" bIns="27425" lIns="54850" spcFirstLastPara="1" rIns="54850" wrap="square" tIns="27425">
            <a:noAutofit/>
          </a:bodyPr>
          <a:lstStyle/>
          <a:p>
            <a:pPr indent="0" lvl="0" marL="0" marR="0" rtl="0" algn="l">
              <a:spcBef>
                <a:spcPts val="0"/>
              </a:spcBef>
              <a:spcAft>
                <a:spcPts val="0"/>
              </a:spcAft>
              <a:buNone/>
            </a:pPr>
            <a:r>
              <a:rPr b="1" lang="ja" sz="1300">
                <a:solidFill>
                  <a:srgbClr val="202020"/>
                </a:solidFill>
                <a:latin typeface="Noto Sans JP"/>
                <a:ea typeface="Noto Sans JP"/>
                <a:cs typeface="Noto Sans JP"/>
                <a:sym typeface="Noto Sans JP"/>
              </a:rPr>
              <a:t>標準アクションの具体例：計画掲載が未達の場合</a:t>
            </a:r>
            <a:endParaRPr sz="800"/>
          </a:p>
        </p:txBody>
      </p:sp>
      <p:graphicFrame>
        <p:nvGraphicFramePr>
          <p:cNvPr id="511" name="Google Shape;511;p32"/>
          <p:cNvGraphicFramePr/>
          <p:nvPr/>
        </p:nvGraphicFramePr>
        <p:xfrm>
          <a:off x="342900" y="3611880"/>
          <a:ext cx="3000000" cy="3000000"/>
        </p:xfrm>
        <a:graphic>
          <a:graphicData uri="http://schemas.openxmlformats.org/drawingml/2006/table">
            <a:tbl>
              <a:tblPr>
                <a:noFill/>
                <a:tableStyleId>{4D1902DF-5F7D-472D-8D0B-F0FF43A86CE1}</a:tableStyleId>
              </a:tblPr>
              <a:tblGrid>
                <a:gridCol w="2343150"/>
                <a:gridCol w="3086100"/>
                <a:gridCol w="3028950"/>
              </a:tblGrid>
              <a:tr h="274300">
                <a:tc>
                  <a:txBody>
                    <a:bodyPr/>
                    <a:lstStyle/>
                    <a:p>
                      <a:pPr indent="0" lvl="0" marL="0" marR="0" rtl="0" algn="l">
                        <a:spcBef>
                          <a:spcPts val="0"/>
                        </a:spcBef>
                        <a:spcAft>
                          <a:spcPts val="0"/>
                        </a:spcAft>
                        <a:buClr>
                          <a:srgbClr val="FFFFFF"/>
                        </a:buClr>
                        <a:buSzPts val="1100"/>
                        <a:buFont typeface="Noto Sans JP"/>
                        <a:buNone/>
                      </a:pPr>
                      <a:r>
                        <a:rPr b="1" lang="ja" sz="1100">
                          <a:solidFill>
                            <a:srgbClr val="FFFFFF"/>
                          </a:solidFill>
                          <a:latin typeface="Noto Sans JP"/>
                          <a:ea typeface="Noto Sans JP"/>
                          <a:cs typeface="Noto Sans JP"/>
                          <a:sym typeface="Noto Sans JP"/>
                        </a:rPr>
                        <a:t>実現したい状態</a:t>
                      </a:r>
                      <a:endParaRPr sz="800"/>
                    </a:p>
                  </a:txBody>
                  <a:tcPr marT="68575" marB="57150" marR="91450" marL="102875" anchor="ctr">
                    <a:solidFill>
                      <a:srgbClr val="202020"/>
                    </a:solidFill>
                  </a:tcPr>
                </a:tc>
                <a:tc>
                  <a:txBody>
                    <a:bodyPr/>
                    <a:lstStyle/>
                    <a:p>
                      <a:pPr indent="0" lvl="0" marL="0" marR="0" rtl="0" algn="l">
                        <a:spcBef>
                          <a:spcPts val="0"/>
                        </a:spcBef>
                        <a:spcAft>
                          <a:spcPts val="0"/>
                        </a:spcAft>
                        <a:buClr>
                          <a:srgbClr val="FFFFFF"/>
                        </a:buClr>
                        <a:buSzPts val="1100"/>
                        <a:buFont typeface="Noto Sans JP"/>
                        <a:buNone/>
                      </a:pPr>
                      <a:r>
                        <a:rPr b="1" lang="ja" sz="1100">
                          <a:solidFill>
                            <a:srgbClr val="FFFFFF"/>
                          </a:solidFill>
                          <a:latin typeface="Noto Sans JP"/>
                          <a:ea typeface="Noto Sans JP"/>
                          <a:cs typeface="Noto Sans JP"/>
                          <a:sym typeface="Noto Sans JP"/>
                        </a:rPr>
                        <a:t>営業の標準アクション（案）</a:t>
                      </a:r>
                      <a:endParaRPr sz="800"/>
                    </a:p>
                  </a:txBody>
                  <a:tcPr marT="68575" marB="57150" marR="91450" marL="102875" anchor="ctr">
                    <a:solidFill>
                      <a:srgbClr val="202020"/>
                    </a:solidFill>
                  </a:tcPr>
                </a:tc>
                <a:tc>
                  <a:txBody>
                    <a:bodyPr/>
                    <a:lstStyle/>
                    <a:p>
                      <a:pPr indent="0" lvl="0" marL="0" marR="0" rtl="0" algn="l">
                        <a:spcBef>
                          <a:spcPts val="0"/>
                        </a:spcBef>
                        <a:spcAft>
                          <a:spcPts val="0"/>
                        </a:spcAft>
                        <a:buClr>
                          <a:srgbClr val="202020"/>
                        </a:buClr>
                        <a:buSzPts val="1100"/>
                        <a:buFont typeface="Noto Sans JP"/>
                        <a:buNone/>
                      </a:pPr>
                      <a:r>
                        <a:rPr b="1" lang="ja" sz="1100">
                          <a:solidFill>
                            <a:srgbClr val="202020"/>
                          </a:solidFill>
                          <a:latin typeface="Noto Sans JP"/>
                          <a:ea typeface="Noto Sans JP"/>
                          <a:cs typeface="Noto Sans JP"/>
                          <a:sym typeface="Noto Sans JP"/>
                        </a:rPr>
                        <a:t>顧客行動で判定する完了条件</a:t>
                      </a:r>
                      <a:endParaRPr sz="800"/>
                    </a:p>
                  </a:txBody>
                  <a:tcPr marT="68575" marB="57150" marR="91450" marL="102875" anchor="ctr">
                    <a:solidFill>
                      <a:srgbClr val="FFD900"/>
                    </a:solidFill>
                  </a:tcPr>
                </a:tc>
              </a:tr>
              <a:tr h="542925">
                <a:tc>
                  <a:txBody>
                    <a:bodyPr/>
                    <a:lstStyle/>
                    <a:p>
                      <a:pPr indent="0" lvl="0" marL="0" marR="0" rtl="0" algn="l">
                        <a:spcBef>
                          <a:spcPts val="0"/>
                        </a:spcBef>
                        <a:spcAft>
                          <a:spcPts val="0"/>
                        </a:spcAft>
                        <a:buClr>
                          <a:srgbClr val="202020"/>
                        </a:buClr>
                        <a:buSzPts val="1100"/>
                        <a:buFont typeface="Noto Sans JP"/>
                        <a:buNone/>
                      </a:pPr>
                      <a:r>
                        <a:rPr b="1" lang="ja" sz="1100">
                          <a:solidFill>
                            <a:srgbClr val="202020"/>
                          </a:solidFill>
                          <a:latin typeface="Noto Sans JP"/>
                          <a:ea typeface="Noto Sans JP"/>
                          <a:cs typeface="Noto Sans JP"/>
                          <a:sym typeface="Noto Sans JP"/>
                        </a:rPr>
                        <a:t>次回の募集が公開されている</a:t>
                      </a:r>
                      <a:endParaRPr sz="800"/>
                    </a:p>
                  </a:txBody>
                  <a:tcPr marT="68575" marB="57150" marR="91450" marL="102875" anchor="ctr">
                    <a:solidFill>
                      <a:srgbClr val="F0F0F0"/>
                    </a:solidFill>
                  </a:tcPr>
                </a:tc>
                <a:tc>
                  <a:txBody>
                    <a:bodyPr/>
                    <a:lstStyle/>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次回需要を確認し、募集作成を支援</a:t>
                      </a:r>
                      <a:endParaRPr sz="800"/>
                    </a:p>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未実行時は障害を確認して再提案</a:t>
                      </a:r>
                      <a:endParaRPr sz="800"/>
                    </a:p>
                  </a:txBody>
                  <a:tcPr marT="68575" marB="57150" marR="91450" marL="102875" anchor="ctr">
                    <a:solidFill>
                      <a:srgbClr val="F8F8F8"/>
                    </a:solidFill>
                  </a:tcPr>
                </a:tc>
                <a:tc>
                  <a:txBody>
                    <a:bodyPr/>
                    <a:lstStyle/>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顧客が将来日付の募集を公開</a:t>
                      </a:r>
                      <a:endParaRPr sz="800"/>
                    </a:p>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「次回募集日を確認した」だけでは未完了</a:t>
                      </a:r>
                      <a:endParaRPr sz="800"/>
                    </a:p>
                  </a:txBody>
                  <a:tcPr marT="68575" marB="57150" marR="91450" marL="102875" anchor="ctr">
                    <a:solidFill>
                      <a:srgbClr val="FFF9E4"/>
                    </a:solidFill>
                  </a:tcPr>
                </a:tc>
              </a:tr>
            </a:tbl>
          </a:graphicData>
        </a:graphic>
      </p:graphicFrame>
      <p:sp>
        <p:nvSpPr>
          <p:cNvPr id="512" name="Google Shape;512;p32"/>
          <p:cNvSpPr/>
          <p:nvPr/>
        </p:nvSpPr>
        <p:spPr>
          <a:xfrm>
            <a:off x="342900" y="4531995"/>
            <a:ext cx="8458200" cy="331470"/>
          </a:xfrm>
          <a:prstGeom prst="rect">
            <a:avLst/>
          </a:prstGeom>
          <a:noFill/>
          <a:ln>
            <a:noFill/>
          </a:ln>
        </p:spPr>
        <p:txBody>
          <a:bodyPr anchorCtr="0" anchor="t" bIns="27425" lIns="54850" spcFirstLastPara="1" rIns="54850" wrap="square" tIns="27425">
            <a:noAutofit/>
          </a:bodyPr>
          <a:lstStyle/>
          <a:p>
            <a:pPr indent="0" lvl="0" marL="0" marR="0" rtl="0" algn="l">
              <a:spcBef>
                <a:spcPts val="0"/>
              </a:spcBef>
              <a:spcAft>
                <a:spcPts val="0"/>
              </a:spcAft>
              <a:buNone/>
            </a:pPr>
            <a:r>
              <a:rPr b="0" lang="ja" sz="900">
                <a:solidFill>
                  <a:srgbClr val="202020"/>
                </a:solidFill>
                <a:latin typeface="Noto Sans JP"/>
                <a:ea typeface="Noto Sans JP"/>
                <a:cs typeface="Noto Sans JP"/>
                <a:sym typeface="Noto Sans JP"/>
              </a:rPr>
              <a:t>各星に「未実行時の次のアクション」「期限」「メール・送付物で代替する範囲」も設定する。</a:t>
            </a:r>
            <a:endParaRPr sz="800"/>
          </a:p>
          <a:p>
            <a:pPr indent="0" lvl="0" marL="0" marR="0" rtl="0" algn="l">
              <a:spcBef>
                <a:spcPts val="0"/>
              </a:spcBef>
              <a:spcAft>
                <a:spcPts val="0"/>
              </a:spcAft>
              <a:buNone/>
            </a:pPr>
            <a:r>
              <a:rPr b="0" lang="ja" sz="900">
                <a:solidFill>
                  <a:srgbClr val="202020"/>
                </a:solidFill>
                <a:latin typeface="Noto Sans JP"/>
                <a:ea typeface="Noto Sans JP"/>
                <a:cs typeface="Noto Sans JP"/>
                <a:sym typeface="Noto Sans JP"/>
              </a:rPr>
              <a:t>全顧客を計測し、人的介入は絞り込む。対象人数・必要接触回数・対応可能数は別途設計する。</a:t>
            </a:r>
            <a:endParaRPr sz="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7" name="Shape 517"/>
        <p:cNvGrpSpPr/>
        <p:nvPr/>
      </p:nvGrpSpPr>
      <p:grpSpPr>
        <a:xfrm>
          <a:off x="0" y="0"/>
          <a:ext cx="0" cy="0"/>
          <a:chOff x="0" y="0"/>
          <a:chExt cx="0" cy="0"/>
        </a:xfrm>
      </p:grpSpPr>
      <p:sp>
        <p:nvSpPr>
          <p:cNvPr id="518" name="Google Shape;518;p33"/>
          <p:cNvSpPr/>
          <p:nvPr/>
        </p:nvSpPr>
        <p:spPr>
          <a:xfrm>
            <a:off x="342900" y="200025"/>
            <a:ext cx="8458200" cy="371475"/>
          </a:xfrm>
          <a:prstGeom prst="rect">
            <a:avLst/>
          </a:prstGeom>
          <a:noFill/>
          <a:ln>
            <a:noFill/>
          </a:ln>
        </p:spPr>
        <p:txBody>
          <a:bodyPr anchorCtr="0" anchor="t" bIns="27425" lIns="54850" spcFirstLastPara="1" rIns="54850" wrap="square" tIns="27425">
            <a:noAutofit/>
          </a:bodyPr>
          <a:lstStyle/>
          <a:p>
            <a:pPr indent="0" lvl="0" marL="0" marR="0" rtl="0" algn="l">
              <a:spcBef>
                <a:spcPts val="0"/>
              </a:spcBef>
              <a:spcAft>
                <a:spcPts val="0"/>
              </a:spcAft>
              <a:buNone/>
            </a:pPr>
            <a:r>
              <a:rPr b="1" lang="ja" sz="1900">
                <a:solidFill>
                  <a:srgbClr val="202020"/>
                </a:solidFill>
                <a:latin typeface="Noto Sans JP"/>
                <a:ea typeface="Noto Sans JP"/>
                <a:cs typeface="Noto Sans JP"/>
                <a:sym typeface="Noto Sans JP"/>
              </a:rPr>
              <a:t>10月PoCの検証計画と判断事項</a:t>
            </a:r>
            <a:endParaRPr sz="800"/>
          </a:p>
        </p:txBody>
      </p:sp>
      <p:sp>
        <p:nvSpPr>
          <p:cNvPr id="519" name="Google Shape;519;p33"/>
          <p:cNvSpPr/>
          <p:nvPr/>
        </p:nvSpPr>
        <p:spPr>
          <a:xfrm>
            <a:off x="342900" y="645795"/>
            <a:ext cx="8458200" cy="365760"/>
          </a:xfrm>
          <a:prstGeom prst="rect">
            <a:avLst/>
          </a:prstGeom>
          <a:noFill/>
          <a:ln>
            <a:noFill/>
          </a:ln>
        </p:spPr>
        <p:txBody>
          <a:bodyPr anchorCtr="0" anchor="t" bIns="27425" lIns="54850" spcFirstLastPara="1" rIns="54850" wrap="square" tIns="27425">
            <a:noAutofit/>
          </a:bodyPr>
          <a:lstStyle/>
          <a:p>
            <a:pPr indent="0" lvl="0" marL="0" marR="0" rtl="0" algn="l">
              <a:spcBef>
                <a:spcPts val="0"/>
              </a:spcBef>
              <a:spcAft>
                <a:spcPts val="0"/>
              </a:spcAft>
              <a:buNone/>
            </a:pPr>
            <a:r>
              <a:rPr b="1" lang="ja" sz="1200">
                <a:solidFill>
                  <a:srgbClr val="087EDB"/>
                </a:solidFill>
                <a:latin typeface="Noto Sans JP"/>
                <a:ea typeface="Noto Sans JP"/>
                <a:cs typeface="Noto Sans JP"/>
                <a:sym typeface="Noto Sans JP"/>
              </a:rPr>
              <a:t>10月に運用を検証し、11月中旬以降の翌月継続率を照合して、星取項目・卒業条件を判断する</a:t>
            </a:r>
            <a:endParaRPr sz="800"/>
          </a:p>
        </p:txBody>
      </p:sp>
      <p:sp>
        <p:nvSpPr>
          <p:cNvPr id="520" name="Google Shape;520;p33"/>
          <p:cNvSpPr/>
          <p:nvPr/>
        </p:nvSpPr>
        <p:spPr>
          <a:xfrm>
            <a:off x="342900" y="4886325"/>
            <a:ext cx="8458200" cy="142875"/>
          </a:xfrm>
          <a:prstGeom prst="rect">
            <a:avLst/>
          </a:prstGeom>
          <a:noFill/>
          <a:ln>
            <a:noFill/>
          </a:ln>
        </p:spPr>
        <p:txBody>
          <a:bodyPr anchorCtr="0" anchor="t" bIns="27425" lIns="54850" spcFirstLastPara="1" rIns="54850" wrap="square" tIns="27425">
            <a:noAutofit/>
          </a:bodyPr>
          <a:lstStyle/>
          <a:p>
            <a:pPr indent="0" lvl="0" marL="0" marR="0" rtl="0" algn="l">
              <a:spcBef>
                <a:spcPts val="0"/>
              </a:spcBef>
              <a:spcAft>
                <a:spcPts val="0"/>
              </a:spcAft>
              <a:buNone/>
            </a:pPr>
            <a:r>
              <a:rPr b="0" lang="ja" sz="700">
                <a:solidFill>
                  <a:srgbClr val="777777"/>
                </a:solidFill>
                <a:latin typeface="Noto Sans JP"/>
                <a:ea typeface="Noto Sans JP"/>
                <a:cs typeface="Noto Sans JP"/>
                <a:sym typeface="Noto Sans JP"/>
              </a:rPr>
              <a:t>ONBスコアリング施策 改定提案　　3 / 3</a:t>
            </a:r>
            <a:endParaRPr sz="800"/>
          </a:p>
        </p:txBody>
      </p:sp>
      <p:graphicFrame>
        <p:nvGraphicFramePr>
          <p:cNvPr id="521" name="Google Shape;521;p33"/>
          <p:cNvGraphicFramePr/>
          <p:nvPr/>
        </p:nvGraphicFramePr>
        <p:xfrm>
          <a:off x="342900" y="1114425"/>
          <a:ext cx="3000000" cy="3000000"/>
        </p:xfrm>
        <a:graphic>
          <a:graphicData uri="http://schemas.openxmlformats.org/drawingml/2006/table">
            <a:tbl>
              <a:tblPr>
                <a:noFill/>
                <a:tableStyleId>{4D1902DF-5F7D-472D-8D0B-F0FF43A86CE1}</a:tableStyleId>
              </a:tblPr>
              <a:tblGrid>
                <a:gridCol w="4229100"/>
                <a:gridCol w="4229100"/>
              </a:tblGrid>
              <a:tr h="285750">
                <a:tc>
                  <a:txBody>
                    <a:bodyPr/>
                    <a:lstStyle/>
                    <a:p>
                      <a:pPr indent="0" lvl="0" marL="0" marR="0" rtl="0" algn="l">
                        <a:spcBef>
                          <a:spcPts val="0"/>
                        </a:spcBef>
                        <a:spcAft>
                          <a:spcPts val="0"/>
                        </a:spcAft>
                        <a:buClr>
                          <a:srgbClr val="FFFFFF"/>
                        </a:buClr>
                        <a:buSzPts val="1100"/>
                        <a:buFont typeface="Noto Sans JP"/>
                        <a:buNone/>
                      </a:pPr>
                      <a:r>
                        <a:rPr b="1" lang="ja" sz="1100">
                          <a:solidFill>
                            <a:srgbClr val="FFFFFF"/>
                          </a:solidFill>
                          <a:latin typeface="Noto Sans JP"/>
                          <a:ea typeface="Noto Sans JP"/>
                          <a:cs typeface="Noto Sans JP"/>
                          <a:sym typeface="Noto Sans JP"/>
                        </a:rPr>
                        <a:t>10月｜運用と項目の検証</a:t>
                      </a:r>
                      <a:endParaRPr sz="800"/>
                    </a:p>
                  </a:txBody>
                  <a:tcPr marT="68575" marB="57150" marR="91450" marL="102875" anchor="ctr">
                    <a:solidFill>
                      <a:srgbClr val="202020"/>
                    </a:solidFill>
                  </a:tcPr>
                </a:tc>
                <a:tc>
                  <a:txBody>
                    <a:bodyPr/>
                    <a:lstStyle/>
                    <a:p>
                      <a:pPr indent="0" lvl="0" marL="0" marR="0" rtl="0" algn="l">
                        <a:spcBef>
                          <a:spcPts val="0"/>
                        </a:spcBef>
                        <a:spcAft>
                          <a:spcPts val="0"/>
                        </a:spcAft>
                        <a:buClr>
                          <a:srgbClr val="202020"/>
                        </a:buClr>
                        <a:buSzPts val="1100"/>
                        <a:buFont typeface="Noto Sans JP"/>
                        <a:buNone/>
                      </a:pPr>
                      <a:r>
                        <a:rPr b="1" lang="ja" sz="1100">
                          <a:solidFill>
                            <a:srgbClr val="202020"/>
                          </a:solidFill>
                          <a:latin typeface="Noto Sans JP"/>
                          <a:ea typeface="Noto Sans JP"/>
                          <a:cs typeface="Noto Sans JP"/>
                          <a:sym typeface="Noto Sans JP"/>
                        </a:rPr>
                        <a:t>11月中旬以降｜継続実績との照合</a:t>
                      </a:r>
                      <a:endParaRPr sz="800"/>
                    </a:p>
                  </a:txBody>
                  <a:tcPr marT="68575" marB="57150" marR="91450" marL="102875" anchor="ctr">
                    <a:solidFill>
                      <a:srgbClr val="FFD900"/>
                    </a:solidFill>
                  </a:tcPr>
                </a:tc>
              </a:tr>
              <a:tr h="714375">
                <a:tc>
                  <a:txBody>
                    <a:bodyPr/>
                    <a:lstStyle/>
                    <a:p>
                      <a:pPr indent="0" lvl="0" marL="0" marR="0" rtl="0" algn="l">
                        <a:spcBef>
                          <a:spcPts val="0"/>
                        </a:spcBef>
                        <a:spcAft>
                          <a:spcPts val="0"/>
                        </a:spcAft>
                        <a:buClr>
                          <a:srgbClr val="202020"/>
                        </a:buClr>
                        <a:buSzPts val="1100"/>
                        <a:buFont typeface="Noto Sans JP"/>
                        <a:buNone/>
                      </a:pPr>
                      <a:r>
                        <a:rPr b="1" lang="ja" sz="1100">
                          <a:solidFill>
                            <a:srgbClr val="202020"/>
                          </a:solidFill>
                          <a:latin typeface="Noto Sans JP"/>
                          <a:ea typeface="Noto Sans JP"/>
                          <a:cs typeface="Noto Sans JP"/>
                          <a:sym typeface="Noto Sans JP"/>
                        </a:rPr>
                        <a:t>候補を分類し、各星の標準アクション・完了条件を設定</a:t>
                      </a:r>
                      <a:endParaRPr sz="800"/>
                    </a:p>
                    <a:p>
                      <a:pPr indent="0" lvl="0" marL="0" marR="0" rtl="0" algn="l">
                        <a:spcBef>
                          <a:spcPts val="0"/>
                        </a:spcBef>
                        <a:spcAft>
                          <a:spcPts val="0"/>
                        </a:spcAft>
                        <a:buClr>
                          <a:srgbClr val="202020"/>
                        </a:buClr>
                        <a:buSzPts val="1100"/>
                        <a:buFont typeface="Noto Sans JP"/>
                        <a:buNone/>
                      </a:pPr>
                      <a:r>
                        <a:rPr b="1" lang="ja" sz="1100">
                          <a:solidFill>
                            <a:srgbClr val="202020"/>
                          </a:solidFill>
                          <a:latin typeface="Noto Sans JP"/>
                          <a:ea typeface="Noto Sans JP"/>
                          <a:cs typeface="Noto Sans JP"/>
                          <a:sym typeface="Noto Sans JP"/>
                        </a:rPr>
                        <a:t>過去実績（8月以前）から達成数別TGTを算出</a:t>
                      </a:r>
                      <a:endParaRPr sz="800"/>
                    </a:p>
                    <a:p>
                      <a:pPr indent="0" lvl="0" marL="0" marR="0" rtl="0" algn="l">
                        <a:spcBef>
                          <a:spcPts val="0"/>
                        </a:spcBef>
                        <a:spcAft>
                          <a:spcPts val="0"/>
                        </a:spcAft>
                        <a:buClr>
                          <a:srgbClr val="202020"/>
                        </a:buClr>
                        <a:buSzPts val="1100"/>
                        <a:buFont typeface="Noto Sans JP"/>
                        <a:buNone/>
                      </a:pPr>
                      <a:r>
                        <a:rPr b="1" lang="ja" sz="1100">
                          <a:solidFill>
                            <a:srgbClr val="202020"/>
                          </a:solidFill>
                          <a:latin typeface="Noto Sans JP"/>
                          <a:ea typeface="Noto Sans JP"/>
                          <a:cs typeface="Noto Sans JP"/>
                          <a:sym typeface="Noto Sans JP"/>
                        </a:rPr>
                        <a:t>実行率・星の達成状況・アクション後の顧客行動を確認</a:t>
                      </a:r>
                      <a:endParaRPr sz="800"/>
                    </a:p>
                  </a:txBody>
                  <a:tcPr marT="68575" marB="57150" marR="91450" marL="102875" anchor="ctr">
                    <a:solidFill>
                      <a:srgbClr val="F0F0F0"/>
                    </a:solidFill>
                  </a:tcPr>
                </a:tc>
                <a:tc>
                  <a:txBody>
                    <a:bodyPr/>
                    <a:lstStyle/>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各項目／達成数と翌月継続率の関係を評価</a:t>
                      </a:r>
                      <a:endParaRPr sz="800"/>
                    </a:p>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正式な星取項目・卒業の必要達成数・必須項目を判断</a:t>
                      </a:r>
                      <a:endParaRPr sz="800"/>
                    </a:p>
                    <a:p>
                      <a:pPr indent="0" lvl="0" marL="0" marR="0" rtl="0" algn="l">
                        <a:spcBef>
                          <a:spcPts val="0"/>
                        </a:spcBef>
                        <a:spcAft>
                          <a:spcPts val="0"/>
                        </a:spcAft>
                        <a:buClr>
                          <a:srgbClr val="202020"/>
                        </a:buClr>
                        <a:buSzPts val="1100"/>
                        <a:buFont typeface="Noto Sans JP"/>
                        <a:buNone/>
                      </a:pPr>
                      <a:r>
                        <a:rPr b="0" lang="ja" sz="1100">
                          <a:solidFill>
                            <a:srgbClr val="202020"/>
                          </a:solidFill>
                          <a:latin typeface="Noto Sans JP"/>
                          <a:ea typeface="Noto Sans JP"/>
                          <a:cs typeface="Noto Sans JP"/>
                          <a:sym typeface="Noto Sans JP"/>
                        </a:rPr>
                        <a:t>「8項目中6項目で卒業」は仮置き。10月は正式採用しない</a:t>
                      </a:r>
                      <a:endParaRPr sz="800"/>
                    </a:p>
                  </a:txBody>
                  <a:tcPr marT="68575" marB="57150" marR="91450" marL="102875" anchor="ctr">
                    <a:solidFill>
                      <a:srgbClr val="FFF9E4"/>
                    </a:solidFill>
                  </a:tcPr>
                </a:tc>
              </a:tr>
            </a:tbl>
          </a:graphicData>
        </a:graphic>
      </p:graphicFrame>
      <p:sp>
        <p:nvSpPr>
          <p:cNvPr id="522" name="Google Shape;522;p33"/>
          <p:cNvSpPr/>
          <p:nvPr/>
        </p:nvSpPr>
        <p:spPr>
          <a:xfrm>
            <a:off x="342900" y="2268855"/>
            <a:ext cx="8458200" cy="228600"/>
          </a:xfrm>
          <a:prstGeom prst="rect">
            <a:avLst/>
          </a:prstGeom>
          <a:noFill/>
          <a:ln>
            <a:noFill/>
          </a:ln>
        </p:spPr>
        <p:txBody>
          <a:bodyPr anchorCtr="0" anchor="t" bIns="27425" lIns="54850" spcFirstLastPara="1" rIns="54850" wrap="square" tIns="27425">
            <a:noAutofit/>
          </a:bodyPr>
          <a:lstStyle/>
          <a:p>
            <a:pPr indent="0" lvl="0" marL="0" marR="0" rtl="0" algn="l">
              <a:spcBef>
                <a:spcPts val="0"/>
              </a:spcBef>
              <a:spcAft>
                <a:spcPts val="0"/>
              </a:spcAft>
              <a:buNone/>
            </a:pPr>
            <a:r>
              <a:rPr b="1" lang="ja" sz="1300">
                <a:solidFill>
                  <a:srgbClr val="202020"/>
                </a:solidFill>
                <a:latin typeface="Noto Sans JP"/>
                <a:ea typeface="Noto Sans JP"/>
                <a:cs typeface="Noto Sans JP"/>
                <a:sym typeface="Noto Sans JP"/>
              </a:rPr>
              <a:t>上位層のモニタリング</a:t>
            </a:r>
            <a:endParaRPr sz="800"/>
          </a:p>
        </p:txBody>
      </p:sp>
      <p:sp>
        <p:nvSpPr>
          <p:cNvPr id="523" name="Google Shape;523;p33"/>
          <p:cNvSpPr/>
          <p:nvPr/>
        </p:nvSpPr>
        <p:spPr>
          <a:xfrm>
            <a:off x="342900" y="2566035"/>
            <a:ext cx="8458200" cy="691515"/>
          </a:xfrm>
          <a:prstGeom prst="rect">
            <a:avLst/>
          </a:prstGeom>
          <a:noFill/>
          <a:ln>
            <a:noFill/>
          </a:ln>
        </p:spPr>
        <p:txBody>
          <a:bodyPr anchorCtr="0" anchor="t" bIns="27425" lIns="54850" spcFirstLastPara="1" rIns="54850" wrap="square" tIns="27425">
            <a:noAutofit/>
          </a:bodyPr>
          <a:lstStyle/>
          <a:p>
            <a:pPr indent="0" lvl="0" marL="0" marR="0" rtl="0" algn="l">
              <a:spcBef>
                <a:spcPts val="0"/>
              </a:spcBef>
              <a:spcAft>
                <a:spcPts val="0"/>
              </a:spcAft>
              <a:buNone/>
            </a:pPr>
            <a:r>
              <a:rPr b="0" lang="ja" sz="1100">
                <a:solidFill>
                  <a:srgbClr val="202020"/>
                </a:solidFill>
                <a:latin typeface="Noto Sans JP"/>
                <a:ea typeface="Noto Sans JP"/>
                <a:cs typeface="Noto Sans JP"/>
                <a:sym typeface="Noto Sans JP"/>
              </a:rPr>
              <a:t>実行・状態　各星の達成率／標準アクションの期限内実行率／アクション後の顧客行動率</a:t>
            </a:r>
            <a:endParaRPr sz="800"/>
          </a:p>
          <a:p>
            <a:pPr indent="0" lvl="0" marL="0" marR="0" rtl="0" algn="l">
              <a:spcBef>
                <a:spcPts val="0"/>
              </a:spcBef>
              <a:spcAft>
                <a:spcPts val="0"/>
              </a:spcAft>
              <a:buNone/>
            </a:pPr>
            <a:r>
              <a:rPr b="0" lang="ja" sz="1100">
                <a:solidFill>
                  <a:srgbClr val="202020"/>
                </a:solidFill>
                <a:latin typeface="Noto Sans JP"/>
                <a:ea typeface="Noto Sans JP"/>
                <a:cs typeface="Noto Sans JP"/>
                <a:sym typeface="Noto Sans JP"/>
              </a:rPr>
              <a:t>成果　　　　達成数別の翌月継続率（TGT・ACT・GAP・Win%）／人的介入あり・なしの継続率</a:t>
            </a:r>
            <a:endParaRPr sz="800"/>
          </a:p>
          <a:p>
            <a:pPr indent="0" lvl="0" marL="0" marR="0" rtl="0" algn="l">
              <a:spcBef>
                <a:spcPts val="0"/>
              </a:spcBef>
              <a:spcAft>
                <a:spcPts val="0"/>
              </a:spcAft>
              <a:buNone/>
            </a:pPr>
            <a:r>
              <a:rPr b="0" lang="ja" sz="1100">
                <a:solidFill>
                  <a:srgbClr val="202020"/>
                </a:solidFill>
                <a:latin typeface="Noto Sans JP"/>
                <a:ea typeface="Noto Sans JP"/>
                <a:cs typeface="Noto Sans JP"/>
                <a:sym typeface="Noto Sans JP"/>
              </a:rPr>
              <a:t>予測品質　　A〜F掲載ヨミのFCT／ヨミ付け実施率／ヨミ別実績・担当者別構成・予測との乖離</a:t>
            </a:r>
            <a:endParaRPr sz="800"/>
          </a:p>
        </p:txBody>
      </p:sp>
      <p:sp>
        <p:nvSpPr>
          <p:cNvPr id="524" name="Google Shape;524;p33"/>
          <p:cNvSpPr/>
          <p:nvPr/>
        </p:nvSpPr>
        <p:spPr>
          <a:xfrm>
            <a:off x="342900" y="3354705"/>
            <a:ext cx="8458200" cy="228600"/>
          </a:xfrm>
          <a:prstGeom prst="rect">
            <a:avLst/>
          </a:prstGeom>
          <a:noFill/>
          <a:ln>
            <a:noFill/>
          </a:ln>
        </p:spPr>
        <p:txBody>
          <a:bodyPr anchorCtr="0" anchor="t" bIns="27425" lIns="54850" spcFirstLastPara="1" rIns="54850" wrap="square" tIns="27425">
            <a:noAutofit/>
          </a:bodyPr>
          <a:lstStyle/>
          <a:p>
            <a:pPr indent="0" lvl="0" marL="0" marR="0" rtl="0" algn="l">
              <a:spcBef>
                <a:spcPts val="0"/>
              </a:spcBef>
              <a:spcAft>
                <a:spcPts val="0"/>
              </a:spcAft>
              <a:buNone/>
            </a:pPr>
            <a:r>
              <a:rPr b="1" lang="ja" sz="1300">
                <a:solidFill>
                  <a:srgbClr val="202020"/>
                </a:solidFill>
                <a:latin typeface="Noto Sans JP"/>
                <a:ea typeface="Noto Sans JP"/>
                <a:cs typeface="Noto Sans JP"/>
                <a:sym typeface="Noto Sans JP"/>
              </a:rPr>
              <a:t>今回の判断依頼（提案）</a:t>
            </a:r>
            <a:endParaRPr sz="800"/>
          </a:p>
        </p:txBody>
      </p:sp>
      <p:sp>
        <p:nvSpPr>
          <p:cNvPr id="525" name="Google Shape;525;p33"/>
          <p:cNvSpPr/>
          <p:nvPr/>
        </p:nvSpPr>
        <p:spPr>
          <a:xfrm>
            <a:off x="342900" y="3646170"/>
            <a:ext cx="8458200" cy="845820"/>
          </a:xfrm>
          <a:prstGeom prst="rect">
            <a:avLst/>
          </a:prstGeom>
          <a:noFill/>
          <a:ln>
            <a:noFill/>
          </a:ln>
        </p:spPr>
        <p:txBody>
          <a:bodyPr anchorCtr="0" anchor="t" bIns="27425" lIns="54850" spcFirstLastPara="1" rIns="54850" wrap="square" tIns="27425">
            <a:noAutofit/>
          </a:bodyPr>
          <a:lstStyle/>
          <a:p>
            <a:pPr indent="0" lvl="0" marL="0" marR="0" rtl="0" algn="l">
              <a:spcBef>
                <a:spcPts val="0"/>
              </a:spcBef>
              <a:spcAft>
                <a:spcPts val="0"/>
              </a:spcAft>
              <a:buNone/>
            </a:pPr>
            <a:r>
              <a:rPr b="1" lang="ja" sz="1100">
                <a:solidFill>
                  <a:srgbClr val="202020"/>
                </a:solidFill>
                <a:latin typeface="Noto Sans JP"/>
                <a:ea typeface="Noto Sans JP"/>
                <a:cs typeface="Noto Sans JP"/>
                <a:sym typeface="Noto Sans JP"/>
              </a:rPr>
              <a:t>① 項目検証と並行し、10月から星取運用のPoCを開始する</a:t>
            </a:r>
            <a:endParaRPr sz="800"/>
          </a:p>
          <a:p>
            <a:pPr indent="0" lvl="0" marL="0" marR="0" rtl="0" algn="l">
              <a:spcBef>
                <a:spcPts val="0"/>
              </a:spcBef>
              <a:spcAft>
                <a:spcPts val="0"/>
              </a:spcAft>
              <a:buNone/>
            </a:pPr>
            <a:r>
              <a:rPr b="1" lang="ja" sz="1100">
                <a:solidFill>
                  <a:srgbClr val="202020"/>
                </a:solidFill>
                <a:latin typeface="Noto Sans JP"/>
                <a:ea typeface="Noto Sans JP"/>
                <a:cs typeface="Noto Sans JP"/>
                <a:sym typeface="Noto Sans JP"/>
              </a:rPr>
              <a:t>② 現行A〜Eランクを終了し、既存A〜F掲載ヨミを診断情報・正式FCTに残す</a:t>
            </a:r>
            <a:endParaRPr sz="800"/>
          </a:p>
          <a:p>
            <a:pPr indent="0" lvl="0" marL="0" marR="0" rtl="0" algn="l">
              <a:spcBef>
                <a:spcPts val="0"/>
              </a:spcBef>
              <a:spcAft>
                <a:spcPts val="0"/>
              </a:spcAft>
              <a:buNone/>
            </a:pPr>
            <a:r>
              <a:rPr b="1" lang="ja" sz="1100">
                <a:solidFill>
                  <a:srgbClr val="202020"/>
                </a:solidFill>
                <a:latin typeface="Noto Sans JP"/>
                <a:ea typeface="Noto Sans JP"/>
                <a:cs typeface="Noto Sans JP"/>
                <a:sym typeface="Noto Sans JP"/>
              </a:rPr>
              <a:t>③ 対面商談を必須前提とせず、未達項目に応じた標準アクションの一つに再設計する</a:t>
            </a:r>
            <a:endParaRPr sz="800"/>
          </a:p>
          <a:p>
            <a:pPr indent="0" lvl="0" marL="0" marR="0" rtl="0" algn="l">
              <a:spcBef>
                <a:spcPts val="0"/>
              </a:spcBef>
              <a:spcAft>
                <a:spcPts val="0"/>
              </a:spcAft>
              <a:buNone/>
            </a:pPr>
            <a:r>
              <a:rPr b="1" lang="ja" sz="1100">
                <a:solidFill>
                  <a:srgbClr val="202020"/>
                </a:solidFill>
                <a:latin typeface="Noto Sans JP"/>
                <a:ea typeface="Noto Sans JP"/>
                <a:cs typeface="Noto Sans JP"/>
                <a:sym typeface="Noto Sans JP"/>
              </a:rPr>
              <a:t>④ 卒業条件の正式決定を11月以降に持ち越す</a:t>
            </a:r>
            <a:endParaRPr sz="800"/>
          </a:p>
        </p:txBody>
      </p:sp>
      <p:sp>
        <p:nvSpPr>
          <p:cNvPr id="526" name="Google Shape;526;p33"/>
          <p:cNvSpPr/>
          <p:nvPr/>
        </p:nvSpPr>
        <p:spPr>
          <a:xfrm>
            <a:off x="342900" y="4554855"/>
            <a:ext cx="8458200" cy="302895"/>
          </a:xfrm>
          <a:prstGeom prst="rect">
            <a:avLst/>
          </a:prstGeom>
          <a:noFill/>
          <a:ln>
            <a:noFill/>
          </a:ln>
        </p:spPr>
        <p:txBody>
          <a:bodyPr anchorCtr="0" anchor="t" bIns="27425" lIns="54850" spcFirstLastPara="1" rIns="54850" wrap="square" tIns="27425">
            <a:noAutofit/>
          </a:bodyPr>
          <a:lstStyle/>
          <a:p>
            <a:pPr indent="0" lvl="0" marL="0" marR="0" rtl="0" algn="l">
              <a:spcBef>
                <a:spcPts val="0"/>
              </a:spcBef>
              <a:spcAft>
                <a:spcPts val="0"/>
              </a:spcAft>
              <a:buNone/>
            </a:pPr>
            <a:r>
              <a:rPr b="0" lang="ja" sz="900">
                <a:solidFill>
                  <a:srgbClr val="666666"/>
                </a:solidFill>
                <a:latin typeface="Noto Sans JP"/>
                <a:ea typeface="Noto Sans JP"/>
                <a:cs typeface="Noto Sans JP"/>
                <a:sym typeface="Noto Sans JP"/>
              </a:rPr>
              <a:t>6名体制で並行検証し、未完了項目は11月への持ち越しを許容。11月中旬は途中評価、月末確定値で再確認。</a:t>
            </a:r>
            <a:endParaRPr sz="800"/>
          </a:p>
          <a:p>
            <a:pPr indent="0" lvl="0" marL="0" marR="0" rtl="0" algn="l">
              <a:spcBef>
                <a:spcPts val="0"/>
              </a:spcBef>
              <a:spcAft>
                <a:spcPts val="0"/>
              </a:spcAft>
              <a:buNone/>
            </a:pPr>
            <a:r>
              <a:rPr b="0" lang="ja" sz="900">
                <a:solidFill>
                  <a:srgbClr val="666666"/>
                </a:solidFill>
                <a:latin typeface="Noto Sans JP"/>
                <a:ea typeface="Noto Sans JP"/>
                <a:cs typeface="Noto Sans JP"/>
                <a:sym typeface="Noto Sans JP"/>
              </a:rPr>
              <a:t>過去TGT比較・介入有無比較だけでは因果効果は断定せず、顧客構成や選定の違いも確認する。</a:t>
            </a:r>
            <a:endParaRPr sz="8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